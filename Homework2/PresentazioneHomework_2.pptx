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63" r:id="rId4"/>
    <p:sldId id="261" r:id="rId5"/>
    <p:sldId id="262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2E943-173A-F4B3-93D7-94D0FD4168C2}" v="640" dt="2026-04-23T16:18:58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BAB0-515A-C560-AC7C-75B37A2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CF899-314A-0742-8307-63390B56B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34FC9-1AC8-D62F-E5DA-0843C0D61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9B3C-ADA4-C46E-C325-3D827B593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0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BDAFF-9147-3222-A8D2-B624AEC2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71F9F-C0B8-FE2F-BDE4-DD8B7B1F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92640-DBDB-9788-4226-909E5DA72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3B803-BBED-13E0-BE91-D5D475D35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23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3646-88D6-537C-A36D-DC0D7C4B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C287E-350B-8FF5-77D7-84CA4F98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28A3-B79B-0C88-0CAD-1F54E0EA0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8426C-F6AC-4BBF-7B5A-969C5F9FD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0"/>
            <a:ext cx="5404508" cy="514686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369481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Homework 2:</a:t>
            </a:r>
            <a:endParaRPr lang="en-US" sz="3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Kernel Density Estimation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11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Pennelli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475AA-0977-BF23-B388-1A52C0F4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A388A766-F1EB-0764-4FD6-C5D2892E206F}"/>
              </a:ext>
            </a:extLst>
          </p:cNvPr>
          <p:cNvSpPr txBox="1"/>
          <p:nvPr/>
        </p:nvSpPr>
        <p:spPr>
          <a:xfrm>
            <a:off x="508336" y="1652451"/>
            <a:ext cx="2710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Formula KDE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Kernel Gaussiano</a:t>
            </a:r>
            <a:endParaRPr lang="it-VA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F09402-773D-5660-6BC5-BB20B4B6282B}"/>
              </a:ext>
            </a:extLst>
          </p:cNvPr>
          <p:cNvSpPr/>
          <p:nvPr/>
        </p:nvSpPr>
        <p:spPr>
          <a:xfrm>
            <a:off x="1191421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CAC635-A312-9C36-BBA1-B7A2258D6E65}"/>
              </a:ext>
            </a:extLst>
          </p:cNvPr>
          <p:cNvSpPr/>
          <p:nvPr/>
        </p:nvSpPr>
        <p:spPr>
          <a:xfrm>
            <a:off x="446284" y="251654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b="1" dirty="0">
              <a:solidFill>
                <a:srgbClr val="1B3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E9F1F7-DBE4-62F3-E64F-D29642CD503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AB88C96F-80B0-372E-92C8-EAD68A6E6E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E9B11C01-73E1-7421-7FF0-24493C7E453F}"/>
              </a:ext>
            </a:extLst>
          </p:cNvPr>
          <p:cNvSpPr/>
          <p:nvPr/>
        </p:nvSpPr>
        <p:spPr>
          <a:xfrm>
            <a:off x="3440424" y="100177"/>
            <a:ext cx="2241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Accenni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Teorici</a:t>
            </a:r>
            <a:endParaRPr lang="en-US" sz="28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pic>
        <p:nvPicPr>
          <p:cNvPr id="7" name="Immagine 6" descr="Immagine che contiene Carattere, bianco, test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29DAC14-D682-99C9-568A-9DC1CE17D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09" y="3119219"/>
            <a:ext cx="1831340" cy="526263"/>
          </a:xfrm>
          <a:prstGeom prst="rect">
            <a:avLst/>
          </a:prstGeom>
        </p:spPr>
      </p:pic>
      <p:pic>
        <p:nvPicPr>
          <p:cNvPr id="9" name="Immagine 8" descr="Immagine che contiene Carattere, testo, diagramm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9883CDB2-E04B-22F8-CC30-CD5394522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09" y="2058365"/>
            <a:ext cx="2192408" cy="690608"/>
          </a:xfrm>
          <a:prstGeom prst="rect">
            <a:avLst/>
          </a:prstGeom>
        </p:spPr>
      </p:pic>
      <p:pic>
        <p:nvPicPr>
          <p:cNvPr id="11" name="Immagine 10" descr="Immagine che contiene testo, linea, schermat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788EC36-E138-5434-9344-AC0F389DE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8222" y="2053940"/>
            <a:ext cx="5310058" cy="264966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35C1C87-F71A-8D2D-D8EC-EC0175D357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8222" y="1152234"/>
            <a:ext cx="4847442" cy="61733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E1A1601-B627-0E02-AF8C-E0D8BE3CC4A5}"/>
              </a:ext>
            </a:extLst>
          </p:cNvPr>
          <p:cNvSpPr txBox="1"/>
          <p:nvPr/>
        </p:nvSpPr>
        <p:spPr>
          <a:xfrm>
            <a:off x="3788222" y="1946477"/>
            <a:ext cx="40560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Grafico</a:t>
            </a:r>
            <a:r>
              <a:rPr lang="en-US" b="1" dirty="0"/>
              <a:t> MISE: </a:t>
            </a:r>
            <a:r>
              <a:rPr lang="en-US" dirty="0"/>
              <a:t>Tradeoff</a:t>
            </a:r>
            <a:r>
              <a:rPr lang="en-US" b="1" dirty="0"/>
              <a:t> </a:t>
            </a:r>
            <a:r>
              <a:rPr lang="en-US" i="1" dirty="0"/>
              <a:t>Varianza-Bias</a:t>
            </a:r>
            <a:r>
              <a:rPr lang="en-US" i="1" baseline="30000" dirty="0"/>
              <a:t>2</a:t>
            </a:r>
            <a:endParaRPr lang="it-VA" i="1" baseline="30000" dirty="0"/>
          </a:p>
        </p:txBody>
      </p:sp>
    </p:spTree>
    <p:extLst>
      <p:ext uri="{BB962C8B-B14F-4D97-AF65-F5344CB8AC3E}">
        <p14:creationId xmlns:p14="http://schemas.microsoft.com/office/powerpoint/2010/main" val="45106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9664B-3B83-D244-6471-9726D2EDC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4D7B624-DC2C-8265-30AF-7FBC4BDBE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94" y="1263951"/>
            <a:ext cx="4641830" cy="1837786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520DCD0E-A084-BC6A-0BDB-CC82A8A424F9}"/>
              </a:ext>
            </a:extLst>
          </p:cNvPr>
          <p:cNvSpPr/>
          <p:nvPr/>
        </p:nvSpPr>
        <p:spPr>
          <a:xfrm>
            <a:off x="1191421" y="102089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2317697-FC36-1F78-2F46-B4B4B8033A16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B28E750-1810-30EE-B16B-19702F4DD4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C7E1586-9C40-8301-257C-B773DAD1AFF4}"/>
              </a:ext>
            </a:extLst>
          </p:cNvPr>
          <p:cNvSpPr/>
          <p:nvPr/>
        </p:nvSpPr>
        <p:spPr>
          <a:xfrm>
            <a:off x="2216855" y="112872"/>
            <a:ext cx="48985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L’importanza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della </a:t>
            </a:r>
            <a:r>
              <a:rPr lang="en-US" sz="2800" b="1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bandwidth 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2800" b="1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h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)</a:t>
            </a:r>
            <a:endParaRPr lang="it-IT" sz="2800" dirty="0" err="1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00DB661-D15E-A5BE-02E3-E55964E83475}"/>
              </a:ext>
            </a:extLst>
          </p:cNvPr>
          <p:cNvSpPr txBox="1"/>
          <p:nvPr/>
        </p:nvSpPr>
        <p:spPr>
          <a:xfrm>
            <a:off x="731520" y="1623938"/>
            <a:ext cx="287854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i="1" dirty="0">
                <a:ea typeface="Calibri"/>
                <a:cs typeface="Calibri"/>
              </a:rPr>
              <a:t>Data </a:t>
            </a:r>
            <a:r>
              <a:rPr lang="it-IT" b="1" i="1" dirty="0" err="1">
                <a:ea typeface="Calibri"/>
                <a:cs typeface="Calibri"/>
              </a:rPr>
              <a:t>Generating</a:t>
            </a:r>
            <a:r>
              <a:rPr lang="it-IT" b="1" i="1" dirty="0">
                <a:ea typeface="Calibri"/>
                <a:cs typeface="Calibri"/>
              </a:rPr>
              <a:t> </a:t>
            </a:r>
            <a:r>
              <a:rPr lang="it-IT" b="1" i="1" dirty="0" err="1">
                <a:ea typeface="Calibri"/>
                <a:cs typeface="Calibri"/>
              </a:rPr>
              <a:t>Process</a:t>
            </a:r>
          </a:p>
          <a:p>
            <a:r>
              <a:rPr lang="it-IT" sz="1600" i="1" dirty="0">
                <a:ea typeface="Calibri"/>
                <a:cs typeface="Calibri"/>
              </a:rPr>
              <a:t>f(x) = 0.4 N(-2, 1) + 0.6 N(3, 0.5)</a:t>
            </a:r>
            <a:endParaRPr lang="it-IT" sz="1600" dirty="0"/>
          </a:p>
        </p:txBody>
      </p:sp>
      <p:pic>
        <p:nvPicPr>
          <p:cNvPr id="7" name="Immagine 6" descr="Immagine che contiene Diagramma, linea, diagramm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6B55C337-2C41-2CA0-0223-6D9514B69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" y="3113956"/>
            <a:ext cx="4561217" cy="1837786"/>
          </a:xfrm>
          <a:prstGeom prst="rect">
            <a:avLst/>
          </a:prstGeom>
        </p:spPr>
      </p:pic>
      <p:pic>
        <p:nvPicPr>
          <p:cNvPr id="8" name="Immagine 7" descr="Immagine che contiene testo, linea, Diagramm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2C87A82-CEAF-ABA8-36A9-8753A2DB0F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382" y="3124739"/>
            <a:ext cx="4575235" cy="182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502E0-4F9F-9789-0B0F-2A3FFC4D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33DC9DD3-30A1-D0FA-976C-7C77A80052F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68292EC-8EAA-E24F-EDD3-DDC5FC53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762451F-9228-DC6B-4886-5D0B8BCC9B02}"/>
              </a:ext>
            </a:extLst>
          </p:cNvPr>
          <p:cNvSpPr/>
          <p:nvPr/>
        </p:nvSpPr>
        <p:spPr>
          <a:xfrm>
            <a:off x="2892940" y="100177"/>
            <a:ext cx="335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Ulteriori casi di studio</a:t>
            </a:r>
            <a:endParaRPr lang="it-IT" dirty="0"/>
          </a:p>
        </p:txBody>
      </p:sp>
      <p:pic>
        <p:nvPicPr>
          <p:cNvPr id="2" name="Immagine 1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B1C93E6-9110-66D4-2F23-A2DE7B1DA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052" y="1369234"/>
            <a:ext cx="5760324" cy="3341616"/>
          </a:xfrm>
          <a:prstGeom prst="rect">
            <a:avLst/>
          </a:pr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166CFB7-5DFC-F915-3820-8365C9E7E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27813"/>
              </p:ext>
            </p:extLst>
          </p:nvPr>
        </p:nvGraphicFramePr>
        <p:xfrm>
          <a:off x="182880" y="1186354"/>
          <a:ext cx="2958006" cy="2133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25147">
                  <a:extLst>
                    <a:ext uri="{9D8B030D-6E8A-4147-A177-3AD203B41FA5}">
                      <a16:colId xmlns:a16="http://schemas.microsoft.com/office/drawing/2014/main" val="1562331626"/>
                    </a:ext>
                  </a:extLst>
                </a:gridCol>
                <a:gridCol w="724989">
                  <a:extLst>
                    <a:ext uri="{9D8B030D-6E8A-4147-A177-3AD203B41FA5}">
                      <a16:colId xmlns:a16="http://schemas.microsoft.com/office/drawing/2014/main" val="399284335"/>
                    </a:ext>
                  </a:extLst>
                </a:gridCol>
                <a:gridCol w="907870">
                  <a:extLst>
                    <a:ext uri="{9D8B030D-6E8A-4147-A177-3AD203B41FA5}">
                      <a16:colId xmlns:a16="http://schemas.microsoft.com/office/drawing/2014/main" val="2077934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Metodo</a:t>
                      </a:r>
                    </a:p>
                  </a:txBody>
                  <a:tcPr>
                    <a:solidFill>
                      <a:srgbClr val="0041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h</a:t>
                      </a:r>
                    </a:p>
                  </a:txBody>
                  <a:tcPr>
                    <a:solidFill>
                      <a:srgbClr val="0041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MISE</a:t>
                      </a:r>
                    </a:p>
                  </a:txBody>
                  <a:tcPr>
                    <a:solidFill>
                      <a:srgbClr val="0041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6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it-IT" sz="1400" dirty="0"/>
                        <a:t>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0.1977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0.003214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9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it-IT" sz="1400" dirty="0"/>
                        <a:t>UCV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0.1793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0.003245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432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it-IT" sz="1400" dirty="0"/>
                        <a:t>BCV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400" dirty="0"/>
                        <a:t>0.2142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0.003292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4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1400" dirty="0"/>
                        <a:t>Sheather-Jones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it-IT" sz="1400" dirty="0"/>
                        <a:t>0.2156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0.003302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242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1400"/>
                        <a:t>Silverman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0.6650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0.031295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075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it-IT" sz="1400" dirty="0"/>
                        <a:t>Scott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/>
                        <a:t>0.7832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0.043037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569660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0B6AEA-CA62-1F14-EB1C-D28DAC0D194F}"/>
              </a:ext>
            </a:extLst>
          </p:cNvPr>
          <p:cNvSpPr txBox="1"/>
          <p:nvPr/>
        </p:nvSpPr>
        <p:spPr>
          <a:xfrm>
            <a:off x="3651749" y="1261159"/>
            <a:ext cx="40560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MISE </a:t>
            </a:r>
            <a:r>
              <a:rPr lang="en-US" b="1" dirty="0" err="1"/>
              <a:t>empirico</a:t>
            </a:r>
            <a:r>
              <a:rPr lang="en-US" b="1" dirty="0"/>
              <a:t> in </a:t>
            </a:r>
            <a:r>
              <a:rPr lang="en-US" b="1" dirty="0" err="1"/>
              <a:t>funzione</a:t>
            </a:r>
            <a:r>
              <a:rPr lang="en-US" b="1" dirty="0"/>
              <a:t> di </a:t>
            </a:r>
            <a:r>
              <a:rPr lang="en-US" b="1" i="1" dirty="0"/>
              <a:t>h</a:t>
            </a:r>
            <a:endParaRPr lang="it-VA" i="1" baseline="30000" dirty="0"/>
          </a:p>
        </p:txBody>
      </p:sp>
    </p:spTree>
    <p:extLst>
      <p:ext uri="{BB962C8B-B14F-4D97-AF65-F5344CB8AC3E}">
        <p14:creationId xmlns:p14="http://schemas.microsoft.com/office/powerpoint/2010/main" val="148241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>
            <a:extLst>
              <a:ext uri="{FF2B5EF4-FFF2-40B4-BE49-F238E27FC236}">
                <a16:creationId xmlns:a16="http://schemas.microsoft.com/office/drawing/2014/main" id="{16277178-7293-3369-D132-C1E9CCC46BC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5/5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61637" y="2254207"/>
            <a:ext cx="85599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A Tutorial on Kernel </a:t>
            </a:r>
            <a:r>
              <a:rPr lang="it-IT" sz="2000" dirty="0" err="1">
                <a:ea typeface="Calibri"/>
                <a:cs typeface="Calibri"/>
              </a:rPr>
              <a:t>Density</a:t>
            </a:r>
            <a:r>
              <a:rPr lang="it-IT" sz="2000" dirty="0">
                <a:ea typeface="Calibri"/>
                <a:cs typeface="Calibri"/>
              </a:rPr>
              <a:t> </a:t>
            </a:r>
            <a:r>
              <a:rPr lang="it-IT" sz="2000" dirty="0" err="1">
                <a:ea typeface="Calibri"/>
                <a:cs typeface="Calibri"/>
              </a:rPr>
              <a:t>Estimation</a:t>
            </a:r>
            <a:r>
              <a:rPr lang="it-IT" sz="2000" dirty="0">
                <a:ea typeface="Calibri"/>
                <a:cs typeface="Calibri"/>
              </a:rPr>
              <a:t> and </a:t>
            </a:r>
            <a:r>
              <a:rPr lang="it-IT" sz="2000" dirty="0" err="1">
                <a:ea typeface="Calibri"/>
                <a:cs typeface="Calibri"/>
              </a:rPr>
              <a:t>Recent</a:t>
            </a:r>
            <a:r>
              <a:rPr lang="it-IT" sz="2000" dirty="0">
                <a:ea typeface="Calibri"/>
                <a:cs typeface="Calibri"/>
              </a:rPr>
              <a:t> </a:t>
            </a:r>
            <a:r>
              <a:rPr lang="it-IT" sz="2000" dirty="0" err="1">
                <a:ea typeface="Calibri"/>
                <a:cs typeface="Calibri"/>
              </a:rPr>
              <a:t>Advances</a:t>
            </a:r>
            <a:r>
              <a:rPr lang="it-IT" sz="2000" dirty="0">
                <a:ea typeface="Calibri"/>
                <a:cs typeface="Calibri"/>
              </a:rPr>
              <a:t> (Yen-Chi Chen)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Kernel </a:t>
            </a:r>
            <a:r>
              <a:rPr lang="it-IT" sz="2000" dirty="0" err="1">
                <a:ea typeface="Calibri"/>
                <a:cs typeface="Calibri"/>
              </a:rPr>
              <a:t>Density</a:t>
            </a:r>
            <a:r>
              <a:rPr lang="it-IT" sz="2000" dirty="0">
                <a:ea typeface="Calibri"/>
                <a:cs typeface="Calibri"/>
              </a:rPr>
              <a:t> Estimator </a:t>
            </a:r>
            <a:r>
              <a:rPr lang="it-IT" sz="2000" dirty="0" err="1">
                <a:ea typeface="Calibri"/>
                <a:cs typeface="Calibri"/>
              </a:rPr>
              <a:t>explained</a:t>
            </a:r>
            <a:r>
              <a:rPr lang="it-IT" sz="2000" dirty="0">
                <a:ea typeface="Calibri"/>
                <a:cs typeface="Calibri"/>
              </a:rPr>
              <a:t> step by step (Medium.com)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Claude per aiuto sul codice</a:t>
            </a:r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127</Words>
  <Application>Microsoft Office PowerPoint</Application>
  <PresentationFormat>Presentazione su schermo (16:9)</PresentationFormat>
  <Paragraphs>52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Francesco Faillace</cp:lastModifiedBy>
  <cp:revision>598</cp:revision>
  <dcterms:created xsi:type="dcterms:W3CDTF">2026-03-12T12:19:20Z</dcterms:created>
  <dcterms:modified xsi:type="dcterms:W3CDTF">2026-04-25T08:25:04Z</dcterms:modified>
</cp:coreProperties>
</file>