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8"/>
  </p:notesMasterIdLst>
  <p:sldIdLst>
    <p:sldId id="256" r:id="rId5"/>
    <p:sldId id="257" r:id="rId6"/>
    <p:sldId id="276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DE2B0B0-1F6C-BF0A-6A00-0A2EF992BF8A}" name="Eros Pinzani" initials="EP" userId="S::eros.pinzani@edu.unifi.it::82d52c01-ce10-459d-86d9-a68bc46fbb04" providerId="AD"/>
  <p188:author id="{CC4B64C7-3099-4DDC-57B8-DF28B5A77704}" name="Lorenzo Maria Pennelli" initials="LP" userId="S::lorenzo.pennelli@edu.unifi.it::fdca4809-38c1-4a64-a4ea-829df516f7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9D8F"/>
    <a:srgbClr val="F4A261"/>
    <a:srgbClr val="C62828"/>
    <a:srgbClr val="2E7D32"/>
    <a:srgbClr val="0041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80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rwanscornet.github.io/talks/mdi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2682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547672"/>
            <a:ext cx="6352218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it-IT" sz="3200" b="1" dirty="0">
                <a:solidFill>
                  <a:srgbClr val="1B3D7D"/>
                </a:solidFill>
                <a:ea typeface="Calibri"/>
                <a:cs typeface="Calibri"/>
              </a:rPr>
              <a:t>Feature </a:t>
            </a:r>
            <a:r>
              <a:rPr lang="it-IT" sz="3200" b="1" dirty="0" err="1">
                <a:solidFill>
                  <a:srgbClr val="1B3D7D"/>
                </a:solidFill>
                <a:ea typeface="Calibri"/>
                <a:cs typeface="Calibri"/>
              </a:rPr>
              <a:t>Selection</a:t>
            </a:r>
            <a:r>
              <a:rPr lang="it-IT" sz="3200" b="1" dirty="0">
                <a:solidFill>
                  <a:srgbClr val="1B3D7D"/>
                </a:solidFill>
                <a:ea typeface="Calibri"/>
                <a:cs typeface="Calibri"/>
              </a:rPr>
              <a:t> Prima della CV</a:t>
            </a:r>
            <a:endParaRPr lang="en-US" sz="32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3744353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AUTORE: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09395" y="4068707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BD989F4-7EEE-8B97-F7D7-EDF85754A840}"/>
              </a:ext>
            </a:extLst>
          </p:cNvPr>
          <p:cNvSpPr txBox="1"/>
          <p:nvPr/>
        </p:nvSpPr>
        <p:spPr>
          <a:xfrm>
            <a:off x="411480" y="1055738"/>
            <a:ext cx="5341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i="1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una procedura innocente invalida l’intera analisi</a:t>
            </a:r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 Random Forest</a:t>
            </a:r>
            <a:endParaRPr lang="it-IT" sz="2800" dirty="0" err="1"/>
          </a:p>
        </p:txBody>
      </p:sp>
      <p:sp>
        <p:nvSpPr>
          <p:cNvPr id="9" name="Text 7"/>
          <p:cNvSpPr/>
          <p:nvPr/>
        </p:nvSpPr>
        <p:spPr>
          <a:xfrm>
            <a:off x="263266" y="2974799"/>
            <a:ext cx="4114800" cy="21945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 algn="l">
              <a:buSzPct val="100000"/>
              <a:buFont typeface="+mj-lt"/>
              <a:buAutoNum type="arabicPeriod"/>
            </a:pPr>
            <a:endParaRPr lang="en-US" sz="11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2/12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1436C73-6C73-8E81-872C-0EFCE6CFA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B3CAD74-B2DA-F68F-47B4-E0AB70C65BDE}"/>
              </a:ext>
            </a:extLst>
          </p:cNvPr>
          <p:cNvSpPr txBox="1"/>
          <p:nvPr/>
        </p:nvSpPr>
        <p:spPr>
          <a:xfrm>
            <a:off x="151990" y="906301"/>
            <a:ext cx="8992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Algoritmi </a:t>
            </a:r>
            <a:r>
              <a:rPr lang="it-IT" i="1" dirty="0" err="1"/>
              <a:t>Ensembled</a:t>
            </a:r>
            <a:r>
              <a:rPr lang="it-IT" i="1" dirty="0"/>
              <a:t>-Tree che combinano </a:t>
            </a:r>
            <a:r>
              <a:rPr lang="it-IT" i="1" dirty="0" err="1"/>
              <a:t>Bagging</a:t>
            </a:r>
            <a:r>
              <a:rPr lang="it-IT" i="1" dirty="0"/>
              <a:t> con una selezione randomica dei predittori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3617397" y="209461"/>
            <a:ext cx="190920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59764" y="1048256"/>
            <a:ext cx="8559999" cy="36009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Slides del corso riguardanti </a:t>
            </a:r>
            <a:r>
              <a:rPr lang="it-IT" sz="2000" i="1" dirty="0">
                <a:ea typeface="Calibri"/>
                <a:cs typeface="Calibri"/>
              </a:rPr>
              <a:t>Random Forest</a:t>
            </a:r>
            <a:r>
              <a:rPr lang="it-IT" sz="2000" dirty="0">
                <a:ea typeface="Calibri"/>
                <a:cs typeface="Calibri"/>
              </a:rPr>
              <a:t> e </a:t>
            </a:r>
            <a:r>
              <a:rPr lang="it-IT" sz="2000" i="1" dirty="0" err="1">
                <a:ea typeface="Calibri"/>
                <a:cs typeface="Calibri"/>
              </a:rPr>
              <a:t>Variable</a:t>
            </a:r>
            <a:r>
              <a:rPr lang="it-IT" sz="2000" i="1" dirty="0">
                <a:ea typeface="Calibri"/>
                <a:cs typeface="Calibri"/>
              </a:rPr>
              <a:t> </a:t>
            </a:r>
            <a:r>
              <a:rPr lang="it-IT" sz="2000" i="1" dirty="0" err="1">
                <a:ea typeface="Calibri"/>
                <a:cs typeface="Calibri"/>
              </a:rPr>
              <a:t>Importance</a:t>
            </a:r>
            <a:endParaRPr lang="it-IT" sz="2000" i="1" dirty="0">
              <a:ea typeface="Calibri"/>
              <a:cs typeface="Calibri"/>
            </a:endParaRPr>
          </a:p>
          <a:p>
            <a:endParaRPr lang="it-IT" sz="2000" i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Strobl, C., Boulesteix, A.-L., </a:t>
            </a:r>
            <a:r>
              <a:rPr lang="it-IT" sz="2000" dirty="0" err="1"/>
              <a:t>Zeileis</a:t>
            </a:r>
            <a:r>
              <a:rPr lang="it-IT" sz="2000" dirty="0"/>
              <a:t>, A., </a:t>
            </a:r>
            <a:r>
              <a:rPr lang="it-IT" sz="2000" dirty="0" err="1"/>
              <a:t>Hothorn</a:t>
            </a:r>
            <a:r>
              <a:rPr lang="it-IT" sz="2000" dirty="0"/>
              <a:t>, T. (2007). </a:t>
            </a:r>
            <a:r>
              <a:rPr lang="it-IT" i="1" dirty="0"/>
              <a:t>Bias in Random Forest </a:t>
            </a:r>
            <a:r>
              <a:rPr lang="it-IT" i="1" dirty="0" err="1"/>
              <a:t>Variable</a:t>
            </a:r>
            <a:r>
              <a:rPr lang="it-IT" i="1" dirty="0"/>
              <a:t> </a:t>
            </a:r>
            <a:r>
              <a:rPr lang="it-IT" i="1" dirty="0" err="1"/>
              <a:t>Importance</a:t>
            </a:r>
            <a:r>
              <a:rPr lang="it-IT" i="1" dirty="0"/>
              <a:t> Measures: </a:t>
            </a:r>
            <a:r>
              <a:rPr lang="it-IT" i="1" dirty="0" err="1"/>
              <a:t>Illustrations</a:t>
            </a:r>
            <a:r>
              <a:rPr lang="it-IT" i="1" dirty="0"/>
              <a:t>, Sources and a Solution. BMC </a:t>
            </a:r>
            <a:r>
              <a:rPr lang="it-IT" i="1" dirty="0" err="1"/>
              <a:t>Bioinformatics</a:t>
            </a:r>
            <a:r>
              <a:rPr lang="it-IT" i="1" dirty="0"/>
              <a:t>, 8, 25.</a:t>
            </a:r>
          </a:p>
          <a:p>
            <a:endParaRPr lang="it-IT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Strobl, C., Boulesteix, A.-L., Kneib, T., Augustin, T., </a:t>
            </a:r>
            <a:r>
              <a:rPr lang="it-IT" sz="2000" dirty="0" err="1"/>
              <a:t>Zeileis</a:t>
            </a:r>
            <a:r>
              <a:rPr lang="it-IT" sz="2000" dirty="0"/>
              <a:t>, A. (2008). </a:t>
            </a:r>
            <a:r>
              <a:rPr lang="it-IT" i="1" dirty="0" err="1"/>
              <a:t>Conditional</a:t>
            </a:r>
            <a:r>
              <a:rPr lang="it-IT" i="1" dirty="0"/>
              <a:t> </a:t>
            </a:r>
            <a:r>
              <a:rPr lang="it-IT" i="1" dirty="0" err="1"/>
              <a:t>Variable</a:t>
            </a:r>
            <a:r>
              <a:rPr lang="it-IT" i="1" dirty="0"/>
              <a:t> </a:t>
            </a:r>
            <a:r>
              <a:rPr lang="it-IT" i="1" dirty="0" err="1"/>
              <a:t>Importance</a:t>
            </a:r>
            <a:r>
              <a:rPr lang="it-IT" i="1" dirty="0"/>
              <a:t> for Random </a:t>
            </a:r>
            <a:r>
              <a:rPr lang="it-IT" i="1" dirty="0" err="1"/>
              <a:t>Forests</a:t>
            </a:r>
            <a:r>
              <a:rPr lang="it-IT" i="1" dirty="0"/>
              <a:t>. BMC </a:t>
            </a:r>
            <a:r>
              <a:rPr lang="it-IT" i="1" dirty="0" err="1"/>
              <a:t>Bioinformatics</a:t>
            </a:r>
            <a:r>
              <a:rPr lang="it-IT" i="1" dirty="0"/>
              <a:t>, 9, 307.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hlinkClick r:id="rId4"/>
              </a:rPr>
              <a:t>https://erwanscornet.github.io/talks/mdi.pdf</a:t>
            </a:r>
            <a:r>
              <a:rPr lang="it-IT" i="1" dirty="0"/>
              <a:t> </a:t>
            </a:r>
          </a:p>
          <a:p>
            <a:endParaRPr lang="it-IT" sz="20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Claude per aiuto sul codice e impaginazione slide</a:t>
            </a:r>
          </a:p>
        </p:txBody>
      </p:sp>
      <p:sp>
        <p:nvSpPr>
          <p:cNvPr id="4" name="Text 29">
            <a:extLst>
              <a:ext uri="{FF2B5EF4-FFF2-40B4-BE49-F238E27FC236}">
                <a16:creationId xmlns:a16="http://schemas.microsoft.com/office/drawing/2014/main" id="{67F0807F-F10C-7EA6-D598-D6DF53E74D33}"/>
              </a:ext>
            </a:extLst>
          </p:cNvPr>
          <p:cNvSpPr/>
          <p:nvPr/>
        </p:nvSpPr>
        <p:spPr>
          <a:xfrm>
            <a:off x="158985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12/12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FCD87CF2A8CCE46999F14E89D2397A7" ma:contentTypeVersion="9" ma:contentTypeDescription="Create a new document." ma:contentTypeScope="" ma:versionID="04c6c9a53cca2dc0747056af3e59128d">
  <xsd:schema xmlns:xsd="http://www.w3.org/2001/XMLSchema" xmlns:xs="http://www.w3.org/2001/XMLSchema" xmlns:p="http://schemas.microsoft.com/office/2006/metadata/properties" xmlns:ns3="df5b7411-0bd9-441c-a587-7944a4ab8ce9" targetNamespace="http://schemas.microsoft.com/office/2006/metadata/properties" ma:root="true" ma:fieldsID="a84b1cfebefeb2fc1e8a376aeec60261" ns3:_="">
    <xsd:import namespace="df5b7411-0bd9-441c-a587-7944a4ab8ce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5b7411-0bd9-441c-a587-7944a4ab8ce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f5b7411-0bd9-441c-a587-7944a4ab8ce9" xsi:nil="true"/>
  </documentManagement>
</p:properties>
</file>

<file path=customXml/itemProps1.xml><?xml version="1.0" encoding="utf-8"?>
<ds:datastoreItem xmlns:ds="http://schemas.openxmlformats.org/officeDocument/2006/customXml" ds:itemID="{5F6E7083-04CE-4148-8822-E3F79A2926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6BD5B09-5F77-4A89-B4D1-4081243486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5b7411-0bd9-441c-a587-7944a4ab8c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3AD13D0-A941-4301-90CA-BF751F48A029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df5b7411-0bd9-441c-a587-7944a4ab8ce9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2564</TotalTime>
  <Words>149</Words>
  <Application>Microsoft Office PowerPoint</Application>
  <PresentationFormat>Presentazione su schermo (16:9)</PresentationFormat>
  <Paragraphs>21</Paragraphs>
  <Slides>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Eros Pinzani</cp:lastModifiedBy>
  <cp:revision>625</cp:revision>
  <dcterms:created xsi:type="dcterms:W3CDTF">2026-03-12T12:19:20Z</dcterms:created>
  <dcterms:modified xsi:type="dcterms:W3CDTF">2026-06-09T09:48:35Z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0x010100FFCD87CF2A8CCE46999F14E89D2397A7</vt:lpwstr>
  </property>
</Properties>
</file>