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6"/>
  </p:notesMasterIdLst>
  <p:sldIdLst>
    <p:sldId id="256" r:id="rId5"/>
    <p:sldId id="257" r:id="rId6"/>
    <p:sldId id="277" r:id="rId7"/>
    <p:sldId id="278" r:id="rId8"/>
    <p:sldId id="279" r:id="rId9"/>
    <p:sldId id="280" r:id="rId10"/>
    <p:sldId id="281" r:id="rId11"/>
    <p:sldId id="282" r:id="rId12"/>
    <p:sldId id="283" r:id="rId13"/>
    <p:sldId id="284" r:id="rId14"/>
    <p:sldId id="276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DE2B0B0-1F6C-BF0A-6A00-0A2EF992BF8A}" name="Eros Pinzani" initials="EP" userId="S::eros.pinzani@edu.unifi.it::82d52c01-ce10-459d-86d9-a68bc46fbb04" providerId="AD"/>
  <p188:author id="{CC4B64C7-3099-4DDC-57B8-DF28B5A77704}" name="Lorenzo Maria Pennelli" initials="LP" userId="S::lorenzo.pennelli@edu.unifi.it::fdca4809-38c1-4a64-a4ea-829df516f7c9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180"/>
    <a:srgbClr val="2A9D8F"/>
    <a:srgbClr val="F4A261"/>
    <a:srgbClr val="C62828"/>
    <a:srgbClr val="2E7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ile chi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DF18680-E054-41AD-8BC1-D1AEF772440D}" styleName="Stile medio 2 - Color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8034E78-7F5D-4C2E-B375-FC64B27BC917}" styleName="Stile 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301B821-A1FF-4177-AEE7-76D212191A09}" styleName="Stile medio 1 - Color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3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1841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BB3A5-F697-800A-FEF0-30D6594E7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2E53BC-F010-ADB6-8568-D22B0E29D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8E3A2-1970-ED67-B060-E51FF84DBA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49C95-7417-ED74-687C-6E9E2DCAF5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254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518B0-B76C-F3CA-BDEF-4CD833356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8A22FC-8E4D-4E72-586C-2EAC9584E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5FB469-B44C-2359-265D-BA3530580F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B6420-630C-48FB-F124-32D798F38A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2949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3D33B-17D8-B432-C82B-7F1C5EA54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BFF96-904F-CF40-0DAB-9C3809BD7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1090F-B0B3-FBD5-04D9-3F921E104E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0C4E89-93EF-80BD-486E-46C58BE252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08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C3AE7-B147-18A8-962E-8F733BA13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B5CCD-6BF4-6986-584D-FCE1E443F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8A655-E0BE-99E9-A548-A17344084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9757F4-0BD1-725E-D073-4E2CF60F82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45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81642-3B89-DC0B-92A1-F82E3C677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EE9DDA-7491-664F-9667-80E95D095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010F93-136F-8250-E076-F0C660B433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E75408-0F00-DCAD-4C2B-FCC8E7ED17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698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7F3D7-426C-79F4-D765-94318DE797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80258-2195-E60D-A194-150E80B33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DE61FE-B05E-3B25-CA79-5A3A1EC09C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58F8DC-DE9C-0206-4958-0A9FE0E5E9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930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FF7B2-230A-A40E-3596-D903841E6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E9BB41-B210-4931-7B62-EF50F9C918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B6C083-FE1C-4843-5705-D6CBB155D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96CA0-40D1-8BAD-6693-2EED7C6F69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17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0D80-3056-EC98-D6A5-56C350691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9B5E4A-2107-85FE-4E86-BD2C4362CA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968BF6-540D-4D5E-A915-CD4B1F6BA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99F1F-D134-C0CB-73C9-102A3825D6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359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39474-57FB-CBA8-B393-2AB92D5F6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09A78-12DD-C145-5E26-6F832B111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94638C-C925-803E-2C29-A6B6E2D4F0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3C6E3-DB8E-0578-A6FA-2FB4425AB2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8169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rwanscornet.github.io/talks/mdi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89120" y="0"/>
            <a:ext cx="4754880" cy="5143500"/>
          </a:xfrm>
          <a:prstGeom prst="rect">
            <a:avLst/>
          </a:prstGeom>
          <a:solidFill>
            <a:srgbClr val="004180"/>
          </a:solidFill>
          <a:ln w="12700">
            <a:solidFill>
              <a:srgbClr val="1B3D7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1118792" y="-2682"/>
            <a:ext cx="5404508" cy="5142426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Text 2"/>
          <p:cNvSpPr/>
          <p:nvPr/>
        </p:nvSpPr>
        <p:spPr>
          <a:xfrm>
            <a:off x="411480" y="547672"/>
            <a:ext cx="6352218" cy="1826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it-IT" sz="3200" b="1" dirty="0">
                <a:solidFill>
                  <a:srgbClr val="1B3D7D"/>
                </a:solidFill>
                <a:ea typeface="Calibri"/>
                <a:cs typeface="Calibri"/>
              </a:rPr>
              <a:t>Feature </a:t>
            </a:r>
            <a:r>
              <a:rPr lang="it-IT" sz="3200" b="1" dirty="0" err="1">
                <a:solidFill>
                  <a:srgbClr val="1B3D7D"/>
                </a:solidFill>
                <a:ea typeface="Calibri"/>
                <a:cs typeface="Calibri"/>
              </a:rPr>
              <a:t>Selection</a:t>
            </a:r>
            <a:r>
              <a:rPr lang="it-IT" sz="3200" b="1" dirty="0">
                <a:solidFill>
                  <a:srgbClr val="1B3D7D"/>
                </a:solidFill>
                <a:ea typeface="Calibri"/>
                <a:cs typeface="Calibri"/>
              </a:rPr>
              <a:t> prima della CV</a:t>
            </a:r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411480" y="3744353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AUTORE:</a:t>
            </a:r>
            <a:endParaRPr lang="en-US" sz="1600" dirty="0">
              <a:latin typeface="Calibri"/>
              <a:ea typeface="Calibri"/>
              <a:cs typeface="Calibri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3878346B-309A-6DA9-57CB-83A68DCF70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543" y="2410097"/>
            <a:ext cx="2131695" cy="2537460"/>
          </a:xfrm>
          <a:prstGeom prst="rect">
            <a:avLst/>
          </a:prstGeom>
          <a:ln>
            <a:solidFill>
              <a:srgbClr val="004180"/>
            </a:solidFill>
          </a:ln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465E81B1-F718-DAAD-4211-40D5EFC3C85A}"/>
              </a:ext>
            </a:extLst>
          </p:cNvPr>
          <p:cNvSpPr/>
          <p:nvPr/>
        </p:nvSpPr>
        <p:spPr>
          <a:xfrm>
            <a:off x="409395" y="4068707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Eros </a:t>
            </a:r>
            <a:r>
              <a:rPr lang="en-US" sz="1400" i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Pinzani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BD989F4-7EEE-8B97-F7D7-EDF85754A840}"/>
              </a:ext>
            </a:extLst>
          </p:cNvPr>
          <p:cNvSpPr txBox="1"/>
          <p:nvPr/>
        </p:nvSpPr>
        <p:spPr>
          <a:xfrm>
            <a:off x="411480" y="1055738"/>
            <a:ext cx="49569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i="1" dirty="0">
                <a:solidFill>
                  <a:srgbClr val="004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 una procedura innocente invalida l’intera analisi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Contesto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e Setup</a:t>
            </a:r>
            <a:endParaRPr lang="it-IT" sz="2400" dirty="0" err="1"/>
          </a:p>
        </p:txBody>
      </p:sp>
      <p:sp>
        <p:nvSpPr>
          <p:cNvPr id="31" name="Text 29"/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2/11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1436C73-6C73-8E81-872C-0EFCE6CFAD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CB3CAD74-B2DA-F68F-47B4-E0AB70C65BDE}"/>
              </a:ext>
            </a:extLst>
          </p:cNvPr>
          <p:cNvSpPr txBox="1"/>
          <p:nvPr/>
        </p:nvSpPr>
        <p:spPr>
          <a:xfrm>
            <a:off x="151990" y="906301"/>
            <a:ext cx="8992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La </a:t>
            </a:r>
            <a:r>
              <a:rPr lang="it-IT" b="1" i="1" dirty="0"/>
              <a:t>Feature </a:t>
            </a:r>
            <a:r>
              <a:rPr lang="it-IT" b="1" i="1" dirty="0" err="1"/>
              <a:t>Selection</a:t>
            </a:r>
            <a:r>
              <a:rPr lang="it-IT" b="1" i="1" dirty="0"/>
              <a:t> </a:t>
            </a:r>
            <a:r>
              <a:rPr lang="it-IT" i="1" dirty="0"/>
              <a:t>è la tecnica volta a identificare i predittori più informativi rispetto al target, eliminando il rumore e migliorando la capacità di generalizzazione dell'algoritmo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6BE59B93-4866-6300-C39F-B65B611CD3D3}"/>
              </a:ext>
            </a:extLst>
          </p:cNvPr>
          <p:cNvSpPr txBox="1"/>
          <p:nvPr/>
        </p:nvSpPr>
        <p:spPr>
          <a:xfrm>
            <a:off x="392306" y="1659769"/>
            <a:ext cx="3901094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Obiettivo</a:t>
            </a:r>
            <a:r>
              <a:rPr lang="it-IT" sz="16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:</a:t>
            </a:r>
            <a:endParaRPr lang="it-IT" sz="1600" dirty="0"/>
          </a:p>
          <a:p>
            <a:r>
              <a:rPr lang="it-IT" sz="1400" dirty="0"/>
              <a:t>Verificare le conseguenze di eseguire la </a:t>
            </a:r>
            <a:r>
              <a:rPr lang="it-IT" sz="1400" b="1" dirty="0"/>
              <a:t>Feature </a:t>
            </a:r>
            <a:r>
              <a:rPr lang="it-IT" sz="1400" b="1" dirty="0" err="1"/>
              <a:t>Selection</a:t>
            </a:r>
            <a:r>
              <a:rPr lang="it-IT" sz="1400" b="1" dirty="0"/>
              <a:t> </a:t>
            </a:r>
            <a:r>
              <a:rPr lang="it-IT" sz="1400" dirty="0"/>
              <a:t>fuori dal loop della </a:t>
            </a:r>
            <a:r>
              <a:rPr lang="it-IT" sz="1400" b="1" dirty="0"/>
              <a:t>Cross </a:t>
            </a:r>
            <a:r>
              <a:rPr lang="it-IT" sz="1400" b="1" dirty="0" err="1"/>
              <a:t>Validation</a:t>
            </a:r>
            <a:r>
              <a:rPr lang="it-IT" sz="1400" b="1" dirty="0"/>
              <a:t> </a:t>
            </a:r>
            <a:r>
              <a:rPr lang="it-IT" sz="1400" dirty="0"/>
              <a:t>→ Genera un </a:t>
            </a:r>
            <a:r>
              <a:rPr lang="it-IT" sz="1400" b="1" dirty="0" err="1"/>
              <a:t>bias</a:t>
            </a:r>
            <a:r>
              <a:rPr lang="it-IT" sz="1400" b="1" dirty="0"/>
              <a:t> di selezione</a:t>
            </a:r>
            <a:r>
              <a:rPr lang="it-IT" sz="1400" dirty="0"/>
              <a:t> che gonfia le performance</a:t>
            </a:r>
            <a:r>
              <a:rPr lang="it-IT" sz="1400" b="1" dirty="0"/>
              <a:t> 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C4B3B8BB-FB89-A9D1-C535-8CD96CA1EBFF}"/>
              </a:ext>
            </a:extLst>
          </p:cNvPr>
          <p:cNvCxnSpPr>
            <a:cxnSpLocks/>
          </p:cNvCxnSpPr>
          <p:nvPr/>
        </p:nvCxnSpPr>
        <p:spPr>
          <a:xfrm>
            <a:off x="4564773" y="1610524"/>
            <a:ext cx="7227" cy="3203350"/>
          </a:xfrm>
          <a:prstGeom prst="straightConnector1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D68CB47-230D-EFED-35C8-C26D26CBEA12}"/>
                  </a:ext>
                </a:extLst>
              </p:cNvPr>
              <p:cNvSpPr txBox="1"/>
              <p:nvPr/>
            </p:nvSpPr>
            <p:spPr>
              <a:xfrm>
                <a:off x="392306" y="3212199"/>
                <a:ext cx="4165240" cy="13563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Data </a:t>
                </a:r>
                <a:r>
                  <a:rPr lang="it-IT" sz="2000" b="1" dirty="0" err="1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Generating</a:t>
                </a:r>
                <a:r>
                  <a:rPr lang="it-IT" sz="2000" b="1" dirty="0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 Process</a:t>
                </a:r>
                <a:r>
                  <a:rPr lang="it-IT" sz="1600" b="1" dirty="0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:</a:t>
                </a:r>
              </a:p>
              <a:p>
                <a:r>
                  <a:rPr lang="it-IT" sz="1400" dirty="0"/>
                  <a:t>Comune a tutti gli esperimenti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b="1" dirty="0"/>
                  <a:t>Predittori</a:t>
                </a:r>
                <a:r>
                  <a:rPr lang="it-IT" sz="1400" dirty="0"/>
                  <a:t>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, 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=1,…,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it-IT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b="1" dirty="0"/>
                  <a:t>Target</a:t>
                </a:r>
                <a:r>
                  <a:rPr lang="it-IT" sz="1400" dirty="0"/>
                  <a:t>: </a:t>
                </a:r>
                <a14:m>
                  <m:oMath xmlns:m="http://schemas.openxmlformats.org/officeDocument/2006/math"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m:rPr>
                        <m:nor/>
                      </m:rPr>
                      <a:rPr lang="it-IT" sz="1400" b="0" i="0" smtClean="0">
                        <a:latin typeface="Cambria Math" panose="02040503050406030204" pitchFamily="18" charset="0"/>
                      </a:rPr>
                      <m:t>Bernoulli</m:t>
                    </m:r>
                    <m:d>
                      <m:d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, 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⊥</m:t>
                    </m:r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it-IT" sz="1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it-IT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it-IT" sz="1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it-IT" sz="1400" dirty="0"/>
              </a:p>
              <a:p>
                <a:r>
                  <a:rPr lang="it-IT" sz="1400" dirty="0"/>
                  <a:t>→ </a:t>
                </a:r>
                <a:r>
                  <a:rPr lang="it-IT" sz="1400" b="1" dirty="0"/>
                  <a:t>Non esiste alcun segnale predittivo</a:t>
                </a:r>
              </a:p>
            </p:txBody>
          </p:sp>
        </mc:Choice>
        <mc:Fallback>
          <p:sp>
            <p:nvSpPr>
              <p:cNvPr id="13" name="CasellaDiTesto 12">
                <a:extLst>
                  <a:ext uri="{FF2B5EF4-FFF2-40B4-BE49-F238E27FC236}">
                    <a16:creationId xmlns:a16="http://schemas.microsoft.com/office/drawing/2014/main" id="{1D68CB47-230D-EFED-35C8-C26D26CBEA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06" y="3212199"/>
                <a:ext cx="4165240" cy="1356333"/>
              </a:xfrm>
              <a:prstGeom prst="rect">
                <a:avLst/>
              </a:prstGeom>
              <a:blipFill>
                <a:blip r:embed="rId4"/>
                <a:stretch>
                  <a:fillRect l="-1462" t="-2703" b="-405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hape 6">
            <a:extLst>
              <a:ext uri="{FF2B5EF4-FFF2-40B4-BE49-F238E27FC236}">
                <a16:creationId xmlns:a16="http://schemas.microsoft.com/office/drawing/2014/main" id="{502C0124-D709-D7AB-A589-902CD09B73BB}"/>
              </a:ext>
            </a:extLst>
          </p:cNvPr>
          <p:cNvSpPr/>
          <p:nvPr/>
        </p:nvSpPr>
        <p:spPr>
          <a:xfrm>
            <a:off x="4794249" y="2355850"/>
            <a:ext cx="3994495" cy="412750"/>
          </a:xfrm>
          <a:prstGeom prst="rect">
            <a:avLst/>
          </a:prstGeom>
          <a:solidFill>
            <a:srgbClr val="EEF2FA"/>
          </a:solidFill>
          <a:ln w="6350">
            <a:solidFill>
              <a:srgbClr val="BDD0F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0B783F3B-F7C2-FF37-85F3-A2271682D900}"/>
                  </a:ext>
                </a:extLst>
              </p:cNvPr>
              <p:cNvSpPr txBox="1"/>
              <p:nvPr/>
            </p:nvSpPr>
            <p:spPr>
              <a:xfrm>
                <a:off x="4671585" y="1665668"/>
                <a:ext cx="4165240" cy="28032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Metrica</a:t>
                </a:r>
                <a:r>
                  <a:rPr lang="it-IT" sz="1600" b="1" dirty="0">
                    <a:solidFill>
                      <a:srgbClr val="1B3D7D"/>
                    </a:solidFill>
                    <a:latin typeface="Calibri"/>
                    <a:ea typeface="Calibri"/>
                    <a:cs typeface="Calibri"/>
                  </a:rPr>
                  <a:t>:</a:t>
                </a:r>
              </a:p>
              <a:p>
                <a:r>
                  <a:rPr lang="it-IT" sz="1400" dirty="0"/>
                  <a:t>Viene utilizzata l’</a:t>
                </a:r>
                <a:r>
                  <a:rPr lang="it-IT" sz="1400" b="1" dirty="0"/>
                  <a:t>Area Under the Curve </a:t>
                </a:r>
                <a:r>
                  <a:rPr lang="it-IT" sz="1400" dirty="0"/>
                  <a:t>(</a:t>
                </a:r>
                <a:r>
                  <a:rPr lang="it-IT" sz="1400" b="1" dirty="0"/>
                  <a:t>AUC</a:t>
                </a:r>
                <a:r>
                  <a:rPr lang="it-IT" sz="1400" dirty="0"/>
                  <a:t>)</a:t>
                </a:r>
              </a:p>
              <a:p>
                <a:endParaRPr lang="it-IT" sz="1400" dirty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it-IT" sz="1400" i="0" smtClean="0">
                          <a:latin typeface="Cambria Math" panose="02040503050406030204" pitchFamily="18" charset="0"/>
                        </a:rPr>
                        <m:t>AUC</m:t>
                      </m:r>
                      <m:r>
                        <a:rPr lang="it-IT" sz="14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sz="140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it-IT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it-IT" sz="140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40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it-IT" sz="14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e>
                          </m:acc>
                          <m:r>
                            <a:rPr lang="it-IT" sz="140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acc>
                            <m:accPr>
                              <m:chr m:val="̂"/>
                              <m:ctrlPr>
                                <a:rPr lang="it-IT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p>
                                <m:sSupPr>
                                  <m:ctrlP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it-IT" sz="1400" i="1" smtClean="0">
                                      <a:latin typeface="Cambria Math" panose="02040503050406030204" pitchFamily="18" charset="0"/>
                                    </a:rPr>
                                    <m:t>𝑌</m:t>
                                  </m:r>
                                </m:e>
                                <m:sup>
                                  <m:r>
                                    <a:rPr lang="it-IT" sz="14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</m:sSup>
                            </m:e>
                          </m:acc>
                        </m:e>
                      </m:d>
                    </m:oMath>
                  </m:oMathPara>
                </a14:m>
                <a:endParaRPr lang="it-IT" sz="1400" dirty="0"/>
              </a:p>
              <a:p>
                <a:endParaRPr lang="it-IT" sz="1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Rappresenta la probabilità che un classificatore assegni un punteggio (</a:t>
                </a:r>
                <a:r>
                  <a:rPr lang="it-IT" sz="1400" b="1" dirty="0"/>
                  <a:t>score</a:t>
                </a:r>
                <a:r>
                  <a:rPr lang="it-IT" sz="1400" dirty="0"/>
                  <a:t>) più alto a un esempio </a:t>
                </a:r>
                <a:r>
                  <a:rPr lang="it-IT" sz="1400" b="1" dirty="0"/>
                  <a:t>positivo</a:t>
                </a:r>
                <a:r>
                  <a:rPr lang="it-IT" sz="1400" dirty="0"/>
                  <a:t> scelto casualmente rispetto a un esempio </a:t>
                </a:r>
                <a:r>
                  <a:rPr lang="it-IT" sz="1400" b="1" dirty="0"/>
                  <a:t>negativo</a:t>
                </a:r>
                <a:r>
                  <a:rPr lang="it-IT" sz="1400" dirty="0"/>
                  <a:t> scelto a caso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b="1" dirty="0"/>
                  <a:t>Risultato atteso </a:t>
                </a:r>
                <a:r>
                  <a:rPr lang="it-IT" sz="1400" dirty="0"/>
                  <a:t>in assenza di segnale: </a:t>
                </a:r>
                <a:r>
                  <a:rPr lang="it-IT" sz="1400" b="1" dirty="0"/>
                  <a:t>0,50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Negli esperimenti valori </a:t>
                </a:r>
                <a:r>
                  <a:rPr lang="it-IT" sz="1400" b="1" dirty="0"/>
                  <a:t>AUC</a:t>
                </a:r>
                <a:r>
                  <a:rPr lang="it-IT" sz="1400" dirty="0"/>
                  <a:t> superiori a 0,50 rappresentano </a:t>
                </a:r>
                <a:r>
                  <a:rPr lang="it-IT" sz="1400" b="1" dirty="0"/>
                  <a:t>artefatti della procedura</a:t>
                </a:r>
              </a:p>
            </p:txBody>
          </p:sp>
        </mc:Choice>
        <mc:Fallback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0B783F3B-F7C2-FF37-85F3-A2271682D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1585" y="1665668"/>
                <a:ext cx="4165240" cy="2803203"/>
              </a:xfrm>
              <a:prstGeom prst="rect">
                <a:avLst/>
              </a:prstGeom>
              <a:blipFill>
                <a:blip r:embed="rId5"/>
                <a:stretch>
                  <a:fillRect l="-1462" t="-1087" r="-585" b="-1522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68D3F-5436-DD60-A50A-195EA198E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AFD6471-2B27-2FC8-C5E8-BE98303379A2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Il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meccanismo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 Leakage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8359D11-3F32-E265-3CDA-F3D045B58DA9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3/11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435B9370-B323-2BF7-523B-C03B43BAEA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920CF41-9C95-B5CC-6446-81867C633A2C}"/>
              </a:ext>
            </a:extLst>
          </p:cNvPr>
          <p:cNvSpPr txBox="1"/>
          <p:nvPr/>
        </p:nvSpPr>
        <p:spPr>
          <a:xfrm>
            <a:off x="151990" y="906301"/>
            <a:ext cx="8992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L’ipotesi fondamentale della </a:t>
            </a:r>
            <a:r>
              <a:rPr lang="it-IT" b="1" i="1" dirty="0"/>
              <a:t>Cross </a:t>
            </a:r>
            <a:r>
              <a:rPr lang="it-IT" b="1" i="1" dirty="0" err="1"/>
              <a:t>Validation</a:t>
            </a:r>
            <a:r>
              <a:rPr lang="it-IT" b="1" i="1" dirty="0"/>
              <a:t> </a:t>
            </a:r>
            <a:r>
              <a:rPr lang="it-IT" i="1" dirty="0"/>
              <a:t>è che il </a:t>
            </a:r>
            <a:r>
              <a:rPr lang="it-IT" b="1" i="1" dirty="0" err="1"/>
              <a:t>validation</a:t>
            </a:r>
            <a:r>
              <a:rPr lang="it-IT" b="1" i="1" dirty="0"/>
              <a:t> set </a:t>
            </a:r>
            <a:r>
              <a:rPr lang="it-IT" i="1" dirty="0"/>
              <a:t>sia completamente </a:t>
            </a:r>
            <a:r>
              <a:rPr lang="it-IT" b="1" i="1" dirty="0"/>
              <a:t>ignoto</a:t>
            </a:r>
            <a:r>
              <a:rPr lang="it-IT" i="1" dirty="0"/>
              <a:t> in fase di </a:t>
            </a:r>
            <a:r>
              <a:rPr lang="it-IT" b="1" i="1" dirty="0"/>
              <a:t>training</a:t>
            </a:r>
            <a:r>
              <a:rPr lang="it-IT" i="1" dirty="0"/>
              <a:t>. La Feature </a:t>
            </a:r>
            <a:r>
              <a:rPr lang="it-IT" i="1" dirty="0" err="1"/>
              <a:t>Selection</a:t>
            </a:r>
            <a:r>
              <a:rPr lang="it-IT" i="1" dirty="0"/>
              <a:t> preliminare viola silenziosamente questa ipotesi</a:t>
            </a:r>
          </a:p>
        </p:txBody>
      </p:sp>
      <p:cxnSp>
        <p:nvCxnSpPr>
          <p:cNvPr id="8" name="Connettore 2 7">
            <a:extLst>
              <a:ext uri="{FF2B5EF4-FFF2-40B4-BE49-F238E27FC236}">
                <a16:creationId xmlns:a16="http://schemas.microsoft.com/office/drawing/2014/main" id="{AC63A6B6-E3DB-584F-1E97-C72E84FA577E}"/>
              </a:ext>
            </a:extLst>
          </p:cNvPr>
          <p:cNvCxnSpPr>
            <a:cxnSpLocks/>
          </p:cNvCxnSpPr>
          <p:nvPr/>
        </p:nvCxnSpPr>
        <p:spPr>
          <a:xfrm>
            <a:off x="4564773" y="1610524"/>
            <a:ext cx="7227" cy="3203350"/>
          </a:xfrm>
          <a:prstGeom prst="straightConnector1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0" name="Shape 6">
            <a:extLst>
              <a:ext uri="{FF2B5EF4-FFF2-40B4-BE49-F238E27FC236}">
                <a16:creationId xmlns:a16="http://schemas.microsoft.com/office/drawing/2014/main" id="{C121C102-AF4F-C3F2-840E-FCCC28517795}"/>
              </a:ext>
            </a:extLst>
          </p:cNvPr>
          <p:cNvSpPr/>
          <p:nvPr/>
        </p:nvSpPr>
        <p:spPr>
          <a:xfrm>
            <a:off x="198338" y="1794748"/>
            <a:ext cx="4253011" cy="3019126"/>
          </a:xfrm>
          <a:prstGeom prst="rect">
            <a:avLst/>
          </a:prstGeom>
          <a:solidFill>
            <a:srgbClr val="EEF2FA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63A11148-63B4-ADED-71BB-567E20C4FF62}"/>
                  </a:ext>
                </a:extLst>
              </p:cNvPr>
              <p:cNvSpPr txBox="1"/>
              <p:nvPr/>
            </p:nvSpPr>
            <p:spPr>
              <a:xfrm>
                <a:off x="182880" y="1803400"/>
                <a:ext cx="4389120" cy="28997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>
                    <a:solidFill>
                      <a:srgbClr val="FF0000"/>
                    </a:solidFill>
                  </a:rPr>
                  <a:t>Pipeline Errata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Calcola la </a:t>
                </a:r>
                <a:r>
                  <a:rPr lang="it-IT" sz="1600" b="1" dirty="0"/>
                  <a:t>correlazione</a:t>
                </a:r>
                <a:r>
                  <a:rPr lang="it-IT" sz="1600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1600" b="0" i="0" smtClean="0">
                        <a:latin typeface="Cambria Math" panose="02040503050406030204" pitchFamily="18" charset="0"/>
                      </a:rPr>
                      <m:t>cor</m:t>
                    </m:r>
                    <m:d>
                      <m:d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</m:oMath>
                </a14:m>
                <a:r>
                  <a:rPr lang="it-IT" sz="1600" dirty="0"/>
                  <a:t> usando l’</a:t>
                </a:r>
                <a:r>
                  <a:rPr lang="it-IT" sz="1600" b="1" dirty="0"/>
                  <a:t>intero</a:t>
                </a:r>
                <a:r>
                  <a:rPr lang="it-IT" sz="1600" dirty="0"/>
                  <a:t> dataset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Seleziona i </a:t>
                </a:r>
                <a:r>
                  <a:rPr lang="it-IT" sz="1600" b="1" dirty="0"/>
                  <a:t>top-k</a:t>
                </a:r>
                <a:r>
                  <a:rPr lang="it-IT" sz="1600" dirty="0"/>
                  <a:t> predittori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Applica la </a:t>
                </a:r>
                <a:r>
                  <a:rPr lang="it-IT" sz="1600" b="1" dirty="0"/>
                  <a:t>CV</a:t>
                </a:r>
                <a:r>
                  <a:rPr lang="it-IT" sz="1600" dirty="0"/>
                  <a:t> sul modello ridotto</a:t>
                </a:r>
              </a:p>
              <a:p>
                <a:endParaRPr lang="it-IT" sz="1600" dirty="0"/>
              </a:p>
              <a:p>
                <a:endParaRPr lang="it-IT" sz="1600" dirty="0"/>
              </a:p>
              <a:p>
                <a:r>
                  <a:rPr lang="it-IT" sz="1600" b="1" dirty="0">
                    <a:solidFill>
                      <a:srgbClr val="004180"/>
                    </a:solidFill>
                  </a:rPr>
                  <a:t>Il problema</a:t>
                </a:r>
                <a:r>
                  <a:rPr lang="it-IT" sz="1600" dirty="0"/>
                  <a:t>: Le variabili mostrano correlazioni </a:t>
                </a:r>
                <a:r>
                  <a:rPr lang="it-IT" sz="1600" b="1" dirty="0"/>
                  <a:t>spurie</a:t>
                </a:r>
                <a:r>
                  <a:rPr lang="it-IT" sz="1600" dirty="0"/>
                  <a:t> " pescate" sul </a:t>
                </a:r>
                <a:r>
                  <a:rPr lang="it-IT" sz="1600" b="1" dirty="0" err="1"/>
                  <a:t>validation</a:t>
                </a:r>
                <a:r>
                  <a:rPr lang="it-IT" sz="1600" b="1" dirty="0"/>
                  <a:t> set</a:t>
                </a:r>
                <a:r>
                  <a:rPr lang="it-IT" sz="1600" dirty="0"/>
                  <a:t>. La </a:t>
                </a:r>
                <a:r>
                  <a:rPr lang="it-IT" sz="1600" b="1" dirty="0"/>
                  <a:t>CV</a:t>
                </a:r>
                <a:r>
                  <a:rPr lang="it-IT" sz="1600" dirty="0"/>
                  <a:t> non rileva il </a:t>
                </a:r>
                <a:r>
                  <a:rPr lang="it-IT" sz="1600" dirty="0" err="1"/>
                  <a:t>bias</a:t>
                </a:r>
                <a:r>
                  <a:rPr lang="it-IT" sz="1600" dirty="0"/>
                  <a:t> perché la selezione è avvenuta a monte</a:t>
                </a:r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63A11148-63B4-ADED-71BB-567E20C4F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" y="1803400"/>
                <a:ext cx="4389120" cy="2899768"/>
              </a:xfrm>
              <a:prstGeom prst="rect">
                <a:avLst/>
              </a:prstGeom>
              <a:blipFill>
                <a:blip r:embed="rId4"/>
                <a:stretch>
                  <a:fillRect l="-1389" t="-1261" b="-168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hape 6">
            <a:extLst>
              <a:ext uri="{FF2B5EF4-FFF2-40B4-BE49-F238E27FC236}">
                <a16:creationId xmlns:a16="http://schemas.microsoft.com/office/drawing/2014/main" id="{8D9C995A-EF5C-E066-6943-A82F4902F224}"/>
              </a:ext>
            </a:extLst>
          </p:cNvPr>
          <p:cNvSpPr/>
          <p:nvPr/>
        </p:nvSpPr>
        <p:spPr>
          <a:xfrm>
            <a:off x="4708109" y="1794748"/>
            <a:ext cx="4253011" cy="3019126"/>
          </a:xfrm>
          <a:prstGeom prst="rect">
            <a:avLst/>
          </a:prstGeom>
          <a:solidFill>
            <a:srgbClr val="EEF2FA"/>
          </a:solidFill>
          <a:ln w="12700">
            <a:solidFill>
              <a:srgbClr val="00B050"/>
            </a:solidFill>
            <a:prstDash val="solid"/>
          </a:ln>
        </p:spPr>
        <p:txBody>
          <a:bodyPr/>
          <a:lstStyle/>
          <a:p>
            <a:endParaRPr lang="it-IT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0C988754-10CE-613F-8CB6-E20ABC6E51EA}"/>
                  </a:ext>
                </a:extLst>
              </p:cNvPr>
              <p:cNvSpPr txBox="1"/>
              <p:nvPr/>
            </p:nvSpPr>
            <p:spPr>
              <a:xfrm>
                <a:off x="4708109" y="1803400"/>
                <a:ext cx="4442241" cy="26535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2000" b="1" dirty="0">
                    <a:solidFill>
                      <a:srgbClr val="00B050"/>
                    </a:solidFill>
                  </a:rPr>
                  <a:t>Pipeline Corretta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Inizia il loop di </a:t>
                </a:r>
                <a:r>
                  <a:rPr lang="it-IT" sz="1600" b="1" dirty="0"/>
                  <a:t>CV</a:t>
                </a:r>
                <a:r>
                  <a:rPr lang="it-IT" sz="1600" dirty="0"/>
                  <a:t> sui </a:t>
                </a:r>
                <a:r>
                  <a:rPr lang="it-IT" sz="1600" b="1" dirty="0" err="1"/>
                  <a:t>fold</a:t>
                </a:r>
                <a:endParaRPr lang="it-IT" sz="16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Usa solo il </a:t>
                </a:r>
                <a:r>
                  <a:rPr lang="it-IT" sz="1600" b="1" dirty="0"/>
                  <a:t>training </a:t>
                </a:r>
                <a:r>
                  <a:rPr lang="it-IT" sz="1600" b="1" dirty="0" err="1"/>
                  <a:t>fold</a:t>
                </a:r>
                <a:r>
                  <a:rPr lang="it-IT" sz="1600" b="1" dirty="0"/>
                  <a:t> </a:t>
                </a:r>
                <a:r>
                  <a:rPr lang="it-IT" sz="1600" dirty="0"/>
                  <a:t>per calcolare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it-IT" sz="1600" b="0" i="0" smtClean="0">
                        <a:latin typeface="Cambria Math" panose="02040503050406030204" pitchFamily="18" charset="0"/>
                      </a:rPr>
                      <m:t>cor</m:t>
                    </m:r>
                    <m:d>
                      <m:dPr>
                        <m:ctrlPr>
                          <a:rPr lang="it-IT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  <m:r>
                          <a:rPr lang="it-IT" sz="16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it-IT" sz="1600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it-IT" sz="1600" b="0" i="0" smtClean="0">
                                <a:latin typeface="Cambria Math" panose="02040503050406030204" pitchFamily="18" charset="0"/>
                              </a:rPr>
                              <m:t>train</m:t>
                            </m:r>
                          </m:sub>
                        </m:sSub>
                      </m:e>
                    </m:d>
                  </m:oMath>
                </a14:m>
                <a:endParaRPr lang="it-IT" sz="1600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Seleziona i </a:t>
                </a:r>
                <a:r>
                  <a:rPr lang="it-IT" sz="1600" b="1" dirty="0"/>
                  <a:t>top-k</a:t>
                </a:r>
                <a:r>
                  <a:rPr lang="it-IT" sz="1600" dirty="0"/>
                  <a:t> predittori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600" dirty="0"/>
                  <a:t>Valuta sul </a:t>
                </a:r>
                <a:r>
                  <a:rPr lang="it-IT" sz="1600" b="1" dirty="0" err="1"/>
                  <a:t>validation</a:t>
                </a:r>
                <a:r>
                  <a:rPr lang="it-IT" sz="1600" b="1" dirty="0"/>
                  <a:t> </a:t>
                </a:r>
                <a:r>
                  <a:rPr lang="it-IT" sz="1600" b="1" dirty="0" err="1"/>
                  <a:t>fold</a:t>
                </a:r>
                <a:endParaRPr lang="it-IT" sz="1600" b="1" dirty="0"/>
              </a:p>
              <a:p>
                <a:endParaRPr lang="it-IT" sz="1600" dirty="0"/>
              </a:p>
              <a:p>
                <a:r>
                  <a:rPr lang="it-IT" sz="1600" b="1" dirty="0">
                    <a:solidFill>
                      <a:srgbClr val="004180"/>
                    </a:solidFill>
                  </a:rPr>
                  <a:t>La soluzione</a:t>
                </a:r>
                <a:r>
                  <a:rPr lang="it-IT" sz="1600" dirty="0"/>
                  <a:t>: La selezione non vede mai il </a:t>
                </a:r>
                <a:r>
                  <a:rPr lang="it-IT" sz="1600" b="1" dirty="0" err="1"/>
                  <a:t>validation</a:t>
                </a:r>
                <a:r>
                  <a:rPr lang="it-IT" sz="1600" b="1" dirty="0"/>
                  <a:t> set</a:t>
                </a:r>
                <a:r>
                  <a:rPr lang="it-IT" sz="1600" dirty="0"/>
                  <a:t>. Questo garantisce stime non affette da </a:t>
                </a:r>
                <a:r>
                  <a:rPr lang="it-IT" sz="1600" b="1" dirty="0"/>
                  <a:t>ottimismo artificiale</a:t>
                </a:r>
              </a:p>
            </p:txBody>
          </p:sp>
        </mc:Choice>
        <mc:Fallback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0C988754-10CE-613F-8CB6-E20ABC6E51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8109" y="1803400"/>
                <a:ext cx="4442241" cy="2653547"/>
              </a:xfrm>
              <a:prstGeom prst="rect">
                <a:avLst/>
              </a:prstGeom>
              <a:blipFill>
                <a:blip r:embed="rId5"/>
                <a:stretch>
                  <a:fillRect l="-1372" t="-1379" b="-206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2263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AB9F0-5A25-487D-A588-A7836167E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B428F724-39A0-F1F9-2F64-F3D70F2DBB65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1: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Distorsione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nelle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stime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AUC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5DCDA107-3669-6E23-75A0-F04CDD2F86EB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4/11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5423417-DB93-1CE6-CAE8-7712C07323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6" name="SetupBg">
            <a:extLst>
              <a:ext uri="{FF2B5EF4-FFF2-40B4-BE49-F238E27FC236}">
                <a16:creationId xmlns:a16="http://schemas.microsoft.com/office/drawing/2014/main" id="{2967AD75-33C5-6C12-4CDA-2FB65B5A1F89}"/>
              </a:ext>
            </a:extLst>
          </p:cNvPr>
          <p:cNvSpPr/>
          <p:nvPr/>
        </p:nvSpPr>
        <p:spPr>
          <a:xfrm>
            <a:off x="302650" y="758692"/>
            <a:ext cx="3783196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SetupTxt">
            <a:extLst>
              <a:ext uri="{FF2B5EF4-FFF2-40B4-BE49-F238E27FC236}">
                <a16:creationId xmlns:a16="http://schemas.microsoft.com/office/drawing/2014/main" id="{54C06324-9602-4D32-2CB5-B5E7371334D8}"/>
              </a:ext>
            </a:extLst>
          </p:cNvPr>
          <p:cNvSpPr/>
          <p:nvPr/>
        </p:nvSpPr>
        <p:spPr>
          <a:xfrm>
            <a:off x="362650" y="758692"/>
            <a:ext cx="3723196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 = 200, p = 500, k = 20, B = 100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Monte Carlo</a:t>
            </a:r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A691ABBA-D78F-2E82-1BBB-4E663F43EC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1294368"/>
            <a:ext cx="3783196" cy="3580916"/>
          </a:xfrm>
          <a:prstGeom prst="rect">
            <a:avLst/>
          </a:prstGeom>
        </p:spPr>
      </p:pic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49A0FE5E-5C80-044B-3DEC-304157EF3116}"/>
              </a:ext>
            </a:extLst>
          </p:cNvPr>
          <p:cNvSpPr txBox="1"/>
          <p:nvPr/>
        </p:nvSpPr>
        <p:spPr>
          <a:xfrm>
            <a:off x="4260850" y="1147793"/>
            <a:ext cx="470027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Pipeline Errata</a:t>
            </a:r>
            <a:r>
              <a:rPr lang="it-IT" sz="1600" dirty="0"/>
              <a:t>: AUC media ≈ 0,81. Il modello sembra eccellente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600" b="1" dirty="0"/>
              <a:t>Pipeline Corretta</a:t>
            </a:r>
            <a:r>
              <a:rPr lang="it-IT" sz="1600" dirty="0"/>
              <a:t>: AUC media ≈ 0,51. Il modello cattura la reale assenza di segnale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etupBg">
                <a:extLst>
                  <a:ext uri="{FF2B5EF4-FFF2-40B4-BE49-F238E27FC236}">
                    <a16:creationId xmlns:a16="http://schemas.microsoft.com/office/drawing/2014/main" id="{C624A606-14AE-C0CB-B03D-D3FAA6A0BA0D}"/>
                  </a:ext>
                </a:extLst>
              </p:cNvPr>
              <p:cNvSpPr/>
              <p:nvPr/>
            </p:nvSpPr>
            <p:spPr>
              <a:xfrm>
                <a:off x="4260850" y="2411830"/>
                <a:ext cx="4700270" cy="2322296"/>
              </a:xfrm>
              <a:prstGeom prst="rect">
                <a:avLst/>
              </a:prstGeom>
              <a:solidFill>
                <a:srgbClr val="EBF0F7"/>
              </a:solidFill>
              <a:ln w="9525">
                <a:solidFill>
                  <a:srgbClr val="1B3D7D"/>
                </a:solidFill>
              </a:ln>
            </p:spPr>
            <p:txBody>
              <a:bodyPr/>
              <a:lstStyle/>
              <a:p>
                <a:r>
                  <a:rPr lang="it-IT" b="1" dirty="0">
                    <a:solidFill>
                      <a:srgbClr val="002060"/>
                    </a:solidFill>
                  </a:rPr>
                  <a:t>Ottimismo dell’errore</a:t>
                </a:r>
              </a:p>
              <a:p>
                <a:r>
                  <a:rPr lang="it-IT" sz="1600" dirty="0"/>
                  <a:t>Il "salto" di performance (circa </a:t>
                </a:r>
                <a:r>
                  <a:rPr lang="it-IT" sz="1600" b="1" dirty="0"/>
                  <a:t>0,30</a:t>
                </a:r>
                <a:r>
                  <a:rPr lang="it-IT" sz="1600" dirty="0"/>
                  <a:t>) è causato dall'</a:t>
                </a:r>
                <a:r>
                  <a:rPr lang="it-IT" sz="1600" b="1" dirty="0"/>
                  <a:t>ottimismo dell'errore di training</a:t>
                </a:r>
                <a:r>
                  <a:rPr lang="it-IT" sz="1600" dirty="0"/>
                  <a:t>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𝑂𝑝𝑡</m:t>
                      </m:r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 = </m:t>
                      </m:r>
                      <m:f>
                        <m:fPr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it-IT" sz="16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p>
                        <m:e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𝐶𝑜𝑣</m:t>
                          </m:r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Y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  <m:r>
                            <a:rPr lang="it-IT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sSub>
                                <m:sSubPr>
                                  <m:ctrlPr>
                                    <a:rPr lang="it-IT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it-IT" sz="1600" b="0" i="1" smtClean="0">
                                      <a:latin typeface="Cambria Math" panose="02040503050406030204" pitchFamily="18" charset="0"/>
                                    </a:rPr>
                                    <m:t>Y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it-IT" sz="1600" b="0" i="1" smtClean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a:rPr lang="it-IT" sz="16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acc>
                        </m:e>
                      </m:nary>
                      <m:r>
                        <a:rPr lang="it-IT" sz="16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it-IT" sz="16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La selezione esterna </a:t>
                </a:r>
                <a:r>
                  <a:rPr lang="it-IT" sz="1600" b="1" dirty="0"/>
                  <a:t>massimizza</a:t>
                </a:r>
                <a:r>
                  <a:rPr lang="it-IT" sz="1600" dirty="0"/>
                  <a:t> la </a:t>
                </a:r>
                <a:r>
                  <a:rPr lang="it-IT" sz="1600" b="1" dirty="0"/>
                  <a:t>covarianza</a:t>
                </a:r>
                <a:r>
                  <a:rPr lang="it-IT" sz="1600" dirty="0"/>
                  <a:t> tra target e predizioni, aumentando </a:t>
                </a:r>
                <a:r>
                  <a:rPr lang="it-IT" sz="1600" b="1" dirty="0"/>
                  <a:t>AUC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Il modello non apprende la relazione reale</a:t>
                </a:r>
              </a:p>
            </p:txBody>
          </p:sp>
        </mc:Choice>
        <mc:Fallback>
          <p:sp>
            <p:nvSpPr>
              <p:cNvPr id="17" name="SetupBg">
                <a:extLst>
                  <a:ext uri="{FF2B5EF4-FFF2-40B4-BE49-F238E27FC236}">
                    <a16:creationId xmlns:a16="http://schemas.microsoft.com/office/drawing/2014/main" id="{C624A606-14AE-C0CB-B03D-D3FAA6A0BA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0850" y="2411830"/>
                <a:ext cx="4700270" cy="2322296"/>
              </a:xfrm>
              <a:prstGeom prst="rect">
                <a:avLst/>
              </a:prstGeom>
              <a:blipFill>
                <a:blip r:embed="rId5"/>
                <a:stretch>
                  <a:fillRect l="-1035" t="-1305"/>
                </a:stretch>
              </a:blipFill>
              <a:ln w="9525">
                <a:solidFill>
                  <a:srgbClr val="1B3D7D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329436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C157-D5C8-24FB-6532-39C7DEC95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9CC5998-F3CE-92EA-F4BF-1A01E4CB3FA0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1: Come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parametri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guidano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l’ottimismo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7FABDA5-1638-2F7A-FE82-6A1F465D1E00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5/11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362E2622-BD48-F8D9-29C1-18D62236BD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6" name="SetupBg">
            <a:extLst>
              <a:ext uri="{FF2B5EF4-FFF2-40B4-BE49-F238E27FC236}">
                <a16:creationId xmlns:a16="http://schemas.microsoft.com/office/drawing/2014/main" id="{50D94B69-ACEA-FAFF-60AA-FE1073EB7899}"/>
              </a:ext>
            </a:extLst>
          </p:cNvPr>
          <p:cNvSpPr/>
          <p:nvPr/>
        </p:nvSpPr>
        <p:spPr>
          <a:xfrm>
            <a:off x="302650" y="641962"/>
            <a:ext cx="3783196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SetupTxt">
            <a:extLst>
              <a:ext uri="{FF2B5EF4-FFF2-40B4-BE49-F238E27FC236}">
                <a16:creationId xmlns:a16="http://schemas.microsoft.com/office/drawing/2014/main" id="{D1750D2A-9F0D-30B1-2387-71E8850F9C61}"/>
              </a:ext>
            </a:extLst>
          </p:cNvPr>
          <p:cNvSpPr/>
          <p:nvPr/>
        </p:nvSpPr>
        <p:spPr>
          <a:xfrm>
            <a:off x="283465" y="676143"/>
            <a:ext cx="3723196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n, p variano, k = 20, B = 100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Monte Carlo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BC2CE200-B286-1C2A-1698-1020DDDEA5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656" y="1149510"/>
            <a:ext cx="4427344" cy="1898000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D0B40CC8-5EA7-8F32-8AB3-AFE0139D17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4918" y="3313421"/>
            <a:ext cx="4319081" cy="1833031"/>
          </a:xfrm>
          <a:prstGeom prst="rect">
            <a:avLst/>
          </a:prstGeom>
        </p:spPr>
      </p:pic>
      <p:sp>
        <p:nvSpPr>
          <p:cNvPr id="10" name="SetupBg">
            <a:extLst>
              <a:ext uri="{FF2B5EF4-FFF2-40B4-BE49-F238E27FC236}">
                <a16:creationId xmlns:a16="http://schemas.microsoft.com/office/drawing/2014/main" id="{68CF6F08-17F5-FFEB-3855-0AB208395259}"/>
              </a:ext>
            </a:extLst>
          </p:cNvPr>
          <p:cNvSpPr/>
          <p:nvPr/>
        </p:nvSpPr>
        <p:spPr>
          <a:xfrm>
            <a:off x="4844104" y="2766728"/>
            <a:ext cx="4254230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12" name="SetupTxt">
            <a:extLst>
              <a:ext uri="{FF2B5EF4-FFF2-40B4-BE49-F238E27FC236}">
                <a16:creationId xmlns:a16="http://schemas.microsoft.com/office/drawing/2014/main" id="{11AFB394-E420-9C0B-00B9-35B7E13FBB62}"/>
              </a:ext>
            </a:extLst>
          </p:cNvPr>
          <p:cNvSpPr/>
          <p:nvPr/>
        </p:nvSpPr>
        <p:spPr>
          <a:xfrm>
            <a:off x="4824919" y="2804884"/>
            <a:ext cx="425423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 = 200, p = 500, k varia, B = 100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Monte Carlo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A76298D-B4CD-3365-3335-A6F8FED39113}"/>
              </a:ext>
            </a:extLst>
          </p:cNvPr>
          <p:cNvSpPr txBox="1"/>
          <p:nvPr/>
        </p:nvSpPr>
        <p:spPr>
          <a:xfrm>
            <a:off x="4571999" y="933184"/>
            <a:ext cx="442734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L’ottimismo è </a:t>
            </a:r>
            <a:r>
              <a:rPr lang="it-IT" sz="1400" b="1" dirty="0"/>
              <a:t>massimo</a:t>
            </a:r>
            <a:r>
              <a:rPr lang="it-IT" sz="1400" dirty="0"/>
              <a:t> per </a:t>
            </a:r>
            <a:r>
              <a:rPr lang="it-IT" sz="1400" b="1" dirty="0"/>
              <a:t>p grande </a:t>
            </a:r>
            <a:r>
              <a:rPr lang="it-IT" sz="1400" dirty="0"/>
              <a:t>e </a:t>
            </a:r>
            <a:r>
              <a:rPr lang="it-IT" sz="1400" b="1" dirty="0"/>
              <a:t>n piccolo</a:t>
            </a:r>
            <a:r>
              <a:rPr lang="it-IT" sz="1400" dirty="0"/>
              <a:t> → AUC a ≈ 0,90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Per </a:t>
            </a:r>
            <a:r>
              <a:rPr lang="it-IT" sz="1400" b="1" dirty="0"/>
              <a:t>p = k = 20 </a:t>
            </a:r>
            <a:r>
              <a:rPr lang="it-IT" sz="1400" dirty="0"/>
              <a:t>si ha un caso limite: </a:t>
            </a:r>
            <a:r>
              <a:rPr lang="it-IT" sz="1400" b="1" dirty="0"/>
              <a:t>ottimismo nullo</a:t>
            </a:r>
            <a:r>
              <a:rPr lang="it-IT" sz="1400" dirty="0"/>
              <a:t> perché numero di predittori = numero di variabili da selezionare → </a:t>
            </a:r>
            <a:r>
              <a:rPr lang="it-IT" sz="1400" b="1" dirty="0"/>
              <a:t>Nessun processo di selezione</a:t>
            </a:r>
            <a:r>
              <a:rPr lang="it-IT" sz="1400" dirty="0"/>
              <a:t> → AUC a 0,50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F7DB72D-2EC6-361D-DFF8-F087B5A19F96}"/>
              </a:ext>
            </a:extLst>
          </p:cNvPr>
          <p:cNvSpPr txBox="1"/>
          <p:nvPr/>
        </p:nvSpPr>
        <p:spPr>
          <a:xfrm>
            <a:off x="144656" y="3184884"/>
            <a:ext cx="43190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L’ottimismo </a:t>
            </a:r>
            <a:r>
              <a:rPr lang="it-IT" sz="1400" b="1" dirty="0"/>
              <a:t>non scala in modo lineare </a:t>
            </a:r>
            <a:r>
              <a:rPr lang="it-IT" sz="1400" dirty="0"/>
              <a:t>all’aumentare di k (variabili selezionate)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Distorsione iniziale → picco massimo → collasso dell’ottimismo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Trade-off </a:t>
            </a:r>
            <a:r>
              <a:rPr lang="it-IT" sz="1400" b="1" dirty="0" err="1"/>
              <a:t>bias</a:t>
            </a:r>
            <a:r>
              <a:rPr lang="it-IT" sz="1400" b="1" dirty="0"/>
              <a:t>-varianza:</a:t>
            </a:r>
            <a:r>
              <a:rPr lang="it-IT" sz="1400" dirty="0"/>
              <a:t> per k = 200 si includono predittori con </a:t>
            </a:r>
            <a:r>
              <a:rPr lang="it-IT" sz="1400" b="1" dirty="0"/>
              <a:t>correlazioni spurie </a:t>
            </a:r>
            <a:r>
              <a:rPr lang="it-IT" sz="1400" dirty="0"/>
              <a:t>sempre più </a:t>
            </a:r>
            <a:r>
              <a:rPr lang="it-IT" sz="1400" b="1" dirty="0"/>
              <a:t>deboli</a:t>
            </a:r>
            <a:r>
              <a:rPr lang="it-IT" sz="1400" dirty="0"/>
              <a:t> → la </a:t>
            </a:r>
            <a:r>
              <a:rPr lang="it-IT" sz="1400" b="1" dirty="0"/>
              <a:t>varianza</a:t>
            </a:r>
            <a:r>
              <a:rPr lang="it-IT" sz="1400" dirty="0"/>
              <a:t> nella stima dei coefficienti </a:t>
            </a:r>
            <a:r>
              <a:rPr lang="it-IT" sz="1400" b="1" dirty="0"/>
              <a:t>aumenta</a:t>
            </a:r>
            <a:r>
              <a:rPr lang="it-IT" sz="1400" dirty="0"/>
              <a:t> drasticamente</a:t>
            </a:r>
          </a:p>
        </p:txBody>
      </p:sp>
    </p:spTree>
    <p:extLst>
      <p:ext uri="{BB962C8B-B14F-4D97-AF65-F5344CB8AC3E}">
        <p14:creationId xmlns:p14="http://schemas.microsoft.com/office/powerpoint/2010/main" val="290841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96C0C2-3FA9-5F15-72E0-23D4C7E7E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07F0E67A-4E94-DBCB-99AE-2A1C50B8B909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Derivazione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teorica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dell’ottimismo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268BD17-AAAF-FED1-1C91-1366132A2EE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6/11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8540BEA7-A66E-8EAF-DC29-672C6C2B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ED25594A-77B8-6D5E-8494-DE380F3E733D}"/>
              </a:ext>
            </a:extLst>
          </p:cNvPr>
          <p:cNvSpPr txBox="1"/>
          <p:nvPr/>
        </p:nvSpPr>
        <p:spPr>
          <a:xfrm>
            <a:off x="151990" y="594825"/>
            <a:ext cx="89920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La seguente derivazione teorica è utile per verificare analiticamente e confermare su base numerica il comportamento dell'ottimismo osservato precedentemente in via sperimentale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etupBg">
                <a:extLst>
                  <a:ext uri="{FF2B5EF4-FFF2-40B4-BE49-F238E27FC236}">
                    <a16:creationId xmlns:a16="http://schemas.microsoft.com/office/drawing/2014/main" id="{8AF73F30-804D-D753-67F2-3EA79D48BD81}"/>
                  </a:ext>
                </a:extLst>
              </p:cNvPr>
              <p:cNvSpPr/>
              <p:nvPr/>
            </p:nvSpPr>
            <p:spPr>
              <a:xfrm>
                <a:off x="5869020" y="2578960"/>
                <a:ext cx="3008531" cy="902059"/>
              </a:xfrm>
              <a:prstGeom prst="rect">
                <a:avLst/>
              </a:prstGeom>
              <a:solidFill>
                <a:srgbClr val="EBF0F7"/>
              </a:solidFill>
              <a:ln w="9525">
                <a:solidFill>
                  <a:srgbClr val="1B3D7D"/>
                </a:solidFill>
              </a:ln>
            </p:spPr>
            <p:txBody>
              <a:bodyPr/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it-IT" sz="1600" b="1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it-IT" sz="1600" b="1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a:rPr lang="it-IT" sz="1600" b="1" i="0">
                                  <a:latin typeface="Cambria Math" panose="02040503050406030204" pitchFamily="18" charset="0"/>
                                </a:rPr>
                                <m:t>𝐦𝐚𝐱</m:t>
                              </m:r>
                            </m:e>
                            <m:lim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it-IT" sz="16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it-IT" sz="1600" b="1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it-IT" sz="1600" b="1" i="1">
                                      <a:latin typeface="Cambria Math" panose="02040503050406030204" pitchFamily="18" charset="0"/>
                                    </a:rPr>
                                    <m:t>𝒓</m:t>
                                  </m:r>
                                </m:e>
                                <m:sub>
                                  <m:r>
                                    <a:rPr lang="it-IT" sz="1600" b="1" i="1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it-IT" sz="1600" b="1" i="1">
                          <a:latin typeface="Cambria Math" panose="02040503050406030204" pitchFamily="18" charset="0"/>
                        </a:rPr>
                        <m:t>≈</m:t>
                      </m:r>
                      <m:rad>
                        <m:radPr>
                          <m:degHide m:val="on"/>
                          <m:ctrlPr>
                            <a:rPr lang="it-IT" sz="1600" b="1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it-IT" sz="1600" b="1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unc>
                                <m:funcPr>
                                  <m:ctrlPr>
                                    <a:rPr lang="it-IT" sz="1600" b="1" i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it-IT" sz="1600" b="1" i="0">
                                      <a:latin typeface="Cambria Math" panose="02040503050406030204" pitchFamily="18" charset="0"/>
                                    </a:rPr>
                                    <m:t>𝐥𝐨𝐠</m:t>
                                  </m:r>
                                </m:fName>
                                <m:e>
                                  <m:r>
                                    <a:rPr lang="it-IT" sz="1600" b="1" i="1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it-IT" sz="1600" b="1" i="1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it-IT" sz="1600" b="1" dirty="0"/>
              </a:p>
            </p:txBody>
          </p:sp>
        </mc:Choice>
        <mc:Fallback>
          <p:sp>
            <p:nvSpPr>
              <p:cNvPr id="14" name="SetupBg">
                <a:extLst>
                  <a:ext uri="{FF2B5EF4-FFF2-40B4-BE49-F238E27FC236}">
                    <a16:creationId xmlns:a16="http://schemas.microsoft.com/office/drawing/2014/main" id="{8AF73F30-804D-D753-67F2-3EA79D48BD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9020" y="2578960"/>
                <a:ext cx="3008531" cy="90205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solidFill>
                  <a:srgbClr val="1B3D7D"/>
                </a:solidFill>
              </a:ln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5BCF99E8-F633-93F0-E15F-81FC4204B82C}"/>
                  </a:ext>
                </a:extLst>
              </p:cNvPr>
              <p:cNvSpPr txBox="1"/>
              <p:nvPr/>
            </p:nvSpPr>
            <p:spPr>
              <a:xfrm>
                <a:off x="151989" y="1205228"/>
                <a:ext cx="5717031" cy="3649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it-IT" sz="1400" b="1" dirty="0">
                    <a:solidFill>
                      <a:srgbClr val="002060"/>
                    </a:solidFill>
                  </a:rPr>
                  <a:t>La distribuzione base: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IT" sz="1400" b="1" dirty="0"/>
                  <a:t>Ipotesi</a:t>
                </a:r>
                <a:r>
                  <a:rPr lang="it-IT" sz="1400" dirty="0"/>
                  <a:t>: ogni predittore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14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14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it-IT" sz="1400" dirty="0"/>
                  <a:t> è teoricamente </a:t>
                </a:r>
                <a:r>
                  <a:rPr lang="it-IT" sz="1400" b="1" dirty="0"/>
                  <a:t>indipendente</a:t>
                </a:r>
                <a:r>
                  <a:rPr lang="it-IT" sz="1400" dirty="0"/>
                  <a:t> dal target Y (correlazione nulla)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Le correlazioni campionarie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it-IT" sz="1400" dirty="0"/>
                  <a:t> non sono esattamente zero, fluttuano casualmente seguendo la distribuzione:</a:t>
                </a:r>
                <a:r>
                  <a:rPr lang="it-IT" sz="140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𝒓</m:t>
                        </m:r>
                      </m:e>
                      <m:sub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𝓝</m:t>
                    </m:r>
                    <m:d>
                      <m:dPr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num>
                          <m:den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d>
                  </m:oMath>
                </a14:m>
                <a:endParaRPr lang="it-IT" sz="1400" b="1" dirty="0"/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400" b="1" dirty="0">
                    <a:solidFill>
                      <a:srgbClr val="002060"/>
                    </a:solidFill>
                  </a:rPr>
                  <a:t>La ricerca del massimo: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La </a:t>
                </a:r>
                <a:r>
                  <a:rPr lang="it-IT" sz="1400" b="1" dirty="0"/>
                  <a:t>feature </a:t>
                </a:r>
                <a:r>
                  <a:rPr lang="it-IT" sz="1400" b="1" dirty="0" err="1"/>
                  <a:t>selection</a:t>
                </a:r>
                <a:r>
                  <a:rPr lang="it-IT" sz="1400" b="1" dirty="0"/>
                  <a:t> </a:t>
                </a:r>
                <a:r>
                  <a:rPr lang="it-IT" sz="1400" dirty="0"/>
                  <a:t>non sceglie una variabile a caso ma </a:t>
                </a:r>
                <a:r>
                  <a:rPr lang="it-IT" sz="1400" b="1" dirty="0"/>
                  <a:t>estrae le migliori da p variabili</a:t>
                </a:r>
                <a:r>
                  <a:rPr lang="it-IT" sz="1400" dirty="0"/>
                  <a:t>.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Per la teoria dei valori estremi:</a:t>
                </a:r>
                <a:br>
                  <a:rPr lang="it-IT" sz="1400" dirty="0"/>
                </a:br>
                <a14:m>
                  <m:oMath xmlns:m="http://schemas.openxmlformats.org/officeDocument/2006/math"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𝑬</m:t>
                    </m:r>
                    <m:d>
                      <m:dPr>
                        <m:begChr m:val="["/>
                        <m:endChr m:val="]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it-IT" sz="1400" b="1" i="0" smtClean="0">
                                    <a:latin typeface="Cambria Math" panose="02040503050406030204" pitchFamily="18" charset="0"/>
                                  </a:rPr>
                                  <m:t>𝐦𝐚𝐱</m:t>
                                </m:r>
                              </m:e>
                              <m:lim>
                                <m: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  <m: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  <m:t>…</m:t>
                                </m:r>
                                <m: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lim>
                            </m:limLow>
                          </m:fName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it-IT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it-IT" sz="1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it-IT" sz="1400" b="1" i="1" smtClean="0">
                                        <a:latin typeface="Cambria Math" panose="02040503050406030204" pitchFamily="18" charset="0"/>
                                      </a:rPr>
                                      <m:t>𝒁</m:t>
                                    </m:r>
                                  </m:e>
                                  <m:sub>
                                    <m:r>
                                      <a:rPr lang="it-IT" sz="1400" b="1" i="1" smtClean="0">
                                        <a:latin typeface="Cambria Math" panose="02040503050406030204" pitchFamily="18" charset="0"/>
                                      </a:rPr>
                                      <m:t>𝒋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≈</m:t>
                    </m:r>
                    <m:rad>
                      <m:radPr>
                        <m:degHide m:val="on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  <m:func>
                          <m:funcPr>
                            <m:ctrlP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it-IT" sz="1400" b="1" i="0" smtClean="0">
                                <a:latin typeface="Cambria Math" panose="02040503050406030204" pitchFamily="18" charset="0"/>
                              </a:rPr>
                              <m:t>𝐥𝐨𝐠</m:t>
                            </m:r>
                          </m:fName>
                          <m:e>
                            <m:r>
                              <a:rPr lang="it-IT" sz="14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</m:func>
                      </m:e>
                    </m:rad>
                  </m:oMath>
                </a14:m>
                <a:br>
                  <a:rPr lang="it-IT" sz="1400" dirty="0"/>
                </a:br>
                <a:r>
                  <a:rPr lang="it-IT" sz="1400" dirty="0"/>
                  <a:t>ovvero il massimo estratto da un gruppo di variabili normali aumenta con p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sz="1400" b="1" dirty="0">
                    <a:solidFill>
                      <a:srgbClr val="002060"/>
                    </a:solidFill>
                  </a:rPr>
                  <a:t>La formula finale: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it-IT" sz="1400" dirty="0"/>
                  <a:t>Si riporta il massimo ottenuto sulla </a:t>
                </a:r>
                <a:r>
                  <a:rPr lang="it-IT" sz="1400" b="1" dirty="0"/>
                  <a:t>scala originale </a:t>
                </a:r>
                <a:r>
                  <a:rPr lang="it-IT" sz="1400" dirty="0"/>
                  <a:t>moltiplicando per </a:t>
                </a:r>
                <a14:m>
                  <m:oMath xmlns:m="http://schemas.openxmlformats.org/officeDocument/2006/math">
                    <m:r>
                      <a:rPr lang="it-IT" sz="1400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m:rPr>
                        <m:lit/>
                      </m:rPr>
                      <a:rPr lang="it-IT" sz="1400" b="1" i="1" smtClean="0"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it-IT" sz="14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it-IT" sz="1400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rad>
                  </m:oMath>
                </a14:m>
                <a:endParaRPr lang="it-IT" sz="1400" b="1" dirty="0"/>
              </a:p>
            </p:txBody>
          </p:sp>
        </mc:Choice>
        <mc:Fallback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5BCF99E8-F633-93F0-E15F-81FC4204B8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989" y="1205228"/>
                <a:ext cx="5717031" cy="3649525"/>
              </a:xfrm>
              <a:prstGeom prst="rect">
                <a:avLst/>
              </a:prstGeom>
              <a:blipFill>
                <a:blip r:embed="rId5"/>
                <a:stretch>
                  <a:fillRect l="-426" t="-502" r="-107" b="-1003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60090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A9358-BD98-5DE7-44E2-18A16DC2A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26734517-9798-B44F-80D9-6698718C92E6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2: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Validazione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della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previsione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teorica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11D44BBC-473F-9E77-7535-C914F2B1705A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7/11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A538414F-D287-CC5F-4FAE-94D3806C2E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6" name="SetupBg">
            <a:extLst>
              <a:ext uri="{FF2B5EF4-FFF2-40B4-BE49-F238E27FC236}">
                <a16:creationId xmlns:a16="http://schemas.microsoft.com/office/drawing/2014/main" id="{F7E40D97-0F8C-B3B1-12E7-7CFEA30AB13A}"/>
              </a:ext>
            </a:extLst>
          </p:cNvPr>
          <p:cNvSpPr/>
          <p:nvPr/>
        </p:nvSpPr>
        <p:spPr>
          <a:xfrm>
            <a:off x="302649" y="788687"/>
            <a:ext cx="4675751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SetupTxt">
            <a:extLst>
              <a:ext uri="{FF2B5EF4-FFF2-40B4-BE49-F238E27FC236}">
                <a16:creationId xmlns:a16="http://schemas.microsoft.com/office/drawing/2014/main" id="{CD79FEED-CADA-78AC-E143-B582EFF34DE4}"/>
              </a:ext>
            </a:extLst>
          </p:cNvPr>
          <p:cNvSpPr/>
          <p:nvPr/>
        </p:nvSpPr>
        <p:spPr>
          <a:xfrm>
            <a:off x="362650" y="814087"/>
            <a:ext cx="2348800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k = 5, B = 100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Monte Carlo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EE56DB0A-DD50-A730-F607-B50EFFCBBE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2649" y="1297588"/>
            <a:ext cx="5331638" cy="339506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B867E20-2046-554D-3B81-80FBFE909717}"/>
                  </a:ext>
                </a:extLst>
              </p:cNvPr>
              <p:cNvSpPr txBox="1"/>
              <p:nvPr/>
            </p:nvSpPr>
            <p:spPr>
              <a:xfrm>
                <a:off x="5634287" y="788687"/>
                <a:ext cx="3325563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>
                    <a:latin typeface="Cambria Math" panose="02040503050406030204" pitchFamily="18" charset="0"/>
                  </a:rPr>
                  <a:t>Ogni </a:t>
                </a:r>
                <a:r>
                  <a:rPr lang="it-IT" sz="1600" b="1" dirty="0">
                    <a:latin typeface="Cambria Math" panose="02040503050406030204" pitchFamily="18" charset="0"/>
                  </a:rPr>
                  <a:t>punto</a:t>
                </a:r>
                <a:r>
                  <a:rPr lang="it-IT" sz="1600" dirty="0">
                    <a:latin typeface="Cambria Math" panose="02040503050406030204" pitchFamily="18" charset="0"/>
                  </a:rPr>
                  <a:t> rappresenta l’esito di una simulazione Monte Carlo con una </a:t>
                </a:r>
                <a:r>
                  <a:rPr lang="it-IT" sz="1600" b="1" dirty="0">
                    <a:latin typeface="Cambria Math" panose="02040503050406030204" pitchFamily="18" charset="0"/>
                  </a:rPr>
                  <a:t>combinazione di n e p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p>
                        <m:r>
                          <a:rPr lang="it-IT" sz="16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𝟗𝟑</m:t>
                    </m:r>
                  </m:oMath>
                </a14:m>
                <a:r>
                  <a:rPr lang="it-IT" sz="1600" dirty="0"/>
                  <a:t>: la formula teorica coglie la corretta forma funzionale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dirty="0"/>
                  <a:t>Coefficiente </a:t>
                </a:r>
                <a14:m>
                  <m:oMath xmlns:m="http://schemas.openxmlformats.org/officeDocument/2006/math"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 ≈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it-IT" sz="1600" b="1" i="1" smtClean="0">
                        <a:latin typeface="Cambria Math" panose="02040503050406030204" pitchFamily="18" charset="0"/>
                      </a:rPr>
                      <m:t>𝟕𝟒</m:t>
                    </m:r>
                  </m:oMath>
                </a14:m>
                <a:r>
                  <a:rPr lang="it-IT" sz="1600" dirty="0"/>
                  <a:t>: i punti si allineano sotto la bisettrice. La teoria </a:t>
                </a:r>
                <a:r>
                  <a:rPr lang="it-IT" sz="1600" b="1" dirty="0"/>
                  <a:t>sovrastima</a:t>
                </a:r>
                <a:r>
                  <a:rPr lang="it-IT" sz="1600" dirty="0"/>
                  <a:t> l’ottimismo di circa il 26%</a:t>
                </a:r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B867E20-2046-554D-3B81-80FBFE909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4287" y="788687"/>
                <a:ext cx="3325563" cy="2308324"/>
              </a:xfrm>
              <a:prstGeom prst="rect">
                <a:avLst/>
              </a:prstGeom>
              <a:blipFill>
                <a:blip r:embed="rId5"/>
                <a:stretch>
                  <a:fillRect l="-733" t="-1055" b="-263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etupBg">
            <a:extLst>
              <a:ext uri="{FF2B5EF4-FFF2-40B4-BE49-F238E27FC236}">
                <a16:creationId xmlns:a16="http://schemas.microsoft.com/office/drawing/2014/main" id="{DF468EAE-51FE-E4A8-F3C1-9F526E0CFBAF}"/>
              </a:ext>
            </a:extLst>
          </p:cNvPr>
          <p:cNvSpPr/>
          <p:nvPr/>
        </p:nvSpPr>
        <p:spPr>
          <a:xfrm>
            <a:off x="5634286" y="3154627"/>
            <a:ext cx="3325563" cy="1766623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pPr algn="ctr"/>
            <a:r>
              <a:rPr lang="it-IT" sz="1400" b="1" dirty="0">
                <a:solidFill>
                  <a:srgbClr val="002060"/>
                </a:solidFill>
              </a:rPr>
              <a:t>Motivo della </a:t>
            </a:r>
            <a:r>
              <a:rPr lang="it-IT" sz="1400" b="1" dirty="0" err="1">
                <a:solidFill>
                  <a:srgbClr val="002060"/>
                </a:solidFill>
              </a:rPr>
              <a:t>sovastima</a:t>
            </a:r>
            <a:endParaRPr lang="it-IT" sz="1400" b="1" dirty="0">
              <a:solidFill>
                <a:srgbClr val="00206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b="1" dirty="0"/>
              <a:t>Union Bound </a:t>
            </a:r>
            <a:r>
              <a:rPr lang="it-IT" sz="1400" dirty="0"/>
              <a:t>nella fase 2: è per definizione conservativa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media sulle </a:t>
            </a:r>
            <a:r>
              <a:rPr lang="it-IT" sz="1400" b="1" dirty="0"/>
              <a:t>top-k variabili </a:t>
            </a:r>
            <a:r>
              <a:rPr lang="it-IT" sz="1400" dirty="0"/>
              <a:t>smorza il picco della singola variabile massima trovata dalla formula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1400" dirty="0"/>
              <a:t>La </a:t>
            </a:r>
            <a:r>
              <a:rPr lang="it-IT" sz="1400" b="1" dirty="0"/>
              <a:t>regressione logistica </a:t>
            </a:r>
            <a:r>
              <a:rPr lang="it-IT" sz="1400" dirty="0"/>
              <a:t>introduce varianza</a:t>
            </a:r>
          </a:p>
        </p:txBody>
      </p:sp>
    </p:spTree>
    <p:extLst>
      <p:ext uri="{BB962C8B-B14F-4D97-AF65-F5344CB8AC3E}">
        <p14:creationId xmlns:p14="http://schemas.microsoft.com/office/powerpoint/2010/main" val="2784739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6286A-928A-875B-E83A-DC3E4B612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B0117513-DBF1-1A4D-1260-EF024EF4983C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3: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Robustezza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alla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correlazione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469F004F-AC41-606D-46DE-06BB36F7A051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8/11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C5F7DC4-8C5A-8DB8-4A79-74E5B981E5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6" name="SetupBg">
            <a:extLst>
              <a:ext uri="{FF2B5EF4-FFF2-40B4-BE49-F238E27FC236}">
                <a16:creationId xmlns:a16="http://schemas.microsoft.com/office/drawing/2014/main" id="{7BDF2D6B-1364-497B-7D0A-D85A25A5A91A}"/>
              </a:ext>
            </a:extLst>
          </p:cNvPr>
          <p:cNvSpPr/>
          <p:nvPr/>
        </p:nvSpPr>
        <p:spPr>
          <a:xfrm>
            <a:off x="4523563" y="844068"/>
            <a:ext cx="4004488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p:sp>
        <p:nvSpPr>
          <p:cNvPr id="9" name="SetupTxt">
            <a:extLst>
              <a:ext uri="{FF2B5EF4-FFF2-40B4-BE49-F238E27FC236}">
                <a16:creationId xmlns:a16="http://schemas.microsoft.com/office/drawing/2014/main" id="{E8E871A8-4C67-FAA6-DAFB-88D79A86E22C}"/>
              </a:ext>
            </a:extLst>
          </p:cNvPr>
          <p:cNvSpPr/>
          <p:nvPr/>
        </p:nvSpPr>
        <p:spPr>
          <a:xfrm>
            <a:off x="4583563" y="869468"/>
            <a:ext cx="3944488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 =200, p = 100, k = 10, B = 100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Monte Carlo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3CC2D02-9B3E-3A6E-AEEC-D4A1FDDD1C34}"/>
                  </a:ext>
                </a:extLst>
              </p:cNvPr>
              <p:cNvSpPr txBox="1"/>
              <p:nvPr/>
            </p:nvSpPr>
            <p:spPr>
              <a:xfrm>
                <a:off x="457200" y="1406174"/>
                <a:ext cx="3325563" cy="3316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it-IT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it-IT" sz="1600" b="0" i="1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it-IT" sz="1600" b="0" i="1" smtClean="0">
                            <a:latin typeface="Cambria Math" panose="02040503050406030204" pitchFamily="18" charset="0"/>
                          </a:rPr>
                          <m:t>j</m:t>
                        </m:r>
                      </m:sub>
                    </m:sSub>
                  </m:oMath>
                </a14:m>
                <a:r>
                  <a:rPr lang="it-IT" sz="1600" dirty="0"/>
                  <a:t> sono tra loro </a:t>
                </a:r>
                <a:r>
                  <a:rPr lang="it-IT" sz="1600" b="1" dirty="0"/>
                  <a:t>correlate</a:t>
                </a:r>
                <a:r>
                  <a:rPr lang="it-IT" sz="1600" dirty="0"/>
                  <a:t> con struttura </a:t>
                </a:r>
                <a:r>
                  <a:rPr lang="it-IT" sz="1600" dirty="0" err="1"/>
                  <a:t>autoregressiva</a:t>
                </a:r>
                <a:r>
                  <a:rPr lang="it-IT" sz="1600" dirty="0"/>
                  <a:t> </a:t>
                </a:r>
                <a:r>
                  <a:rPr lang="it-IT" sz="1600" b="1" dirty="0"/>
                  <a:t>AR(1)</a:t>
                </a:r>
              </a:p>
              <a:p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L’</a:t>
                </a:r>
                <a:r>
                  <a:rPr lang="it-IT" sz="1600" b="1" dirty="0"/>
                  <a:t>ottimismo</a:t>
                </a:r>
                <a:r>
                  <a:rPr lang="it-IT" sz="1600" dirty="0"/>
                  <a:t> si </a:t>
                </a:r>
                <a:r>
                  <a:rPr lang="it-IT" sz="1600" b="1" dirty="0"/>
                  <a:t>riduce</a:t>
                </a:r>
                <a:r>
                  <a:rPr lang="it-IT" sz="1600" dirty="0"/>
                  <a:t> </a:t>
                </a:r>
                <a:r>
                  <a:rPr lang="it-IT" sz="1600" b="1" dirty="0"/>
                  <a:t>all’aumentare</a:t>
                </a:r>
                <a:r>
                  <a:rPr lang="it-IT" sz="1600" dirty="0"/>
                  <a:t> della </a:t>
                </a:r>
                <a:r>
                  <a:rPr lang="it-IT" sz="1600" b="1" dirty="0"/>
                  <a:t>correlazione</a:t>
                </a:r>
                <a:r>
                  <a:rPr lang="it-IT" sz="1600" dirty="0"/>
                  <a:t>: variabili altamente correlate → geometricamente meno direzioni indipendenti da esplorare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it-IT" sz="16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dirty="0"/>
                  <a:t>La correlazione attenua il valore dell’ottimismo ma non lo elimina: l’errore concettuale della pipeline errata non si risolve</a:t>
                </a:r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83CC2D02-9B3E-3A6E-AEEC-D4A1FDDD1C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406174"/>
                <a:ext cx="3325563" cy="3316036"/>
              </a:xfrm>
              <a:prstGeom prst="rect">
                <a:avLst/>
              </a:prstGeom>
              <a:blipFill>
                <a:blip r:embed="rId4"/>
                <a:stretch>
                  <a:fillRect l="-733" t="-368" b="-147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Immagine 2">
            <a:extLst>
              <a:ext uri="{FF2B5EF4-FFF2-40B4-BE49-F238E27FC236}">
                <a16:creationId xmlns:a16="http://schemas.microsoft.com/office/drawing/2014/main" id="{D010F773-A6C8-3F1E-ACD9-64FFFD341D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7224" y="1336582"/>
            <a:ext cx="4676776" cy="311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602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ED3A4-0211-3F37-0C05-5FACB1924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D07470C3-BF90-7930-5C14-0C422E725026}"/>
              </a:ext>
            </a:extLst>
          </p:cNvPr>
          <p:cNvSpPr/>
          <p:nvPr/>
        </p:nvSpPr>
        <p:spPr>
          <a:xfrm>
            <a:off x="1305495" y="155656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Esperimento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4: Il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problema</a:t>
            </a:r>
            <a:r>
              <a:rPr lang="en-US" sz="2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 è </a:t>
            </a: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architetturale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72B10DC-D24E-D53B-9C8A-6871B8420BE3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9/11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B68E07E9-EEFB-B68C-FF25-C5929AC435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6" name="SetupBg">
            <a:extLst>
              <a:ext uri="{FF2B5EF4-FFF2-40B4-BE49-F238E27FC236}">
                <a16:creationId xmlns:a16="http://schemas.microsoft.com/office/drawing/2014/main" id="{7B6C4290-A6CE-5811-7459-42DCD20D4FA9}"/>
              </a:ext>
            </a:extLst>
          </p:cNvPr>
          <p:cNvSpPr/>
          <p:nvPr/>
        </p:nvSpPr>
        <p:spPr>
          <a:xfrm>
            <a:off x="302649" y="788687"/>
            <a:ext cx="4091551" cy="450000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endParaRPr lang="it-IT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86EF469-3562-E90D-54CB-7EC429B4AC12}"/>
                  </a:ext>
                </a:extLst>
              </p:cNvPr>
              <p:cNvSpPr txBox="1"/>
              <p:nvPr/>
            </p:nvSpPr>
            <p:spPr>
              <a:xfrm>
                <a:off x="4572001" y="1360187"/>
                <a:ext cx="4387850" cy="1854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dirty="0"/>
                  <a:t>Criterio:</a:t>
                </a:r>
                <a:r>
                  <a:rPr lang="it-IT" sz="1600" dirty="0"/>
                  <a:t> grandezza dei coefficienti </a:t>
                </a:r>
                <a:r>
                  <a:rPr lang="it-IT" sz="1600" b="1" dirty="0"/>
                  <a:t>Ridge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it-IT" sz="16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̂"/>
                            <m:ctrlPr>
                              <a:rPr lang="it-IT" sz="16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sSub>
                              <m:sSubPr>
                                <m:ctrlPr>
                                  <a:rPr lang="it-IT" sz="16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it-IT" sz="1600" b="1" i="1" smtClean="0">
                                    <a:latin typeface="Cambria Math" panose="02040503050406030204" pitchFamily="18" charset="0"/>
                                  </a:rPr>
                                  <m:t>𝜷</m:t>
                                </m:r>
                              </m:e>
                              <m:sub>
                                <m:r>
                                  <a:rPr lang="it-IT" sz="1600" b="1" i="1" smtClean="0"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acc>
                      </m:e>
                    </m:d>
                  </m:oMath>
                </a14:m>
                <a:r>
                  <a:rPr lang="it-IT" sz="1600" dirty="0"/>
                  <a:t> (non </a:t>
                </a:r>
                <a:r>
                  <a:rPr lang="it-IT" sz="1600" b="1" dirty="0"/>
                  <a:t>Lasso</a:t>
                </a:r>
                <a:r>
                  <a:rPr lang="it-IT" sz="1600" dirty="0"/>
                  <a:t> perché su puro rumore </a:t>
                </a:r>
                <a:r>
                  <a:rPr lang="it-IT" sz="1600" b="1" dirty="0"/>
                  <a:t>azzera</a:t>
                </a:r>
                <a:r>
                  <a:rPr lang="it-IT" sz="1600" dirty="0"/>
                  <a:t> quasi tutti i coefficienti creando un ranking degenere)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dirty="0"/>
                  <a:t>Ridge Errato:</a:t>
                </a:r>
                <a:r>
                  <a:rPr lang="it-IT" sz="1600" dirty="0"/>
                  <a:t> AUC ≈ 0,79, come filtro errato di Pearson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it-IT" sz="1600" b="1" dirty="0"/>
                  <a:t>Ridge Corretto: </a:t>
                </a:r>
                <a:r>
                  <a:rPr lang="it-IT" sz="1600" dirty="0"/>
                  <a:t>AUC ≈ 0,49</a:t>
                </a:r>
              </a:p>
            </p:txBody>
          </p:sp>
        </mc:Choice>
        <mc:Fallback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586EF469-3562-E90D-54CB-7EC429B4A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1360187"/>
                <a:ext cx="4387850" cy="1854610"/>
              </a:xfrm>
              <a:prstGeom prst="rect">
                <a:avLst/>
              </a:prstGeom>
              <a:blipFill>
                <a:blip r:embed="rId4"/>
                <a:stretch>
                  <a:fillRect l="-556" r="-5833" b="-361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SetupBg">
            <a:extLst>
              <a:ext uri="{FF2B5EF4-FFF2-40B4-BE49-F238E27FC236}">
                <a16:creationId xmlns:a16="http://schemas.microsoft.com/office/drawing/2014/main" id="{FE4B6C98-38BC-21BB-FC62-B25AA0685756}"/>
              </a:ext>
            </a:extLst>
          </p:cNvPr>
          <p:cNvSpPr/>
          <p:nvPr/>
        </p:nvSpPr>
        <p:spPr>
          <a:xfrm>
            <a:off x="4701272" y="3372341"/>
            <a:ext cx="4176280" cy="945659"/>
          </a:xfrm>
          <a:prstGeom prst="rect">
            <a:avLst/>
          </a:prstGeom>
          <a:solidFill>
            <a:srgbClr val="EBF0F7"/>
          </a:solidFill>
          <a:ln w="9525">
            <a:solidFill>
              <a:srgbClr val="1B3D7D"/>
            </a:solidFill>
          </a:ln>
        </p:spPr>
        <p:txBody>
          <a:bodyPr/>
          <a:lstStyle/>
          <a:p>
            <a:pPr algn="ctr"/>
            <a:r>
              <a:rPr lang="it-IT" sz="1400" b="1" dirty="0">
                <a:solidFill>
                  <a:srgbClr val="002060"/>
                </a:solidFill>
              </a:rPr>
              <a:t>Il criterio di selezione non conta</a:t>
            </a:r>
          </a:p>
          <a:p>
            <a:r>
              <a:rPr lang="it-IT" sz="1400" dirty="0"/>
              <a:t>L’uso di algoritmi più sofisticati (Ridge, Lasso, Random Forest, ecc.) non risolve l’errore. Usare tutto il dataset per costruire il ranking introduce sempre il problema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DF6A44D8-8F17-D634-A9DF-117033CA97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51" y="1354358"/>
            <a:ext cx="4351980" cy="3327400"/>
          </a:xfrm>
          <a:prstGeom prst="rect">
            <a:avLst/>
          </a:prstGeom>
        </p:spPr>
      </p:pic>
      <p:sp>
        <p:nvSpPr>
          <p:cNvPr id="16" name="SetupTxt">
            <a:extLst>
              <a:ext uri="{FF2B5EF4-FFF2-40B4-BE49-F238E27FC236}">
                <a16:creationId xmlns:a16="http://schemas.microsoft.com/office/drawing/2014/main" id="{468C9F59-9C70-0C9B-6E12-7CDDF5689CC1}"/>
              </a:ext>
            </a:extLst>
          </p:cNvPr>
          <p:cNvSpPr/>
          <p:nvPr/>
        </p:nvSpPr>
        <p:spPr>
          <a:xfrm>
            <a:off x="302649" y="823687"/>
            <a:ext cx="3944488" cy="3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/>
          <a:lstStyle/>
          <a:p>
            <a:pPr algn="l">
              <a:buNone/>
            </a:pPr>
            <a:r>
              <a:rPr lang="it-IT" sz="14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Setup:</a:t>
            </a:r>
          </a:p>
          <a:p>
            <a:pPr algn="l">
              <a:buNone/>
            </a:pP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n =50, p = 200, B = 100 </a:t>
            </a:r>
            <a:r>
              <a:rPr lang="it-IT" sz="1300" dirty="0" err="1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run</a:t>
            </a:r>
            <a:r>
              <a:rPr lang="it-IT" sz="1300" dirty="0">
                <a:solidFill>
                  <a:srgbClr val="1A1A1A"/>
                </a:solidFill>
                <a:latin typeface="Calibri"/>
                <a:ea typeface="Calibri"/>
                <a:cs typeface="Calibri"/>
              </a:rPr>
              <a:t> Monte Carlo</a:t>
            </a:r>
          </a:p>
        </p:txBody>
      </p:sp>
    </p:spTree>
    <p:extLst>
      <p:ext uri="{BB962C8B-B14F-4D97-AF65-F5344CB8AC3E}">
        <p14:creationId xmlns:p14="http://schemas.microsoft.com/office/powerpoint/2010/main" val="1636173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5E6FE-5AC8-46AC-F0FF-CD83F641B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>
            <a:extLst>
              <a:ext uri="{FF2B5EF4-FFF2-40B4-BE49-F238E27FC236}">
                <a16:creationId xmlns:a16="http://schemas.microsoft.com/office/drawing/2014/main" id="{E918D1B0-6975-4CD4-2AEC-810F92E43C14}"/>
              </a:ext>
            </a:extLst>
          </p:cNvPr>
          <p:cNvSpPr/>
          <p:nvPr/>
        </p:nvSpPr>
        <p:spPr>
          <a:xfrm>
            <a:off x="1390185" y="146212"/>
            <a:ext cx="7572057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 err="1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Conclusioni</a:t>
            </a:r>
            <a:endParaRPr lang="it-IT" sz="2400" dirty="0" err="1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2B414416-A410-2B53-0EE2-E60F18AE869F}"/>
              </a:ext>
            </a:extLst>
          </p:cNvPr>
          <p:cNvSpPr/>
          <p:nvPr/>
        </p:nvSpPr>
        <p:spPr>
          <a:xfrm>
            <a:off x="182880" y="494528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10/11</a:t>
            </a:r>
            <a:endParaRPr lang="en-US" sz="900" dirty="0"/>
          </a:p>
        </p:txBody>
      </p:sp>
      <p:pic>
        <p:nvPicPr>
          <p:cNvPr id="33" name="Immagine 32">
            <a:extLst>
              <a:ext uri="{FF2B5EF4-FFF2-40B4-BE49-F238E27FC236}">
                <a16:creationId xmlns:a16="http://schemas.microsoft.com/office/drawing/2014/main" id="{CD26C196-AC4E-159A-177A-8E306E4BBD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9021148-B72E-96B6-4313-A13E6FE29F79}"/>
                  </a:ext>
                </a:extLst>
              </p:cNvPr>
              <p:cNvSpPr txBox="1"/>
              <p:nvPr/>
            </p:nvSpPr>
            <p:spPr>
              <a:xfrm>
                <a:off x="272924" y="1412746"/>
                <a:ext cx="8598152" cy="23180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+mj-lt"/>
                  <a:buAutoNum type="arabicPeriod"/>
                </a:pPr>
                <a:r>
                  <a:rPr lang="it-IT" b="1" dirty="0"/>
                  <a:t>La CV valida l'intera pipeline: </a:t>
                </a:r>
                <a:r>
                  <a:rPr lang="it-IT" dirty="0"/>
                  <a:t>Qualsiasi fase di </a:t>
                </a:r>
                <a:r>
                  <a:rPr lang="it-IT" dirty="0" err="1"/>
                  <a:t>pre</a:t>
                </a:r>
                <a:r>
                  <a:rPr lang="it-IT" dirty="0"/>
                  <a:t>-processing guidata dal target (come la Feature </a:t>
                </a:r>
                <a:r>
                  <a:rPr lang="it-IT" dirty="0" err="1"/>
                  <a:t>Selection</a:t>
                </a:r>
                <a:r>
                  <a:rPr lang="it-IT" dirty="0"/>
                  <a:t>) deve avvenire rigorosamente all'interno del loop di validazione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b="1" dirty="0"/>
                  <a:t>L'ottimismo segue la legge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it-IT" b="1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func>
                              <m:funcPr>
                                <m:ctrlP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a:rPr lang="it-IT" b="1" i="0" smtClean="0"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</m:fName>
                              <m:e>
                                <m:r>
                                  <a:rPr lang="it-IT" b="1" i="1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</m:e>
                            </m:func>
                          </m:num>
                          <m:den>
                            <m:r>
                              <a:rPr lang="it-IT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</m:den>
                        </m:f>
                      </m:e>
                    </m:rad>
                  </m:oMath>
                </a14:m>
                <a:r>
                  <a:rPr lang="it-IT" b="1" dirty="0"/>
                  <a:t>: </a:t>
                </a:r>
                <a:r>
                  <a:rPr lang="it-IT" dirty="0"/>
                  <a:t>Nei dataset ad alta dimensionalità (molte variabili, pochi campioni), l'apparente perfezione di un modello deriva spesso dal fitting del rumore.</a:t>
                </a:r>
              </a:p>
              <a:p>
                <a:pPr marL="342900" indent="-342900">
                  <a:buFont typeface="+mj-lt"/>
                  <a:buAutoNum type="arabicPeriod"/>
                </a:pPr>
                <a:r>
                  <a:rPr lang="it-IT" b="1" dirty="0"/>
                  <a:t>Il </a:t>
                </a:r>
                <a:r>
                  <a:rPr lang="it-IT" b="1" dirty="0" err="1"/>
                  <a:t>bias</a:t>
                </a:r>
                <a:r>
                  <a:rPr lang="it-IT" b="1" dirty="0"/>
                  <a:t> è architetturale, non algoritmico:</a:t>
                </a:r>
                <a:r>
                  <a:rPr lang="it-IT" dirty="0"/>
                  <a:t> Usare criteri di selezione più complessi non sana l'errore metodologico. L'unica vera soluzione è l'uso della </a:t>
                </a:r>
                <a:r>
                  <a:rPr lang="it-IT" dirty="0" err="1"/>
                  <a:t>Nested</a:t>
                </a:r>
                <a:r>
                  <a:rPr lang="it-IT" dirty="0"/>
                  <a:t> Cross-</a:t>
                </a:r>
                <a:r>
                  <a:rPr lang="it-IT" dirty="0" err="1"/>
                  <a:t>Validation</a:t>
                </a:r>
                <a:endParaRPr lang="it-IT" dirty="0"/>
              </a:p>
            </p:txBody>
          </p:sp>
        </mc:Choice>
        <mc:Fallback>
          <p:sp>
            <p:nvSpPr>
              <p:cNvPr id="2" name="CasellaDiTesto 1">
                <a:extLst>
                  <a:ext uri="{FF2B5EF4-FFF2-40B4-BE49-F238E27FC236}">
                    <a16:creationId xmlns:a16="http://schemas.microsoft.com/office/drawing/2014/main" id="{A9021148-B72E-96B6-4313-A13E6FE29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924" y="1412746"/>
                <a:ext cx="8598152" cy="2318007"/>
              </a:xfrm>
              <a:prstGeom prst="rect">
                <a:avLst/>
              </a:prstGeom>
              <a:blipFill>
                <a:blip r:embed="rId4"/>
                <a:stretch>
                  <a:fillRect l="-638" t="-1579" r="-638" b="-342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14924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AEA1AD-4C9A-1BF0-035D-46B80869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magine 32">
            <a:extLst>
              <a:ext uri="{FF2B5EF4-FFF2-40B4-BE49-F238E27FC236}">
                <a16:creationId xmlns:a16="http://schemas.microsoft.com/office/drawing/2014/main" id="{E58DD92B-B830-7CCD-A258-69209AE790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348" t="25421" r="-1064" b="-929"/>
          <a:stretch>
            <a:fillRect/>
          </a:stretch>
        </p:blipFill>
        <p:spPr>
          <a:xfrm>
            <a:off x="181758" y="2826"/>
            <a:ext cx="800187" cy="670190"/>
          </a:xfrm>
          <a:prstGeom prst="rect">
            <a:avLst/>
          </a:prstGeom>
        </p:spPr>
      </p:pic>
      <p:sp>
        <p:nvSpPr>
          <p:cNvPr id="3" name="Text 3">
            <a:extLst>
              <a:ext uri="{FF2B5EF4-FFF2-40B4-BE49-F238E27FC236}">
                <a16:creationId xmlns:a16="http://schemas.microsoft.com/office/drawing/2014/main" id="{70FAACB5-2DD5-4EF5-22ED-C0F387F9F02D}"/>
              </a:ext>
            </a:extLst>
          </p:cNvPr>
          <p:cNvSpPr/>
          <p:nvPr/>
        </p:nvSpPr>
        <p:spPr>
          <a:xfrm>
            <a:off x="3617397" y="209461"/>
            <a:ext cx="1909205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200" b="1" dirty="0">
                <a:solidFill>
                  <a:srgbClr val="1B3D7D"/>
                </a:solidFill>
                <a:latin typeface="Calibri"/>
                <a:ea typeface="Calibri"/>
                <a:cs typeface="Calibri"/>
              </a:rPr>
              <a:t>References</a:t>
            </a:r>
            <a:endParaRPr lang="en-US" sz="3200" b="1" dirty="0">
              <a:solidFill>
                <a:srgbClr val="1B3D7D"/>
              </a:solidFill>
              <a:ea typeface="Calibri"/>
              <a:cs typeface="Calibri"/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6F298D74-F56D-5BC1-408F-ED87B18157FA}"/>
              </a:ext>
            </a:extLst>
          </p:cNvPr>
          <p:cNvSpPr txBox="1"/>
          <p:nvPr/>
        </p:nvSpPr>
        <p:spPr>
          <a:xfrm>
            <a:off x="359764" y="1048256"/>
            <a:ext cx="855999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Slides del corso riguardanti </a:t>
            </a:r>
            <a:r>
              <a:rPr lang="it-IT" sz="2000" i="1" dirty="0">
                <a:ea typeface="Calibri"/>
                <a:cs typeface="Calibri"/>
              </a:rPr>
              <a:t>Random Forest</a:t>
            </a:r>
            <a:r>
              <a:rPr lang="it-IT" sz="2000" dirty="0">
                <a:ea typeface="Calibri"/>
                <a:cs typeface="Calibri"/>
              </a:rPr>
              <a:t> e </a:t>
            </a:r>
            <a:r>
              <a:rPr lang="it-IT" sz="2000" i="1" dirty="0" err="1">
                <a:ea typeface="Calibri"/>
                <a:cs typeface="Calibri"/>
              </a:rPr>
              <a:t>Variable</a:t>
            </a:r>
            <a:r>
              <a:rPr lang="it-IT" sz="2000" i="1" dirty="0">
                <a:ea typeface="Calibri"/>
                <a:cs typeface="Calibri"/>
              </a:rPr>
              <a:t> </a:t>
            </a:r>
            <a:r>
              <a:rPr lang="it-IT" sz="2000" i="1" dirty="0" err="1">
                <a:ea typeface="Calibri"/>
                <a:cs typeface="Calibri"/>
              </a:rPr>
              <a:t>Importance</a:t>
            </a:r>
            <a:endParaRPr lang="it-IT" sz="2000" i="1" dirty="0">
              <a:ea typeface="Calibri"/>
              <a:cs typeface="Calibri"/>
            </a:endParaRPr>
          </a:p>
          <a:p>
            <a:endParaRPr lang="it-IT" sz="2000" i="1" dirty="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Strobl, C., Boulesteix, A.-L., </a:t>
            </a:r>
            <a:r>
              <a:rPr lang="it-IT" sz="2000" dirty="0" err="1"/>
              <a:t>Zeileis</a:t>
            </a:r>
            <a:r>
              <a:rPr lang="it-IT" sz="2000" dirty="0"/>
              <a:t>, A., </a:t>
            </a:r>
            <a:r>
              <a:rPr lang="it-IT" sz="2000" dirty="0" err="1"/>
              <a:t>Hothorn</a:t>
            </a:r>
            <a:r>
              <a:rPr lang="it-IT" sz="2000" dirty="0"/>
              <a:t>, T. (2007). </a:t>
            </a:r>
            <a:r>
              <a:rPr lang="it-IT" i="1" dirty="0"/>
              <a:t>Bias in Random Forest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Importance</a:t>
            </a:r>
            <a:r>
              <a:rPr lang="it-IT" i="1" dirty="0"/>
              <a:t> Measures: </a:t>
            </a:r>
            <a:r>
              <a:rPr lang="it-IT" i="1" dirty="0" err="1"/>
              <a:t>Illustrations</a:t>
            </a:r>
            <a:r>
              <a:rPr lang="it-IT" i="1" dirty="0"/>
              <a:t>, Sources and a Solution. BMC </a:t>
            </a:r>
            <a:r>
              <a:rPr lang="it-IT" i="1" dirty="0" err="1"/>
              <a:t>Bioinformatics</a:t>
            </a:r>
            <a:r>
              <a:rPr lang="it-IT" i="1" dirty="0"/>
              <a:t>, 8, 25.</a:t>
            </a:r>
          </a:p>
          <a:p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Strobl, C., Boulesteix, A.-L., Kneib, T., Augustin, T., </a:t>
            </a:r>
            <a:r>
              <a:rPr lang="it-IT" sz="2000" dirty="0" err="1"/>
              <a:t>Zeileis</a:t>
            </a:r>
            <a:r>
              <a:rPr lang="it-IT" sz="2000" dirty="0"/>
              <a:t>, A. (2008). </a:t>
            </a:r>
            <a:r>
              <a:rPr lang="it-IT" i="1" dirty="0" err="1"/>
              <a:t>Conditional</a:t>
            </a:r>
            <a:r>
              <a:rPr lang="it-IT" i="1" dirty="0"/>
              <a:t> </a:t>
            </a:r>
            <a:r>
              <a:rPr lang="it-IT" i="1" dirty="0" err="1"/>
              <a:t>Variable</a:t>
            </a:r>
            <a:r>
              <a:rPr lang="it-IT" i="1" dirty="0"/>
              <a:t> </a:t>
            </a:r>
            <a:r>
              <a:rPr lang="it-IT" i="1" dirty="0" err="1"/>
              <a:t>Importance</a:t>
            </a:r>
            <a:r>
              <a:rPr lang="it-IT" i="1" dirty="0"/>
              <a:t> for Random </a:t>
            </a:r>
            <a:r>
              <a:rPr lang="it-IT" i="1" dirty="0" err="1"/>
              <a:t>Forests</a:t>
            </a:r>
            <a:r>
              <a:rPr lang="it-IT" i="1" dirty="0"/>
              <a:t>. BMC </a:t>
            </a:r>
            <a:r>
              <a:rPr lang="it-IT" i="1" dirty="0" err="1"/>
              <a:t>Bioinformatics</a:t>
            </a:r>
            <a:r>
              <a:rPr lang="it-IT" i="1" dirty="0"/>
              <a:t>, 9, 307.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i="1" dirty="0">
                <a:hlinkClick r:id="rId4"/>
              </a:rPr>
              <a:t>https://erwanscornet.github.io/talks/mdi.pdf</a:t>
            </a:r>
            <a:r>
              <a:rPr lang="it-IT" i="1" dirty="0"/>
              <a:t> </a:t>
            </a:r>
          </a:p>
          <a:p>
            <a:endParaRPr lang="it-IT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>
                <a:ea typeface="Calibri"/>
                <a:cs typeface="Calibri"/>
              </a:rPr>
              <a:t>Claude per aiuto sul codice e impaginazione slide</a:t>
            </a:r>
          </a:p>
        </p:txBody>
      </p:sp>
      <p:sp>
        <p:nvSpPr>
          <p:cNvPr id="4" name="Text 29">
            <a:extLst>
              <a:ext uri="{FF2B5EF4-FFF2-40B4-BE49-F238E27FC236}">
                <a16:creationId xmlns:a16="http://schemas.microsoft.com/office/drawing/2014/main" id="{67F0807F-F10C-7EA6-D598-D6DF53E74D33}"/>
              </a:ext>
            </a:extLst>
          </p:cNvPr>
          <p:cNvSpPr/>
          <p:nvPr/>
        </p:nvSpPr>
        <p:spPr>
          <a:xfrm>
            <a:off x="158985" y="4887585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/>
                <a:ea typeface="Calibri"/>
                <a:cs typeface="Calibri"/>
              </a:rPr>
              <a:t>11/11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285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f5b7411-0bd9-441c-a587-7944a4ab8ce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FCD87CF2A8CCE46999F14E89D2397A7" ma:contentTypeVersion="9" ma:contentTypeDescription="Create a new document." ma:contentTypeScope="" ma:versionID="04c6c9a53cca2dc0747056af3e59128d">
  <xsd:schema xmlns:xsd="http://www.w3.org/2001/XMLSchema" xmlns:xs="http://www.w3.org/2001/XMLSchema" xmlns:p="http://schemas.microsoft.com/office/2006/metadata/properties" xmlns:ns3="df5b7411-0bd9-441c-a587-7944a4ab8ce9" targetNamespace="http://schemas.microsoft.com/office/2006/metadata/properties" ma:root="true" ma:fieldsID="a84b1cfebefeb2fc1e8a376aeec60261" ns3:_="">
    <xsd:import namespace="df5b7411-0bd9-441c-a587-7944a4ab8ce9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5b7411-0bd9-441c-a587-7944a4ab8ce9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F6E7083-04CE-4148-8822-E3F79A2926B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AD13D0-A941-4301-90CA-BF751F48A029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df5b7411-0bd9-441c-a587-7944a4ab8ce9"/>
    <ds:schemaRef ds:uri="http://www.w3.org/XML/1998/namespace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86BD5B09-5F77-4A89-B4D1-40812434863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5b7411-0bd9-441c-a587-7944a4ab8ce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3007</TotalTime>
  <Words>1164</Words>
  <Application>Microsoft Office PowerPoint</Application>
  <PresentationFormat>Presentazione su schermo (16:9)</PresentationFormat>
  <Paragraphs>129</Paragraphs>
  <Slides>11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Eros Pinzani</cp:lastModifiedBy>
  <cp:revision>644</cp:revision>
  <dcterms:created xsi:type="dcterms:W3CDTF">2026-03-12T12:19:20Z</dcterms:created>
  <dcterms:modified xsi:type="dcterms:W3CDTF">2026-06-12T14:54:47Z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0x010100FFCD87CF2A8CCE46999F14E89D2397A7</vt:lpwstr>
  </property>
</Properties>
</file>