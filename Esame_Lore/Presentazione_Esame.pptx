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6_0.xml" ContentType="application/vnd.ms-powerpoint.comments+xml"/>
  <Override PartName="/ppt/notesSlides/notesSlide5.xml" ContentType="application/vnd.openxmlformats-officedocument.presentationml.notesSlide+xml"/>
  <Override PartName="/ppt/comments/modernComment_116_A5DD8C86.xml" ContentType="application/vnd.ms-powerpoint.comments+xml"/>
  <Override PartName="/ppt/comments/modernComment_121_C4D42B9D.xml" ContentType="application/vnd.ms-powerpoint.comments+xml"/>
  <Override PartName="/ppt/comments/modernComment_122_59320A79.xml" ContentType="application/vnd.ms-powerpoint.comments+xml"/>
  <Override PartName="/ppt/comments/modernComment_10A_0.xml" ContentType="application/vnd.ms-powerpoint.comments+xml"/>
  <Override PartName="/ppt/comments/modernComment_129_781C813C.xml" ContentType="application/vnd.ms-powerpoint.comments+xml"/>
  <Override PartName="/ppt/notesSlides/notesSlide6.xml" ContentType="application/vnd.openxmlformats-officedocument.presentationml.notesSlide+xml"/>
  <Override PartName="/ppt/comments/modernComment_124_55776F86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87" r:id="rId7"/>
    <p:sldId id="262" r:id="rId8"/>
    <p:sldId id="288" r:id="rId9"/>
    <p:sldId id="278" r:id="rId10"/>
    <p:sldId id="289" r:id="rId11"/>
    <p:sldId id="290" r:id="rId12"/>
    <p:sldId id="266" r:id="rId13"/>
    <p:sldId id="294" r:id="rId14"/>
    <p:sldId id="295" r:id="rId15"/>
    <p:sldId id="296" r:id="rId16"/>
    <p:sldId id="297" r:id="rId17"/>
    <p:sldId id="29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4B64C7-3099-4DDC-57B8-DF28B5A77704}" name="Lorenzo Maria Pennelli" initials="LP" userId="S::lorenzo.pennelli@edu.unifi.it::fdca4809-38c1-4a64-a4ea-829df516f7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180"/>
    <a:srgbClr val="C62828"/>
    <a:srgbClr val="2A9D8F"/>
    <a:srgbClr val="F4A261"/>
    <a:srgbClr val="2E7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00EFC8-59D5-4086-9B3A-B176D8230C70}" v="549" dt="2026-06-27T18:30:07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omments/modernComment_10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D03CD68-C89C-4C63-B21F-20E0EEB05B03}" authorId="{CC4B64C7-3099-4DDC-57B8-DF28B5A77704}" created="2026-05-24T12:48:29.09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19" creationId="{3A4AE563-B5C1-5211-DA69-B3E0CAA1747E}"/>
    </ac:deMkLst>
    <p188:txBody>
      <a:bodyPr/>
      <a:lstStyle/>
      <a:p>
        <a:r>
          <a:rPr lang="it-IT"/>
          <a:t>Ditemi se così va bene o è troppo poco professionale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815DBB-9401-48C8-9F6F-C918DA44B83C}" authorId="{CC4B64C7-3099-4DDC-57B8-DF28B5A77704}" created="2026-05-24T10:31:03.969">
    <pc:sldMkLst xmlns:pc="http://schemas.microsoft.com/office/powerpoint/2013/main/command">
      <pc:docMk/>
      <pc:sldMk cId="0" sldId="262"/>
    </pc:sldMkLst>
    <p188:txBody>
      <a:bodyPr/>
      <a:lstStyle/>
      <a:p>
        <a:r>
          <a:rPr lang="it-IT"/>
          <a:t>Per questa slide l’ho pensata così per rimanere nello stile delle slide precedenti l’unica nota è forse troppo carica e la nota in corsivo che è un riferimento alla formula matematica non so se tenerla</a:t>
        </a:r>
      </a:p>
    </p188:txBody>
  </p188:cm>
</p188:cmLst>
</file>

<file path=ppt/comments/modernComment_116_A5DD8C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D4E516-36CE-4ADB-8727-FB5AFCA2DB2A}" authorId="{CC4B64C7-3099-4DDC-57B8-DF28B5A77704}" created="2026-05-24T10:29:41.793">
    <pc:sldMkLst xmlns:pc="http://schemas.microsoft.com/office/powerpoint/2013/main/command">
      <pc:docMk/>
      <pc:sldMk cId="2782760070" sldId="278"/>
    </pc:sldMkLst>
    <p188:txBody>
      <a:bodyPr/>
      <a:lstStyle/>
      <a:p>
        <a:r>
          <a:rPr lang="it-IT"/>
          <a:t>Io la pensavo così che il grafico sembra abbastanza autoesplicativo, però se non siete della stessa idea allora pensavo di spostare il grafico e poi a fianco di mettere un elenco puntato per spiegare 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6-25T09:53:23.459" authorId="{CC4B64C7-3099-4DDC-57B8-DF28B5A77704}"/>
          </p223:rxn>
        </p223:reactions>
      </p:ext>
    </p188:extLst>
  </p188:cm>
</p188:cmLst>
</file>

<file path=ppt/comments/modernComment_121_C4D42B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00FBBD6-87DC-4482-9033-56038640B1DC}" authorId="{CC4B64C7-3099-4DDC-57B8-DF28B5A77704}" created="2026-05-24T10:29:41.793">
    <pc:sldMkLst xmlns:pc="http://schemas.microsoft.com/office/powerpoint/2013/main/command">
      <pc:docMk/>
      <pc:sldMk cId="2782760070" sldId="278"/>
    </pc:sldMkLst>
    <p188:txBody>
      <a:bodyPr/>
      <a:lstStyle/>
      <a:p>
        <a:r>
          <a:rPr lang="it-IT"/>
          <a:t>Io la pensavo così che il grafico sembra abbastanza autoesplicativo, però se non siete della stessa idea allora pensavo di spostare il grafico e poi a fianco di mettere un elenco puntato per spiegare 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6-25T09:53:23.459" authorId="{CC4B64C7-3099-4DDC-57B8-DF28B5A77704}"/>
          </p223:rxn>
        </p223:reactions>
      </p:ext>
    </p188:extLst>
  </p188:cm>
</p188:cmLst>
</file>

<file path=ppt/comments/modernComment_122_59320A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8785B4-CC79-4D79-8D10-FD1C82B1667A}" authorId="{CC4B64C7-3099-4DDC-57B8-DF28B5A77704}" created="2026-05-24T10:29:41.793">
    <pc:sldMkLst xmlns:pc="http://schemas.microsoft.com/office/powerpoint/2013/main/command">
      <pc:docMk/>
      <pc:sldMk cId="2782760070" sldId="278"/>
    </pc:sldMkLst>
    <p188:txBody>
      <a:bodyPr/>
      <a:lstStyle/>
      <a:p>
        <a:r>
          <a:rPr lang="it-IT"/>
          <a:t>Io la pensavo così che il grafico sembra abbastanza autoesplicativo, però se non siete della stessa idea allora pensavo di spostare il grafico e poi a fianco di mettere un elenco puntato per spiegare 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6-25T09:53:23.459" authorId="{CC4B64C7-3099-4DDC-57B8-DF28B5A77704}"/>
          </p223:rxn>
        </p223:reactions>
      </p:ext>
    </p188:extLst>
  </p188:cm>
</p188:cmLst>
</file>

<file path=ppt/comments/modernComment_124_55776F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5F89A56-5008-44E9-A66E-8B361665D808}" authorId="{CC4B64C7-3099-4DDC-57B8-DF28B5A77704}" created="2026-05-24T17:49:31.39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433890694" sldId="292"/>
      <ac:spMk id="2" creationId="{47AED570-82CA-EE2D-8FED-46C06CC6B16B}"/>
    </ac:deMkLst>
    <p188:txBody>
      <a:bodyPr/>
      <a:lstStyle/>
      <a:p>
        <a:r>
          <a:rPr lang="it-IT"/>
          <a:t>Io ho messo queste referenze, se avete altri paper o volete togliere ben venga
</a:t>
        </a:r>
      </a:p>
    </p188:txBody>
  </p188:cm>
</p188:cmLst>
</file>

<file path=ppt/comments/modernComment_129_781C81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4ADC3D-87A3-4EE8-AF1D-A8EED570D990}" authorId="{CC4B64C7-3099-4DDC-57B8-DF28B5A77704}" created="2026-05-24T17:37:35.653">
    <pc:sldMkLst xmlns:pc="http://schemas.microsoft.com/office/powerpoint/2013/main/command">
      <pc:docMk/>
      <pc:sldMk cId="335312572" sldId="285"/>
    </pc:sldMkLst>
    <p188:txBody>
      <a:bodyPr/>
      <a:lstStyle/>
      <a:p>
        <a:r>
          <a:rPr lang="it-IT"/>
          <a:t>Come conclusione finale pensavo sinceramente solo la tabella riassuntiva, ma se si vuole aggiungere qualche altro punto ben venga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84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6CF1C-B498-BFCD-15AF-17B94A58A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D0B1B-8A00-8697-CC84-1BE509745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FD871-8C36-9850-CBE5-47CC1D0ED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50F73-759B-4D6C-E56D-C5B4DA330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34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9474-57FB-CBA8-B393-2AB92D5F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09A78-12DD-C145-5E26-6F832B111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4638C-C925-803E-2C29-A6B6E2D4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3C6E3-DB8E-0578-A6FA-2FB4425AB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16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09F77-449A-E156-1937-B021E025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AF4D9-7A91-D6B6-0EF9-7FB68488C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00A08-38CD-FDA6-28FD-0D015B331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3D78C-AC20-4043-D5F6-6936F08F1C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66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557D3-AC13-7497-EE9C-36691B08F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28D0C-C216-F9DB-EEBE-CA52A8CE6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B90F2-FA0F-4776-8083-3E92580FA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463B4-2BA2-7EEF-68C2-48CFFC250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46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16_A5DD8C8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21_C4D42B9D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22_59320A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microsoft.com/office/2018/10/relationships/comments" Target="../comments/modernComment_10A_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29_781C813C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4_55776F8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04180"/>
          </a:solidFill>
          <a:ln w="1270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118792" y="3104"/>
            <a:ext cx="5404508" cy="5142426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23550" y="704627"/>
            <a:ext cx="5977597" cy="18269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32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La </a:t>
            </a:r>
            <a:r>
              <a:rPr lang="en-US" sz="32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Condizione</a:t>
            </a:r>
            <a:r>
              <a:rPr lang="en-US" sz="32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di </a:t>
            </a:r>
            <a:r>
              <a:rPr lang="en-US" sz="32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Irrapresentabilità</a:t>
            </a:r>
            <a:r>
              <a:rPr lang="en-US" sz="32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del Lasso</a:t>
            </a:r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77864" y="29736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AUTORE: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878346B-309A-6DA9-57CB-83A68DCF7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543" y="2410097"/>
            <a:ext cx="2131695" cy="2537460"/>
          </a:xfrm>
          <a:prstGeom prst="rect">
            <a:avLst/>
          </a:prstGeom>
          <a:ln>
            <a:solidFill>
              <a:srgbClr val="004180"/>
            </a:solidFill>
          </a:ln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9E5F7317-9BEE-D425-1B51-65793C82F008}"/>
              </a:ext>
            </a:extLst>
          </p:cNvPr>
          <p:cNvSpPr/>
          <p:nvPr/>
        </p:nvSpPr>
        <p:spPr>
          <a:xfrm>
            <a:off x="377864" y="3230325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Lorenzo Maria Pennelli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BD989F4-7EEE-8B97-F7D7-EDF85754A840}"/>
              </a:ext>
            </a:extLst>
          </p:cNvPr>
          <p:cNvSpPr txBox="1"/>
          <p:nvPr/>
        </p:nvSpPr>
        <p:spPr>
          <a:xfrm>
            <a:off x="323549" y="1826787"/>
            <a:ext cx="5584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i="1" dirty="0">
                <a:solidFill>
                  <a:srgbClr val="004180"/>
                </a:solidFill>
              </a:rPr>
              <a:t>Il Limite Invalicabile del LASSO nella Selezione delle Variabili</a:t>
            </a:r>
            <a:endParaRPr lang="it-IT" sz="2000" dirty="0">
              <a:solidFill>
                <a:srgbClr val="00418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Contesto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: Lasso</a:t>
            </a:r>
            <a:endParaRPr lang="it-IT" sz="2800" dirty="0" err="1"/>
          </a:p>
        </p:txBody>
      </p:sp>
      <p:sp>
        <p:nvSpPr>
          <p:cNvPr id="9" name="Text 7"/>
          <p:cNvSpPr/>
          <p:nvPr/>
        </p:nvSpPr>
        <p:spPr>
          <a:xfrm>
            <a:off x="263266" y="2974799"/>
            <a:ext cx="4114800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endParaRPr lang="en-US" sz="1100" dirty="0">
              <a:solidFill>
                <a:srgbClr val="333333"/>
              </a:solidFill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2/14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31436C73-6C73-8E81-872C-0EFCE6CFAD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B3CAD74-B2DA-F68F-47B4-E0AB70C65BDE}"/>
              </a:ext>
            </a:extLst>
          </p:cNvPr>
          <p:cNvSpPr txBox="1"/>
          <p:nvPr/>
        </p:nvSpPr>
        <p:spPr>
          <a:xfrm>
            <a:off x="181758" y="627397"/>
            <a:ext cx="8992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 metodo di regolarizzazione che minimizza i residui applicando una penalità L1, forzando i coefficienti meno importanti esattamente a zero. </a:t>
            </a:r>
            <a:endParaRPr lang="it-IT" i="1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517404B-8A70-8234-8104-8BCABACEFBC8}"/>
              </a:ext>
            </a:extLst>
          </p:cNvPr>
          <p:cNvSpPr/>
          <p:nvPr/>
        </p:nvSpPr>
        <p:spPr>
          <a:xfrm>
            <a:off x="1245939" y="2601840"/>
            <a:ext cx="154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Punti</a:t>
            </a:r>
            <a:r>
              <a:rPr lang="en-US" sz="20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di Forza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22578E23-8F9B-0315-0C81-BE6A9025994D}"/>
              </a:ext>
            </a:extLst>
          </p:cNvPr>
          <p:cNvSpPr/>
          <p:nvPr/>
        </p:nvSpPr>
        <p:spPr>
          <a:xfrm>
            <a:off x="6011878" y="2609753"/>
            <a:ext cx="13564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Limitazioni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9415233-40B0-5D34-910F-03AC89829253}"/>
              </a:ext>
            </a:extLst>
          </p:cNvPr>
          <p:cNvSpPr txBox="1"/>
          <p:nvPr/>
        </p:nvSpPr>
        <p:spPr>
          <a:xfrm>
            <a:off x="140937" y="2828295"/>
            <a:ext cx="4359457" cy="2136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rgbClr val="00B050"/>
                </a:solidFill>
              </a:rPr>
              <a:t>Selezione delle variabili: </a:t>
            </a:r>
            <a:r>
              <a:rPr lang="it-IT" sz="1200" dirty="0"/>
              <a:t>annulla l'impatto dei predittori inutili, eliminandoli di fatto dal modello. Modelli più snelli e interpretabili.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rgbClr val="00B050"/>
                </a:solidFill>
              </a:rPr>
              <a:t>Gestione dell'alta dimensionalità</a:t>
            </a:r>
            <a:r>
              <a:rPr lang="it-IT" sz="1400" dirty="0"/>
              <a:t>: </a:t>
            </a:r>
            <a:r>
              <a:rPr lang="it-IT" sz="1200" dirty="0"/>
              <a:t>funziona quando il numero di variabili è molto maggiore del numero di osservazioni.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rgbClr val="00B050"/>
                </a:solidFill>
              </a:rPr>
              <a:t>Previene l'</a:t>
            </a:r>
            <a:r>
              <a:rPr lang="it-IT" sz="1400" b="1" dirty="0" err="1">
                <a:solidFill>
                  <a:srgbClr val="00B050"/>
                </a:solidFill>
              </a:rPr>
              <a:t>overfitting</a:t>
            </a:r>
            <a:endParaRPr lang="it-IT" sz="14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A7AE40F0-2230-393D-113E-FA191FA978E3}"/>
                  </a:ext>
                </a:extLst>
              </p:cNvPr>
              <p:cNvSpPr txBox="1"/>
              <p:nvPr/>
            </p:nvSpPr>
            <p:spPr>
              <a:xfrm>
                <a:off x="4879807" y="2896800"/>
                <a:ext cx="4045178" cy="2187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1400" b="1" dirty="0">
                    <a:solidFill>
                      <a:srgbClr val="C62828"/>
                    </a:solidFill>
                  </a:rPr>
                  <a:t>Gestione della multicollinearità: </a:t>
                </a:r>
                <a:r>
                  <a:rPr lang="it-IT" sz="1200" dirty="0"/>
                  <a:t>variabili altamente correlate, </a:t>
                </a:r>
                <a:r>
                  <a:rPr lang="it-IT" sz="1200" b="1" dirty="0"/>
                  <a:t>Lasso</a:t>
                </a:r>
                <a:r>
                  <a:rPr lang="it-IT" sz="1200" dirty="0"/>
                  <a:t> ne sceglie arbitrariamente. </a:t>
                </a:r>
                <a:endParaRPr lang="it-IT" sz="14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1400" b="1" dirty="0">
                    <a:solidFill>
                      <a:srgbClr val="C62828"/>
                    </a:solidFill>
                  </a:rPr>
                  <a:t>Dipendenza dalla scala dei dati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1400" b="1" dirty="0">
                    <a:solidFill>
                      <a:srgbClr val="C62828"/>
                    </a:solidFill>
                  </a:rPr>
                  <a:t>Parametro </a:t>
                </a:r>
                <a14:m>
                  <m:oMath xmlns:m="http://schemas.openxmlformats.org/officeDocument/2006/math">
                    <m:r>
                      <a:rPr lang="it-IT" sz="1400" b="1" i="1">
                        <a:solidFill>
                          <a:srgbClr val="C62828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it-IT" sz="1400" b="1" dirty="0">
                    <a:solidFill>
                      <a:srgbClr val="C62828"/>
                    </a:solidFill>
                  </a:rPr>
                  <a:t> da </a:t>
                </a:r>
                <a:r>
                  <a:rPr lang="it-IT" sz="1400" b="1" dirty="0" err="1">
                    <a:solidFill>
                      <a:srgbClr val="C62828"/>
                    </a:solidFill>
                  </a:rPr>
                  <a:t>tunare</a:t>
                </a:r>
                <a:endParaRPr lang="it-IT" sz="1400" b="1" dirty="0">
                  <a:solidFill>
                    <a:srgbClr val="C62828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1400" b="1" dirty="0">
                    <a:solidFill>
                      <a:srgbClr val="C62828"/>
                    </a:solidFill>
                  </a:rPr>
                  <a:t>Consistenza Condizionata: </a:t>
                </a:r>
                <a:r>
                  <a:rPr lang="it-IT" sz="1200" dirty="0"/>
                  <a:t>selezione del vero supporto non sempre garantita</a:t>
                </a:r>
                <a:r>
                  <a:rPr lang="it-IT" sz="1200" b="1" dirty="0"/>
                  <a:t> </a:t>
                </a:r>
                <a:r>
                  <a:rPr lang="it-IT" sz="1200" i="1" dirty="0"/>
                  <a:t>(violazione della proprietà Oracle).</a:t>
                </a:r>
                <a:endParaRPr lang="it-IT" sz="1400" i="1" dirty="0"/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A7AE40F0-2230-393D-113E-FA191FA97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807" y="2896800"/>
                <a:ext cx="4045178" cy="2187394"/>
              </a:xfrm>
              <a:prstGeom prst="rect">
                <a:avLst/>
              </a:prstGeom>
              <a:blipFill>
                <a:blip r:embed="rId4"/>
                <a:stretch>
                  <a:fillRect l="-151" r="-602" b="-13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A29174C0-F434-9E67-AF61-D6442F666134}"/>
              </a:ext>
            </a:extLst>
          </p:cNvPr>
          <p:cNvCxnSpPr>
            <a:cxnSpLocks/>
          </p:cNvCxnSpPr>
          <p:nvPr/>
        </p:nvCxnSpPr>
        <p:spPr>
          <a:xfrm>
            <a:off x="4625323" y="2773698"/>
            <a:ext cx="7227" cy="2120997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3A5EFF77-74AD-DC2D-859E-94A1B39FE0B0}"/>
              </a:ext>
            </a:extLst>
          </p:cNvPr>
          <p:cNvCxnSpPr>
            <a:cxnSpLocks/>
          </p:cNvCxnSpPr>
          <p:nvPr/>
        </p:nvCxnSpPr>
        <p:spPr>
          <a:xfrm>
            <a:off x="835677" y="2536746"/>
            <a:ext cx="7412090" cy="0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Shape 6">
            <a:extLst>
              <a:ext uri="{FF2B5EF4-FFF2-40B4-BE49-F238E27FC236}">
                <a16:creationId xmlns:a16="http://schemas.microsoft.com/office/drawing/2014/main" id="{83E4026D-595E-550A-C23D-1F5AFDDFCDC3}"/>
              </a:ext>
            </a:extLst>
          </p:cNvPr>
          <p:cNvSpPr/>
          <p:nvPr/>
        </p:nvSpPr>
        <p:spPr>
          <a:xfrm>
            <a:off x="1587896" y="1334819"/>
            <a:ext cx="5847102" cy="1070028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5DB4DCC3-87FF-EA28-EDCB-5BC0D9C5B040}"/>
                  </a:ext>
                </a:extLst>
              </p:cNvPr>
              <p:cNvSpPr txBox="1"/>
              <p:nvPr/>
            </p:nvSpPr>
            <p:spPr>
              <a:xfrm>
                <a:off x="1858676" y="1519932"/>
                <a:ext cx="5533293" cy="710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m:rPr>
                              <m:nor/>
                            </m:rPr>
                            <a:rPr lang="it-IT" i="1"/>
                            <m:t>LASSO</m:t>
                          </m:r>
                        </m:sup>
                      </m:sSup>
                      <m:r>
                        <a:rPr lang="it-IT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lim>
                      </m:limLow>
                      <m:d>
                        <m:dPr>
                          <m:begChr m:val="{"/>
                          <m:endChr m:val="}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</m:e>
                            <m:sub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it-IT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</m:e>
                            <m:sub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5DB4DCC3-87FF-EA28-EDCB-5BC0D9C5B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676" y="1519932"/>
                <a:ext cx="5533293" cy="7101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3D479-4964-06A3-7893-E28C4437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8685AED9-09F9-514B-819B-D8D88B4C83DA}"/>
              </a:ext>
            </a:extLst>
          </p:cNvPr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Contesto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Proprietà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Oracle</a:t>
            </a:r>
            <a:endParaRPr lang="it-IT" sz="2800" dirty="0" err="1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73A85E5-5D34-B28F-F734-929D690348FE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3/14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D560CEE6-BD7E-61BF-6EBD-69870E5311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7D6C6DF-1048-2CCB-EF66-A903931640B5}"/>
              </a:ext>
            </a:extLst>
          </p:cNvPr>
          <p:cNvSpPr txBox="1"/>
          <p:nvPr/>
        </p:nvSpPr>
        <p:spPr>
          <a:xfrm>
            <a:off x="198433" y="667513"/>
            <a:ext cx="89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capacità di una procedura di selezionare il vero modello e stimare i parametri con la stessa accuratezza che si avrebbe conoscendo a priori le variabili realmente rilevanti.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2CB85758-516C-94D3-BD9C-63ECEB305361}"/>
              </a:ext>
            </a:extLst>
          </p:cNvPr>
          <p:cNvSpPr/>
          <p:nvPr/>
        </p:nvSpPr>
        <p:spPr>
          <a:xfrm>
            <a:off x="289493" y="1436634"/>
            <a:ext cx="28167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Consistenza</a:t>
            </a:r>
            <a:r>
              <a:rPr lang="en-US" sz="16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</a:t>
            </a:r>
            <a:r>
              <a:rPr lang="en-US" sz="16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</a:t>
            </a:r>
            <a:endParaRPr lang="en-US" sz="1600" dirty="0"/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D0D41E45-D886-0009-D834-533AFD5830EB}"/>
              </a:ext>
            </a:extLst>
          </p:cNvPr>
          <p:cNvSpPr/>
          <p:nvPr/>
        </p:nvSpPr>
        <p:spPr>
          <a:xfrm>
            <a:off x="4490695" y="1444570"/>
            <a:ext cx="457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Normalità</a:t>
            </a:r>
            <a:r>
              <a:rPr lang="en-US" sz="16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asintotica</a:t>
            </a:r>
            <a:endParaRPr lang="en-US" sz="1600" dirty="0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C1CA48FB-7843-7C15-AEB6-1E5711A9F2A7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4405382" y="1313844"/>
            <a:ext cx="14500" cy="2960596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4" name="Text 5">
            <a:extLst>
              <a:ext uri="{FF2B5EF4-FFF2-40B4-BE49-F238E27FC236}">
                <a16:creationId xmlns:a16="http://schemas.microsoft.com/office/drawing/2014/main" id="{21046F99-7F85-86A9-26E6-3AAC685E397C}"/>
              </a:ext>
            </a:extLst>
          </p:cNvPr>
          <p:cNvSpPr/>
          <p:nvPr/>
        </p:nvSpPr>
        <p:spPr>
          <a:xfrm>
            <a:off x="300065" y="1682879"/>
            <a:ext cx="4105317" cy="77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200" dirty="0"/>
              <a:t>Il metodo identifica correttamente le variabili realmente rilevanti e scarta quelle irrilevanti. All'aumentare dei dati, la probabilità di selezionare il modello corretto tende a 1</a:t>
            </a:r>
            <a:endParaRPr lang="en-US" sz="12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29F460EB-74BF-C73A-334F-9115C0C06947}"/>
              </a:ext>
            </a:extLst>
          </p:cNvPr>
          <p:cNvSpPr/>
          <p:nvPr/>
        </p:nvSpPr>
        <p:spPr>
          <a:xfrm>
            <a:off x="283777" y="2428039"/>
            <a:ext cx="4069080" cy="778496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11F154F9-2990-5A14-9518-4BFCF31F8926}"/>
                  </a:ext>
                </a:extLst>
              </p:cNvPr>
              <p:cNvSpPr txBox="1"/>
              <p:nvPr/>
            </p:nvSpPr>
            <p:spPr>
              <a:xfrm>
                <a:off x="368467" y="2454477"/>
                <a:ext cx="386268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1600" i="1"/>
                        <m:t>P</m:t>
                      </m:r>
                      <m:r>
                        <m:rPr>
                          <m:nor/>
                        </m:rPr>
                        <a:rPr lang="it-IT" sz="1600" i="1"/>
                        <m:t>(Ŝ =</m:t>
                      </m:r>
                      <m:sSup>
                        <m:sSup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m:rPr>
                          <m:nor/>
                        </m:rPr>
                        <a:rPr lang="it-IT" sz="1600" i="1"/>
                        <m:t>) → 1 </m:t>
                      </m:r>
                      <m:r>
                        <m:rPr>
                          <m:nor/>
                        </m:rPr>
                        <a:rPr lang="it-IT" sz="1600" b="0" i="1" smtClean="0"/>
                        <m:t>  </m:t>
                      </m:r>
                      <m:r>
                        <m:rPr>
                          <m:nor/>
                        </m:rPr>
                        <a:rPr lang="it-IT" sz="1600" i="1"/>
                        <m:t>per</m:t>
                      </m:r>
                      <m:r>
                        <m:rPr>
                          <m:nor/>
                        </m:rPr>
                        <a:rPr lang="it-IT" sz="1600" i="1"/>
                        <m:t> </m:t>
                      </m:r>
                      <m:r>
                        <m:rPr>
                          <m:nor/>
                        </m:rPr>
                        <a:rPr lang="it-IT" sz="1600" i="1"/>
                        <m:t>n</m:t>
                      </m:r>
                      <m:r>
                        <m:rPr>
                          <m:nor/>
                        </m:rPr>
                        <a:rPr lang="it-IT" sz="1600" i="1"/>
                        <m:t> → ∞</m:t>
                      </m:r>
                    </m:oMath>
                  </m:oMathPara>
                </a14:m>
                <a:endParaRPr lang="it-IT" sz="1100" i="1" dirty="0"/>
              </a:p>
            </p:txBody>
          </p:sp>
        </mc:Choice>
        <mc:Fallback xmlns="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11F154F9-2990-5A14-9518-4BFCF31F8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67" y="2454477"/>
                <a:ext cx="3862684" cy="338554"/>
              </a:xfrm>
              <a:prstGeom prst="rect">
                <a:avLst/>
              </a:prstGeom>
              <a:blipFill>
                <a:blip r:embed="rId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hape 6">
            <a:extLst>
              <a:ext uri="{FF2B5EF4-FFF2-40B4-BE49-F238E27FC236}">
                <a16:creationId xmlns:a16="http://schemas.microsoft.com/office/drawing/2014/main" id="{A046E6A6-70E8-4F26-51CA-8C1EE5ACE1F2}"/>
              </a:ext>
            </a:extLst>
          </p:cNvPr>
          <p:cNvSpPr/>
          <p:nvPr/>
        </p:nvSpPr>
        <p:spPr>
          <a:xfrm>
            <a:off x="4505515" y="2551181"/>
            <a:ext cx="4069080" cy="666647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DC113397-42F3-C228-EE2B-24DA9F335E05}"/>
              </a:ext>
            </a:extLst>
          </p:cNvPr>
          <p:cNvSpPr/>
          <p:nvPr/>
        </p:nvSpPr>
        <p:spPr>
          <a:xfrm>
            <a:off x="4505515" y="1712673"/>
            <a:ext cx="4105317" cy="77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200" dirty="0"/>
              <a:t>Dopo aver individuato le variabili corrette, il metodo stima i coefficienti con la stessa precisione che si avrebbe conoscendo il modello vero in anticipo. Le stime diventano sempre più accurate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26771CFF-8D3F-E82D-6AA8-D2B4A71EE8D6}"/>
                  </a:ext>
                </a:extLst>
              </p:cNvPr>
              <p:cNvSpPr txBox="1"/>
              <p:nvPr/>
            </p:nvSpPr>
            <p:spPr>
              <a:xfrm>
                <a:off x="969764" y="2820463"/>
                <a:ext cx="2597061" cy="366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it-IT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it-IT" sz="16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it-IT" sz="16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it-IT" sz="1600" i="1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it-IT" sz="1600" i="1">
                          <a:latin typeface="Cambria Math" panose="02040503050406030204" pitchFamily="18" charset="0"/>
                        </a:rPr>
                        <m:t>≠0</m:t>
                      </m:r>
                      <m:r>
                        <m:rPr>
                          <m:lit/>
                        </m:rPr>
                        <a:rPr lang="it-IT" sz="16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26771CFF-8D3F-E82D-6AA8-D2B4A71EE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764" y="2820463"/>
                <a:ext cx="2597061" cy="366639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sellaDiTesto 8">
            <a:extLst>
              <a:ext uri="{FF2B5EF4-FFF2-40B4-BE49-F238E27FC236}">
                <a16:creationId xmlns:a16="http://schemas.microsoft.com/office/drawing/2014/main" id="{9FC6C1E6-D4BE-01B1-8043-EA550A2F0319}"/>
              </a:ext>
            </a:extLst>
          </p:cNvPr>
          <p:cNvSpPr txBox="1"/>
          <p:nvPr/>
        </p:nvSpPr>
        <p:spPr>
          <a:xfrm>
            <a:off x="283777" y="330469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dirty="0">
                <a:solidFill>
                  <a:srgbClr val="00B050"/>
                </a:solidFill>
              </a:rPr>
              <a:t>✓ Trova le variabili giuste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F80A9E0-B7BB-5F48-82C8-6684BBEEFF05}"/>
              </a:ext>
            </a:extLst>
          </p:cNvPr>
          <p:cNvSpPr txBox="1"/>
          <p:nvPr/>
        </p:nvSpPr>
        <p:spPr>
          <a:xfrm>
            <a:off x="283777" y="3598655"/>
            <a:ext cx="28224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dirty="0">
                <a:solidFill>
                  <a:srgbClr val="00B050"/>
                </a:solidFill>
              </a:rPr>
              <a:t>✓ Elimina il rumore</a:t>
            </a: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ACC1A45F-25D8-0B79-D5C1-55D7DE25B447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11721" y="2612860"/>
            <a:ext cx="3040326" cy="543288"/>
          </a:xfrm>
          <a:prstGeom prst="rect">
            <a:avLst/>
          </a:prstGeom>
          <a:ln>
            <a:noFill/>
          </a:ln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856251B3-D882-D3E4-5AC1-3C6C9CDDF55D}"/>
              </a:ext>
            </a:extLst>
          </p:cNvPr>
          <p:cNvSpPr txBox="1"/>
          <p:nvPr/>
        </p:nvSpPr>
        <p:spPr>
          <a:xfrm>
            <a:off x="4511533" y="329074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dirty="0">
                <a:solidFill>
                  <a:srgbClr val="00B050"/>
                </a:solidFill>
              </a:rPr>
              <a:t>✓ Stime precise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AEBC9104-17EB-F664-1FC2-7D754F63E023}"/>
              </a:ext>
            </a:extLst>
          </p:cNvPr>
          <p:cNvSpPr txBox="1"/>
          <p:nvPr/>
        </p:nvSpPr>
        <p:spPr>
          <a:xfrm>
            <a:off x="4510423" y="3582994"/>
            <a:ext cx="20477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dirty="0">
                <a:solidFill>
                  <a:srgbClr val="00B050"/>
                </a:solidFill>
              </a:rPr>
              <a:t>✓ Inferenza statistica affidabile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B1DFDFA0-9623-A92A-88C4-F6821419BE54}"/>
              </a:ext>
            </a:extLst>
          </p:cNvPr>
          <p:cNvSpPr txBox="1"/>
          <p:nvPr/>
        </p:nvSpPr>
        <p:spPr>
          <a:xfrm>
            <a:off x="1121834" y="4274440"/>
            <a:ext cx="65960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>
                <a:solidFill>
                  <a:srgbClr val="004180"/>
                </a:solidFill>
              </a:rPr>
              <a:t>Il Lasso ha buone proprietà di Oracolo quando le variabili rilevanti non sono correlate con le variabili rumore (</a:t>
            </a:r>
            <a:r>
              <a:rPr lang="it-IT" sz="1600" b="1" i="1" dirty="0" err="1">
                <a:solidFill>
                  <a:srgbClr val="004180"/>
                </a:solidFill>
              </a:rPr>
              <a:t>Irrepresentable</a:t>
            </a:r>
            <a:r>
              <a:rPr lang="it-IT" sz="1600" b="1" i="1" dirty="0">
                <a:solidFill>
                  <a:srgbClr val="004180"/>
                </a:solidFill>
              </a:rPr>
              <a:t> </a:t>
            </a:r>
            <a:r>
              <a:rPr lang="it-IT" sz="1600" b="1" i="1" dirty="0" err="1">
                <a:solidFill>
                  <a:srgbClr val="004180"/>
                </a:solidFill>
              </a:rPr>
              <a:t>Condition</a:t>
            </a:r>
            <a:r>
              <a:rPr lang="it-IT" sz="1600" i="1" dirty="0">
                <a:solidFill>
                  <a:srgbClr val="00418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0130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/>
          <p:cNvPicPr>
            <a:picLocks noChangeAspect="1"/>
          </p:cNvPicPr>
          <p:nvPr/>
        </p:nvPicPr>
        <p:blipFill>
          <a:blip r:embed="rId4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/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La Condizione di </a:t>
            </a:r>
            <a:r>
              <a:rPr lang="it-IT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Irrapresentabilità</a:t>
            </a: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" name="Text 29">
            <a:extLst>
              <a:ext uri="{FF2B5EF4-FFF2-40B4-BE49-F238E27FC236}">
                <a16:creationId xmlns:a16="http://schemas.microsoft.com/office/drawing/2014/main" id="{6E33B095-E968-8AF7-7F3E-9A1EC44DB335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4/14</a:t>
            </a:r>
            <a:endParaRPr lang="en-US" sz="90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8C2E6C3B-B0FE-7C0C-CB12-DEE1FD97CF56}"/>
              </a:ext>
            </a:extLst>
          </p:cNvPr>
          <p:cNvSpPr/>
          <p:nvPr/>
        </p:nvSpPr>
        <p:spPr>
          <a:xfrm>
            <a:off x="377952" y="714176"/>
            <a:ext cx="8499323" cy="786378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946AA91E-AC95-B894-98B4-2E1249EEC706}"/>
                  </a:ext>
                </a:extLst>
              </p:cNvPr>
              <p:cNvSpPr txBox="1"/>
              <p:nvPr/>
            </p:nvSpPr>
            <p:spPr>
              <a:xfrm>
                <a:off x="377952" y="878588"/>
                <a:ext cx="8499323" cy="441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it-IT" i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  <m:sup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it-I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it-IT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it-IT" i="0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it-IT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it-IT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it-IT" i="0">
                                  <a:latin typeface="Cambria Math" panose="02040503050406030204" pitchFamily="18" charset="0"/>
                                </a:rPr>
                                <m:t>sgn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it-I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it-IT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p>
                                          <m:r>
                                            <a:rPr lang="it-IT" i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it-IT" i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it-IT" i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946AA91E-AC95-B894-98B4-2E1249EEC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52" y="878588"/>
                <a:ext cx="8499323" cy="441082"/>
              </a:xfrm>
              <a:prstGeom prst="rect">
                <a:avLst/>
              </a:prstGeom>
              <a:blipFill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3">
            <a:extLst>
              <a:ext uri="{FF2B5EF4-FFF2-40B4-BE49-F238E27FC236}">
                <a16:creationId xmlns:a16="http://schemas.microsoft.com/office/drawing/2014/main" id="{E64CFEF1-D04B-B701-C266-430DDAB7F654}"/>
              </a:ext>
            </a:extLst>
          </p:cNvPr>
          <p:cNvSpPr/>
          <p:nvPr/>
        </p:nvSpPr>
        <p:spPr>
          <a:xfrm>
            <a:off x="581851" y="1828197"/>
            <a:ext cx="2441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</a:t>
            </a:r>
            <a:r>
              <a:rPr lang="en-US" b="1" dirty="0" err="1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</a:t>
            </a:r>
            <a:r>
              <a:rPr lang="en-US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Gram</a:t>
            </a:r>
            <a:endParaRPr lang="en-US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4B589C4-586D-5181-D2B4-F5661F10C25D}"/>
              </a:ext>
            </a:extLst>
          </p:cNvPr>
          <p:cNvSpPr txBox="1"/>
          <p:nvPr/>
        </p:nvSpPr>
        <p:spPr>
          <a:xfrm>
            <a:off x="3514339" y="1598941"/>
            <a:ext cx="53537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004180"/>
                </a:solidFill>
              </a:rPr>
              <a:t>Cosa Misura</a:t>
            </a:r>
          </a:p>
          <a:p>
            <a:pPr lvl="1"/>
            <a:r>
              <a:rPr lang="it-IT" sz="1200" dirty="0">
                <a:solidFill>
                  <a:srgbClr val="C00000"/>
                </a:solidFill>
              </a:rPr>
              <a:t>C</a:t>
            </a:r>
            <a:r>
              <a:rPr lang="it-IT" sz="1200" baseline="-25000" dirty="0">
                <a:solidFill>
                  <a:srgbClr val="C00000"/>
                </a:solidFill>
              </a:rPr>
              <a:t>²¹</a:t>
            </a:r>
            <a:r>
              <a:rPr lang="it-IT" sz="1200" dirty="0">
                <a:solidFill>
                  <a:srgbClr val="C00000"/>
                </a:solidFill>
              </a:rPr>
              <a:t>ⁿ</a:t>
            </a:r>
            <a:r>
              <a:rPr lang="it-IT" sz="1200" dirty="0"/>
              <a:t>(</a:t>
            </a:r>
            <a:r>
              <a:rPr lang="it-IT" sz="1200" dirty="0">
                <a:solidFill>
                  <a:srgbClr val="0070C0"/>
                </a:solidFill>
              </a:rPr>
              <a:t>C</a:t>
            </a:r>
            <a:r>
              <a:rPr lang="it-IT" sz="1200" baseline="-25000" dirty="0">
                <a:solidFill>
                  <a:srgbClr val="0070C0"/>
                </a:solidFill>
              </a:rPr>
              <a:t>¹¹</a:t>
            </a:r>
            <a:r>
              <a:rPr lang="it-IT" sz="1200" dirty="0">
                <a:solidFill>
                  <a:srgbClr val="0070C0"/>
                </a:solidFill>
              </a:rPr>
              <a:t>ⁿ</a:t>
            </a:r>
            <a:r>
              <a:rPr lang="it-IT" sz="1200" dirty="0"/>
              <a:t>)⁻¹ </a:t>
            </a:r>
            <a:r>
              <a:rPr lang="it-IT" sz="1200" dirty="0" err="1"/>
              <a:t>sgn</a:t>
            </a:r>
            <a:r>
              <a:rPr lang="it-IT" sz="1200" dirty="0"/>
              <a:t>(β*) = </a:t>
            </a:r>
            <a:r>
              <a:rPr lang="it-IT" sz="1200" b="1" dirty="0"/>
              <a:t>coefficiente OLS </a:t>
            </a:r>
            <a:r>
              <a:rPr lang="it-IT" sz="1200" dirty="0"/>
              <a:t>di ogni variabile </a:t>
            </a:r>
            <a:r>
              <a:rPr lang="it-IT" sz="1200" b="1" dirty="0"/>
              <a:t>falsa</a:t>
            </a:r>
            <a:r>
              <a:rPr lang="it-IT" sz="1200" dirty="0"/>
              <a:t> sulle variabili </a:t>
            </a:r>
            <a:r>
              <a:rPr lang="it-IT" sz="1200" b="1" dirty="0"/>
              <a:t>vere</a:t>
            </a:r>
            <a:r>
              <a:rPr lang="it-IT" sz="1200" dirty="0"/>
              <a:t>, </a:t>
            </a:r>
            <a:r>
              <a:rPr lang="it-IT" sz="1200" b="1" dirty="0"/>
              <a:t>proiettato</a:t>
            </a:r>
            <a:r>
              <a:rPr lang="it-IT" sz="1200" dirty="0"/>
              <a:t> nella direzione del segnale.</a:t>
            </a:r>
          </a:p>
          <a:p>
            <a:pPr lvl="1"/>
            <a:r>
              <a:rPr lang="it-IT" sz="1200" i="1" dirty="0">
                <a:solidFill>
                  <a:srgbClr val="004180"/>
                </a:solidFill>
              </a:rPr>
              <a:t>→ Quanto una variabile inattiva è "spiegata" dalle attive.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10B1F75-41E0-A2CE-811A-19E6E4E9F9AD}"/>
              </a:ext>
            </a:extLst>
          </p:cNvPr>
          <p:cNvSpPr txBox="1"/>
          <p:nvPr/>
        </p:nvSpPr>
        <p:spPr>
          <a:xfrm>
            <a:off x="3514339" y="2676457"/>
            <a:ext cx="5059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004180"/>
                </a:solidFill>
              </a:rPr>
              <a:t>Intuizione geometrica</a:t>
            </a:r>
          </a:p>
          <a:p>
            <a:pPr lvl="1"/>
            <a:r>
              <a:rPr lang="it-IT" sz="1200" dirty="0"/>
              <a:t>Se la norma ≥ 1, una variabile rumore può essere scritta come </a:t>
            </a:r>
            <a:r>
              <a:rPr lang="it-IT" sz="1200" b="1" dirty="0"/>
              <a:t>combinazione lineare</a:t>
            </a:r>
            <a:r>
              <a:rPr lang="it-IT" sz="1200" dirty="0"/>
              <a:t> delle vere → il Lasso non la azzera.</a:t>
            </a:r>
            <a:endParaRPr lang="it-IT" sz="1200" i="1" dirty="0"/>
          </a:p>
          <a:p>
            <a:pPr lvl="1"/>
            <a:r>
              <a:rPr lang="it-IT" sz="1200" i="1" dirty="0">
                <a:solidFill>
                  <a:srgbClr val="004180"/>
                </a:solidFill>
              </a:rPr>
              <a:t>→ La variabile falsa è troppo "rappresentabile" dalle vere</a:t>
            </a:r>
            <a:r>
              <a:rPr lang="it-IT" sz="1200" i="1" dirty="0"/>
              <a:t>.</a:t>
            </a: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4A285DE9-07E2-5873-16A6-0E09791DA2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8" y="2232481"/>
            <a:ext cx="3320058" cy="1980875"/>
          </a:xfrm>
          <a:prstGeom prst="rect">
            <a:avLst/>
          </a:prstGeom>
        </p:spPr>
      </p:pic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D497F96-2029-ED83-0DF6-32C281FA1335}"/>
              </a:ext>
            </a:extLst>
          </p:cNvPr>
          <p:cNvSpPr txBox="1"/>
          <p:nvPr/>
        </p:nvSpPr>
        <p:spPr>
          <a:xfrm>
            <a:off x="3514339" y="3704748"/>
            <a:ext cx="55656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004180"/>
                </a:solidFill>
              </a:rPr>
              <a:t>Implicazione</a:t>
            </a:r>
          </a:p>
          <a:p>
            <a:pPr lvl="1"/>
            <a:r>
              <a:rPr lang="it-IT" sz="1200" dirty="0"/>
              <a:t>Il successo della selezione delle variabili non dipende da quanti dati raccogli, ma da come sono correlate tra loro le variabili nel dataset.</a:t>
            </a:r>
          </a:p>
          <a:p>
            <a:pPr lvl="1"/>
            <a:r>
              <a:rPr lang="it-IT" sz="1200" i="1" dirty="0">
                <a:solidFill>
                  <a:srgbClr val="004180"/>
                </a:solidFill>
              </a:rPr>
              <a:t>→ corretta selezione delle variabili è una proprietà intrinseca della geometria del dataset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B51A1-AE15-8706-6DB8-1A1307CB2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6">
            <a:extLst>
              <a:ext uri="{FF2B5EF4-FFF2-40B4-BE49-F238E27FC236}">
                <a16:creationId xmlns:a16="http://schemas.microsoft.com/office/drawing/2014/main" id="{1951CEE8-0F3C-9859-C3A8-C855CF657CE1}"/>
              </a:ext>
            </a:extLst>
          </p:cNvPr>
          <p:cNvSpPr/>
          <p:nvPr/>
        </p:nvSpPr>
        <p:spPr>
          <a:xfrm>
            <a:off x="6540570" y="3598608"/>
            <a:ext cx="2176710" cy="584407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p:sp>
        <p:nvSpPr>
          <p:cNvPr id="69" name="Shape 6">
            <a:extLst>
              <a:ext uri="{FF2B5EF4-FFF2-40B4-BE49-F238E27FC236}">
                <a16:creationId xmlns:a16="http://schemas.microsoft.com/office/drawing/2014/main" id="{3D1BEF95-9063-8778-8E4F-98B05DF85E80}"/>
              </a:ext>
            </a:extLst>
          </p:cNvPr>
          <p:cNvSpPr/>
          <p:nvPr/>
        </p:nvSpPr>
        <p:spPr>
          <a:xfrm>
            <a:off x="2899926" y="3394518"/>
            <a:ext cx="2946138" cy="1042696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1C1FAE-7DA0-3605-81DD-D35044A88797}"/>
              </a:ext>
            </a:extLst>
          </p:cNvPr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 </a:t>
            </a: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Esperimenti</a:t>
            </a:r>
            <a:endParaRPr lang="it-IT" sz="2800" dirty="0" err="1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1C4681C-396B-7854-42AD-F1C1EF8C85E3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5/14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1340C80B-5084-D53C-12B5-F9DBC28E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146952E4-38D4-C6E1-D3AC-307A3C70DD6C}"/>
              </a:ext>
            </a:extLst>
          </p:cNvPr>
          <p:cNvSpPr/>
          <p:nvPr/>
        </p:nvSpPr>
        <p:spPr>
          <a:xfrm>
            <a:off x="234629" y="923341"/>
            <a:ext cx="28167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Generating Process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147D55E-6E6D-2C98-BB5E-F9579813945F}"/>
                  </a:ext>
                </a:extLst>
              </p:cNvPr>
              <p:cNvSpPr txBox="1"/>
              <p:nvPr/>
            </p:nvSpPr>
            <p:spPr>
              <a:xfrm>
                <a:off x="-853440" y="1258621"/>
                <a:ext cx="45720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it-IT" sz="1600" i="1" smtClean="0">
                          <a:latin typeface="Cambria Math" panose="02040503050406030204" pitchFamily="18" charset="0"/>
                        </a:rPr>
                        <m:t>=3</m:t>
                      </m:r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1600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sz="1600" i="1"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it-IT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600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147D55E-6E6D-2C98-BB5E-F95798139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3440" y="1258621"/>
                <a:ext cx="457200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7715BDBE-6AA9-0DC2-88B1-84004018782E}"/>
                  </a:ext>
                </a:extLst>
              </p:cNvPr>
              <p:cNvSpPr txBox="1"/>
              <p:nvPr/>
            </p:nvSpPr>
            <p:spPr>
              <a:xfrm>
                <a:off x="1382268" y="1258621"/>
                <a:ext cx="478840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it-IT" sz="160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it-IT" sz="1600" i="1" smtClean="0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7715BDBE-6AA9-0DC2-88B1-840040187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268" y="1258621"/>
                <a:ext cx="4788408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F81B233F-97D0-86E0-B77B-BE8D7D477E29}"/>
                  </a:ext>
                </a:extLst>
              </p:cNvPr>
              <p:cNvSpPr txBox="1"/>
              <p:nvPr/>
            </p:nvSpPr>
            <p:spPr>
              <a:xfrm>
                <a:off x="67056" y="1617240"/>
                <a:ext cx="4788408" cy="368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sz="1600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it-IT" sz="1600" i="1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it-IT" sz="1600" i="1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it-IT" sz="16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1600" i="0">
                          <a:latin typeface="Cambria Math" panose="02040503050406030204" pitchFamily="18" charset="0"/>
                        </a:rPr>
                        <m:t>Variabili</m:t>
                      </m:r>
                      <m:r>
                        <m:rPr>
                          <m:nor/>
                        </m:rPr>
                        <a:rPr lang="it-IT" sz="16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1600" b="0" i="0" smtClean="0">
                          <a:latin typeface="Cambria Math" panose="02040503050406030204" pitchFamily="18" charset="0"/>
                        </a:rPr>
                        <m:t>Causali</m:t>
                      </m:r>
                      <m:r>
                        <m:rPr>
                          <m:nor/>
                        </m:rPr>
                        <a:rPr lang="it-IT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1600" b="0" i="0" smtClean="0">
                          <a:latin typeface="Cambria Math" panose="02040503050406030204" pitchFamily="18" charset="0"/>
                        </a:rPr>
                        <m:t>indipendenti</m:t>
                      </m:r>
                      <m:r>
                        <m:rPr>
                          <m:nor/>
                        </m:rPr>
                        <a:rPr lang="it-IT" sz="160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F81B233F-97D0-86E0-B77B-BE8D7D477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" y="1617240"/>
                <a:ext cx="4788408" cy="368627"/>
              </a:xfrm>
              <a:prstGeom prst="rect">
                <a:avLst/>
              </a:prstGeom>
              <a:blipFill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Shape 6">
            <a:extLst>
              <a:ext uri="{FF2B5EF4-FFF2-40B4-BE49-F238E27FC236}">
                <a16:creationId xmlns:a16="http://schemas.microsoft.com/office/drawing/2014/main" id="{238AC28A-D372-FA85-B988-164E54290091}"/>
              </a:ext>
            </a:extLst>
          </p:cNvPr>
          <p:cNvSpPr/>
          <p:nvPr/>
        </p:nvSpPr>
        <p:spPr>
          <a:xfrm>
            <a:off x="251146" y="3492717"/>
            <a:ext cx="2071429" cy="584407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838BC9A6-472C-3513-A31F-8A7406A0C8EB}"/>
                  </a:ext>
                </a:extLst>
              </p:cNvPr>
              <p:cNvSpPr txBox="1"/>
              <p:nvPr/>
            </p:nvSpPr>
            <p:spPr>
              <a:xfrm>
                <a:off x="-276651" y="2050474"/>
                <a:ext cx="6231234" cy="368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it-IT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600" i="1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600" i="1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sz="1600" b="0" i="1" smtClean="0">
                          <a:latin typeface="Cambria Math" panose="02040503050406030204" pitchFamily="18" charset="0"/>
                        </a:rPr>
                        <m:t>Rumore</m:t>
                      </m:r>
                      <m:r>
                        <a:rPr lang="it-IT" sz="1600" i="1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it-IT" sz="16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it-IT" sz="1600" i="0">
                          <a:latin typeface="Cambria Math" panose="02040503050406030204" pitchFamily="18" charset="0"/>
                        </a:rPr>
                        <m:t>Variabile</m:t>
                      </m:r>
                      <m:r>
                        <m:rPr>
                          <m:nor/>
                        </m:rPr>
                        <a:rPr lang="it-IT" sz="16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1600" b="0" i="0" smtClean="0">
                          <a:latin typeface="Cambria Math" panose="02040503050406030204" pitchFamily="18" charset="0"/>
                        </a:rPr>
                        <m:t>Rumore</m:t>
                      </m:r>
                      <m:r>
                        <m:rPr>
                          <m:nor/>
                        </m:rPr>
                        <a:rPr lang="it-IT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1600" b="0" i="0" smtClean="0">
                          <a:latin typeface="Cambria Math" panose="02040503050406030204" pitchFamily="18" charset="0"/>
                        </a:rPr>
                        <m:t>Correlata</m:t>
                      </m:r>
                      <m:r>
                        <m:rPr>
                          <m:nor/>
                        </m:rPr>
                        <a:rPr lang="it-IT" sz="160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838BC9A6-472C-3513-A31F-8A7406A0C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6651" y="2050474"/>
                <a:ext cx="6231234" cy="368627"/>
              </a:xfrm>
              <a:prstGeom prst="rect">
                <a:avLst/>
              </a:prstGeom>
              <a:blipFill>
                <a:blip r:embed="rId7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95203CD5-334E-D9C8-7063-30D417FB4AB0}"/>
              </a:ext>
            </a:extLst>
          </p:cNvPr>
          <p:cNvCxnSpPr>
            <a:cxnSpLocks/>
          </p:cNvCxnSpPr>
          <p:nvPr/>
        </p:nvCxnSpPr>
        <p:spPr>
          <a:xfrm>
            <a:off x="234629" y="2596944"/>
            <a:ext cx="8482651" cy="0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D78F4027-2280-8CB2-175E-11FFAB155484}"/>
                  </a:ext>
                </a:extLst>
              </p:cNvPr>
              <p:cNvSpPr txBox="1"/>
              <p:nvPr/>
            </p:nvSpPr>
            <p:spPr>
              <a:xfrm>
                <a:off x="251147" y="3597694"/>
                <a:ext cx="2635242" cy="363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it-IT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it-IT" sz="1400" i="1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it-IT" sz="1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sz="1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it-IT" sz="1400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  <m:sup>
                                <m:r>
                                  <a:rPr lang="it-IT" sz="1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m:rPr>
                                <m:nor/>
                              </m:rPr>
                              <a:rPr lang="it-IT" sz="1400">
                                <a:latin typeface="Cambria Math" panose="02040503050406030204" pitchFamily="18" charset="0"/>
                              </a:rPr>
                              <m:t>sign</m:t>
                            </m:r>
                            <m:d>
                              <m:dPr>
                                <m:ctrlPr>
                                  <a:rPr lang="it-IT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it-IT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sz="14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p>
                                        <m:r>
                                          <a:rPr lang="it-IT" sz="1400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it-IT" sz="1400" i="1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it-IT" sz="1400" dirty="0"/>
                  <a:t> 1</a:t>
                </a:r>
                <a:endParaRPr lang="it-IT" dirty="0"/>
              </a:p>
            </p:txBody>
          </p:sp>
        </mc:Choice>
        <mc:Fallback xmlns=""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D78F4027-2280-8CB2-175E-11FFAB155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47" y="3597694"/>
                <a:ext cx="2635242" cy="363561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 3">
            <a:extLst>
              <a:ext uri="{FF2B5EF4-FFF2-40B4-BE49-F238E27FC236}">
                <a16:creationId xmlns:a16="http://schemas.microsoft.com/office/drawing/2014/main" id="{4E577D23-E6D0-8413-0739-6F89D362704A}"/>
              </a:ext>
            </a:extLst>
          </p:cNvPr>
          <p:cNvSpPr/>
          <p:nvPr/>
        </p:nvSpPr>
        <p:spPr>
          <a:xfrm>
            <a:off x="251147" y="2666377"/>
            <a:ext cx="28167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Semplificazione</a:t>
            </a:r>
            <a:r>
              <a:rPr lang="en-US" sz="20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Analitica</a:t>
            </a:r>
            <a:endParaRPr lang="en-US" sz="2000" dirty="0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A39ABAB6-3043-D213-CC6F-86BCB7AD326B}"/>
              </a:ext>
            </a:extLst>
          </p:cNvPr>
          <p:cNvSpPr txBox="1"/>
          <p:nvPr/>
        </p:nvSpPr>
        <p:spPr>
          <a:xfrm>
            <a:off x="391354" y="3147979"/>
            <a:ext cx="19312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Condizione teorica</a:t>
            </a:r>
          </a:p>
        </p:txBody>
      </p: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18A712F1-ED08-88AD-2B68-E40010E4CDB3}"/>
              </a:ext>
            </a:extLst>
          </p:cNvPr>
          <p:cNvGrpSpPr/>
          <p:nvPr/>
        </p:nvGrpSpPr>
        <p:grpSpPr>
          <a:xfrm>
            <a:off x="2899926" y="3362197"/>
            <a:ext cx="3016157" cy="1052912"/>
            <a:chOff x="2592163" y="3287929"/>
            <a:chExt cx="3016157" cy="10529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asellaDiTesto 42">
                  <a:extLst>
                    <a:ext uri="{FF2B5EF4-FFF2-40B4-BE49-F238E27FC236}">
                      <a16:creationId xmlns:a16="http://schemas.microsoft.com/office/drawing/2014/main" id="{5C9EBD01-61EB-DA58-A582-6D9E12D94CBD}"/>
                    </a:ext>
                  </a:extLst>
                </p:cNvPr>
                <p:cNvSpPr txBox="1"/>
                <p:nvPr/>
              </p:nvSpPr>
              <p:spPr>
                <a:xfrm>
                  <a:off x="2592163" y="3287929"/>
                  <a:ext cx="3016157" cy="3097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it-IT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4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a14:m>
                  <a:r>
                    <a:rPr lang="it-IT" sz="1400" dirty="0"/>
                    <a:t> 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it-IT" sz="1400" dirty="0"/>
                    <a:t> indipendenti)</a:t>
                  </a:r>
                  <a:endParaRPr lang="it-IT" sz="1600" dirty="0"/>
                </a:p>
              </p:txBody>
            </p:sp>
          </mc:Choice>
          <mc:Fallback xmlns="">
            <p:sp>
              <p:nvSpPr>
                <p:cNvPr id="43" name="CasellaDiTesto 42">
                  <a:extLst>
                    <a:ext uri="{FF2B5EF4-FFF2-40B4-BE49-F238E27FC236}">
                      <a16:creationId xmlns:a16="http://schemas.microsoft.com/office/drawing/2014/main" id="{5C9EBD01-61EB-DA58-A582-6D9E12D94C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2163" y="3287929"/>
                  <a:ext cx="3016157" cy="309765"/>
                </a:xfrm>
                <a:prstGeom prst="rect">
                  <a:avLst/>
                </a:prstGeom>
                <a:blipFill>
                  <a:blip r:embed="rId9"/>
                  <a:stretch>
                    <a:fillRect t="-2000" b="-2200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CasellaDiTesto 51">
                  <a:extLst>
                    <a:ext uri="{FF2B5EF4-FFF2-40B4-BE49-F238E27FC236}">
                      <a16:creationId xmlns:a16="http://schemas.microsoft.com/office/drawing/2014/main" id="{1E098761-EB62-40D7-6817-23667A67D781}"/>
                    </a:ext>
                  </a:extLst>
                </p:cNvPr>
                <p:cNvSpPr txBox="1"/>
                <p:nvPr/>
              </p:nvSpPr>
              <p:spPr>
                <a:xfrm>
                  <a:off x="2592163" y="3652889"/>
                  <a:ext cx="301615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it-IT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a14:m>
                  <a:r>
                    <a:rPr lang="it-IT" sz="1400" dirty="0"/>
                    <a:t> (Correlazione con le vere)</a:t>
                  </a:r>
                  <a:endParaRPr lang="it-IT" dirty="0"/>
                </a:p>
              </p:txBody>
            </p:sp>
          </mc:Choice>
          <mc:Fallback xmlns="">
            <p:sp>
              <p:nvSpPr>
                <p:cNvPr id="52" name="CasellaDiTesto 51">
                  <a:extLst>
                    <a:ext uri="{FF2B5EF4-FFF2-40B4-BE49-F238E27FC236}">
                      <a16:creationId xmlns:a16="http://schemas.microsoft.com/office/drawing/2014/main" id="{1E098761-EB62-40D7-6817-23667A67D7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2163" y="3652889"/>
                  <a:ext cx="3016157" cy="307777"/>
                </a:xfrm>
                <a:prstGeom prst="rect">
                  <a:avLst/>
                </a:prstGeom>
                <a:blipFill>
                  <a:blip r:embed="rId10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asellaDiTesto 53">
                  <a:extLst>
                    <a:ext uri="{FF2B5EF4-FFF2-40B4-BE49-F238E27FC236}">
                      <a16:creationId xmlns:a16="http://schemas.microsoft.com/office/drawing/2014/main" id="{50BAEC30-E28C-A961-3287-12130EA8658A}"/>
                    </a:ext>
                  </a:extLst>
                </p:cNvPr>
                <p:cNvSpPr txBox="1"/>
                <p:nvPr/>
              </p:nvSpPr>
              <p:spPr>
                <a:xfrm>
                  <a:off x="2592163" y="4033064"/>
                  <a:ext cx="301615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it-IT" sz="1400" i="0" smtClean="0">
                          <a:latin typeface="Cambria Math" panose="02040503050406030204" pitchFamily="18" charset="0"/>
                        </a:rPr>
                        <m:t>sign</m:t>
                      </m:r>
                      <m:d>
                        <m:d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it-IT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it-IT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  <m:r>
                        <a:rPr lang="it-IT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</m:oMath>
                  </a14:m>
                  <a:r>
                    <a:rPr lang="it-IT" sz="1400" dirty="0"/>
                    <a:t> (segni positivi)</a:t>
                  </a:r>
                </a:p>
              </p:txBody>
            </p:sp>
          </mc:Choice>
          <mc:Fallback xmlns="">
            <p:sp>
              <p:nvSpPr>
                <p:cNvPr id="54" name="CasellaDiTesto 53">
                  <a:extLst>
                    <a:ext uri="{FF2B5EF4-FFF2-40B4-BE49-F238E27FC236}">
                      <a16:creationId xmlns:a16="http://schemas.microsoft.com/office/drawing/2014/main" id="{50BAEC30-E28C-A961-3287-12130EA865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2163" y="4033064"/>
                  <a:ext cx="3016157" cy="307777"/>
                </a:xfrm>
                <a:prstGeom prst="rect">
                  <a:avLst/>
                </a:prstGeom>
                <a:blipFill>
                  <a:blip r:embed="rId11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E9E0BF34-0560-EE26-787E-00AA95EF8D57}"/>
              </a:ext>
            </a:extLst>
          </p:cNvPr>
          <p:cNvSpPr txBox="1"/>
          <p:nvPr/>
        </p:nvSpPr>
        <p:spPr>
          <a:xfrm>
            <a:off x="7091661" y="3259140"/>
            <a:ext cx="19312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Risultato</a:t>
            </a:r>
            <a:endParaRPr lang="it-IT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asellaDiTesto 57">
                <a:extLst>
                  <a:ext uri="{FF2B5EF4-FFF2-40B4-BE49-F238E27FC236}">
                    <a16:creationId xmlns:a16="http://schemas.microsoft.com/office/drawing/2014/main" id="{21CACC00-2389-2A56-2297-8D8B059A9919}"/>
                  </a:ext>
                </a:extLst>
              </p:cNvPr>
              <p:cNvSpPr txBox="1"/>
              <p:nvPr/>
            </p:nvSpPr>
            <p:spPr>
              <a:xfrm>
                <a:off x="6540570" y="3640133"/>
                <a:ext cx="2176710" cy="501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it-IT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it-IT" sz="16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it-IT" sz="16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it-IT" sz="1600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it-IT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it-IT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it-IT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it-IT" sz="1600" b="1" dirty="0">
                    <a:solidFill>
                      <a:schemeClr val="tx1"/>
                    </a:solidFill>
                  </a:rPr>
                  <a:t> &lt; 1</a:t>
                </a:r>
                <a:endParaRPr lang="it-IT" sz="1600" b="1" dirty="0"/>
              </a:p>
            </p:txBody>
          </p:sp>
        </mc:Choice>
        <mc:Fallback xmlns="">
          <p:sp>
            <p:nvSpPr>
              <p:cNvPr id="58" name="CasellaDiTesto 57">
                <a:extLst>
                  <a:ext uri="{FF2B5EF4-FFF2-40B4-BE49-F238E27FC236}">
                    <a16:creationId xmlns:a16="http://schemas.microsoft.com/office/drawing/2014/main" id="{21CACC00-2389-2A56-2297-8D8B059A9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570" y="3640133"/>
                <a:ext cx="2176710" cy="501356"/>
              </a:xfrm>
              <a:prstGeom prst="rect">
                <a:avLst/>
              </a:prstGeom>
              <a:blipFill>
                <a:blip r:embed="rId12"/>
                <a:stretch>
                  <a:fillRect r="-840" b="-36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CF33B34C-D1EA-9CA7-6309-5EE402E4F88C}"/>
              </a:ext>
            </a:extLst>
          </p:cNvPr>
          <p:cNvSpPr txBox="1"/>
          <p:nvPr/>
        </p:nvSpPr>
        <p:spPr>
          <a:xfrm>
            <a:off x="3338022" y="3016936"/>
            <a:ext cx="20699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Sostituzione blocchi</a:t>
            </a:r>
          </a:p>
        </p:txBody>
      </p:sp>
      <p:sp>
        <p:nvSpPr>
          <p:cNvPr id="72" name="Freccia a destra 71">
            <a:extLst>
              <a:ext uri="{FF2B5EF4-FFF2-40B4-BE49-F238E27FC236}">
                <a16:creationId xmlns:a16="http://schemas.microsoft.com/office/drawing/2014/main" id="{10B7958A-2A21-C705-4B4C-C3054007AEDE}"/>
              </a:ext>
            </a:extLst>
          </p:cNvPr>
          <p:cNvSpPr/>
          <p:nvPr/>
        </p:nvSpPr>
        <p:spPr>
          <a:xfrm>
            <a:off x="5979275" y="3768790"/>
            <a:ext cx="367123" cy="2245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4" name="Freccia a destra 73">
            <a:extLst>
              <a:ext uri="{FF2B5EF4-FFF2-40B4-BE49-F238E27FC236}">
                <a16:creationId xmlns:a16="http://schemas.microsoft.com/office/drawing/2014/main" id="{E6CE3E5D-1009-B81C-3674-7C01F8DABFA8}"/>
              </a:ext>
            </a:extLst>
          </p:cNvPr>
          <p:cNvSpPr/>
          <p:nvPr/>
        </p:nvSpPr>
        <p:spPr>
          <a:xfrm>
            <a:off x="2401824" y="3727157"/>
            <a:ext cx="367123" cy="2245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4713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83F3A-223C-4FFD-3380-55DFF0BD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>
            <a:extLst>
              <a:ext uri="{FF2B5EF4-FFF2-40B4-BE49-F238E27FC236}">
                <a16:creationId xmlns:a16="http://schemas.microsoft.com/office/drawing/2014/main" id="{43B012AA-5B62-CB2B-B759-DD31D3595D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>
            <a:extLst>
              <a:ext uri="{FF2B5EF4-FFF2-40B4-BE49-F238E27FC236}">
                <a16:creationId xmlns:a16="http://schemas.microsoft.com/office/drawing/2014/main" id="{1CCC4608-3BD0-0700-E7E8-49DDC398BC5F}"/>
              </a:ext>
            </a:extLst>
          </p:cNvPr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Esperimento 1 — L’effetto della violazione IC </a:t>
            </a:r>
          </a:p>
        </p:txBody>
      </p:sp>
      <p:sp>
        <p:nvSpPr>
          <p:cNvPr id="10" name="SetupBg">
            <a:extLst>
              <a:ext uri="{FF2B5EF4-FFF2-40B4-BE49-F238E27FC236}">
                <a16:creationId xmlns:a16="http://schemas.microsoft.com/office/drawing/2014/main" id="{D2EAC83E-B0DF-FDB3-A5B7-C7647DC53441}"/>
              </a:ext>
            </a:extLst>
          </p:cNvPr>
          <p:cNvSpPr/>
          <p:nvPr/>
        </p:nvSpPr>
        <p:spPr>
          <a:xfrm>
            <a:off x="182000" y="810000"/>
            <a:ext cx="8780000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SetupTxt">
            <a:extLst>
              <a:ext uri="{FF2B5EF4-FFF2-40B4-BE49-F238E27FC236}">
                <a16:creationId xmlns:a16="http://schemas.microsoft.com/office/drawing/2014/main" id="{8A6C1D28-4957-5078-B4EF-554916A4673F}"/>
              </a:ext>
            </a:extLst>
          </p:cNvPr>
          <p:cNvSpPr/>
          <p:nvPr/>
        </p:nvSpPr>
        <p:spPr>
          <a:xfrm>
            <a:off x="242000" y="810000"/>
            <a:ext cx="86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n=500, </a:t>
            </a:r>
            <a:r>
              <a:rPr lang="it-IT" sz="13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nsim</a:t>
            </a: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= 250, regola lambda.1se (CV) </a:t>
            </a:r>
          </a:p>
        </p:txBody>
      </p:sp>
      <p:sp>
        <p:nvSpPr>
          <p:cNvPr id="22" name="Arr0">
            <a:extLst>
              <a:ext uri="{FF2B5EF4-FFF2-40B4-BE49-F238E27FC236}">
                <a16:creationId xmlns:a16="http://schemas.microsoft.com/office/drawing/2014/main" id="{29BAD6EF-75D3-F5E8-0231-9AC8F6293C2A}"/>
              </a:ext>
            </a:extLst>
          </p:cNvPr>
          <p:cNvSpPr/>
          <p:nvPr/>
        </p:nvSpPr>
        <p:spPr>
          <a:xfrm>
            <a:off x="2327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VCTxt1">
            <a:extLst>
              <a:ext uri="{FF2B5EF4-FFF2-40B4-BE49-F238E27FC236}">
                <a16:creationId xmlns:a16="http://schemas.microsoft.com/office/drawing/2014/main" id="{A6DAE7DA-3296-34D6-382C-51E3DF19F987}"/>
              </a:ext>
            </a:extLst>
          </p:cNvPr>
          <p:cNvSpPr/>
          <p:nvPr/>
        </p:nvSpPr>
        <p:spPr>
          <a:xfrm>
            <a:off x="2397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cat5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(5 cat)</a:t>
            </a:r>
          </a:p>
        </p:txBody>
      </p:sp>
      <p:sp>
        <p:nvSpPr>
          <p:cNvPr id="27" name="Arr1">
            <a:extLst>
              <a:ext uri="{FF2B5EF4-FFF2-40B4-BE49-F238E27FC236}">
                <a16:creationId xmlns:a16="http://schemas.microsoft.com/office/drawing/2014/main" id="{6BE26101-4FFE-47ED-3B3F-49FA70DA9B31}"/>
              </a:ext>
            </a:extLst>
          </p:cNvPr>
          <p:cNvSpPr/>
          <p:nvPr/>
        </p:nvSpPr>
        <p:spPr>
          <a:xfrm>
            <a:off x="4542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VCTxt2">
            <a:extLst>
              <a:ext uri="{FF2B5EF4-FFF2-40B4-BE49-F238E27FC236}">
                <a16:creationId xmlns:a16="http://schemas.microsoft.com/office/drawing/2014/main" id="{1DE43079-6BCE-4D8F-B99C-B27672EE7826}"/>
              </a:ext>
            </a:extLst>
          </p:cNvPr>
          <p:cNvSpPr/>
          <p:nvPr/>
        </p:nvSpPr>
        <p:spPr>
          <a:xfrm>
            <a:off x="4612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cat15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(15 cat)</a:t>
            </a:r>
          </a:p>
        </p:txBody>
      </p:sp>
      <p:sp>
        <p:nvSpPr>
          <p:cNvPr id="32" name="Arr2">
            <a:extLst>
              <a:ext uri="{FF2B5EF4-FFF2-40B4-BE49-F238E27FC236}">
                <a16:creationId xmlns:a16="http://schemas.microsoft.com/office/drawing/2014/main" id="{3634995F-7611-7F23-A19C-FD9824B03107}"/>
              </a:ext>
            </a:extLst>
          </p:cNvPr>
          <p:cNvSpPr/>
          <p:nvPr/>
        </p:nvSpPr>
        <p:spPr>
          <a:xfrm>
            <a:off x="6757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VCTxt3">
            <a:extLst>
              <a:ext uri="{FF2B5EF4-FFF2-40B4-BE49-F238E27FC236}">
                <a16:creationId xmlns:a16="http://schemas.microsoft.com/office/drawing/2014/main" id="{B370BA28-BE68-58AB-A6D5-3A3BEA923F7E}"/>
              </a:ext>
            </a:extLst>
          </p:cNvPr>
          <p:cNvSpPr/>
          <p:nvPr/>
        </p:nvSpPr>
        <p:spPr>
          <a:xfrm>
            <a:off x="6827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cont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(continua)</a:t>
            </a:r>
          </a:p>
        </p:txBody>
      </p:sp>
      <p:sp>
        <p:nvSpPr>
          <p:cNvPr id="5" name="Text 29">
            <a:extLst>
              <a:ext uri="{FF2B5EF4-FFF2-40B4-BE49-F238E27FC236}">
                <a16:creationId xmlns:a16="http://schemas.microsoft.com/office/drawing/2014/main" id="{1FF86554-45FC-76D2-A2A3-CD9F49C6ABF8}"/>
              </a:ext>
            </a:extLst>
          </p:cNvPr>
          <p:cNvSpPr/>
          <p:nvPr/>
        </p:nvSpPr>
        <p:spPr>
          <a:xfrm>
            <a:off x="181758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6/14</a:t>
            </a:r>
            <a:endParaRPr lang="en-US" sz="90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ED57BF0-E785-7280-E910-91FD8086B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048" y="1303535"/>
            <a:ext cx="4936843" cy="379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7600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C7292-C65A-B8F2-D036-E075E54C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>
            <a:extLst>
              <a:ext uri="{FF2B5EF4-FFF2-40B4-BE49-F238E27FC236}">
                <a16:creationId xmlns:a16="http://schemas.microsoft.com/office/drawing/2014/main" id="{6B8FC67D-6F0D-A4CE-39DC-46DB8F5137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>
            <a:extLst>
              <a:ext uri="{FF2B5EF4-FFF2-40B4-BE49-F238E27FC236}">
                <a16:creationId xmlns:a16="http://schemas.microsoft.com/office/drawing/2014/main" id="{CCB16B66-5539-67F2-C313-0F5411BD0F28}"/>
              </a:ext>
            </a:extLst>
          </p:cNvPr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Esperimento 2 — Perché il Lasso fallisce </a:t>
            </a:r>
          </a:p>
        </p:txBody>
      </p:sp>
      <p:sp>
        <p:nvSpPr>
          <p:cNvPr id="10" name="SetupBg">
            <a:extLst>
              <a:ext uri="{FF2B5EF4-FFF2-40B4-BE49-F238E27FC236}">
                <a16:creationId xmlns:a16="http://schemas.microsoft.com/office/drawing/2014/main" id="{37C87C10-4327-2D6C-A601-0DB3BE58818A}"/>
              </a:ext>
            </a:extLst>
          </p:cNvPr>
          <p:cNvSpPr/>
          <p:nvPr/>
        </p:nvSpPr>
        <p:spPr>
          <a:xfrm>
            <a:off x="182000" y="810000"/>
            <a:ext cx="8780000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SetupTxt">
            <a:extLst>
              <a:ext uri="{FF2B5EF4-FFF2-40B4-BE49-F238E27FC236}">
                <a16:creationId xmlns:a16="http://schemas.microsoft.com/office/drawing/2014/main" id="{D62A9439-C786-207E-FA48-D9ECD26ADE48}"/>
              </a:ext>
            </a:extLst>
          </p:cNvPr>
          <p:cNvSpPr/>
          <p:nvPr/>
        </p:nvSpPr>
        <p:spPr>
          <a:xfrm>
            <a:off x="242000" y="810000"/>
            <a:ext cx="86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 = 500, </a:t>
            </a:r>
            <a:r>
              <a:rPr lang="it-IT" sz="13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nsim</a:t>
            </a: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= 250, regola lambda.1se (CV) </a:t>
            </a:r>
          </a:p>
        </p:txBody>
      </p:sp>
      <p:sp>
        <p:nvSpPr>
          <p:cNvPr id="22" name="Arr0">
            <a:extLst>
              <a:ext uri="{FF2B5EF4-FFF2-40B4-BE49-F238E27FC236}">
                <a16:creationId xmlns:a16="http://schemas.microsoft.com/office/drawing/2014/main" id="{E87FE4D8-33BC-EB1D-13D9-D560B493A2F7}"/>
              </a:ext>
            </a:extLst>
          </p:cNvPr>
          <p:cNvSpPr/>
          <p:nvPr/>
        </p:nvSpPr>
        <p:spPr>
          <a:xfrm>
            <a:off x="2327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VCTxt1">
            <a:extLst>
              <a:ext uri="{FF2B5EF4-FFF2-40B4-BE49-F238E27FC236}">
                <a16:creationId xmlns:a16="http://schemas.microsoft.com/office/drawing/2014/main" id="{5941C749-1443-C169-BF4B-6E6402F32627}"/>
              </a:ext>
            </a:extLst>
          </p:cNvPr>
          <p:cNvSpPr/>
          <p:nvPr/>
        </p:nvSpPr>
        <p:spPr>
          <a:xfrm>
            <a:off x="2397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cat5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(5 cat)</a:t>
            </a:r>
          </a:p>
        </p:txBody>
      </p:sp>
      <p:sp>
        <p:nvSpPr>
          <p:cNvPr id="27" name="Arr1">
            <a:extLst>
              <a:ext uri="{FF2B5EF4-FFF2-40B4-BE49-F238E27FC236}">
                <a16:creationId xmlns:a16="http://schemas.microsoft.com/office/drawing/2014/main" id="{422774CA-99D2-C0BB-B47B-4B3172956C05}"/>
              </a:ext>
            </a:extLst>
          </p:cNvPr>
          <p:cNvSpPr/>
          <p:nvPr/>
        </p:nvSpPr>
        <p:spPr>
          <a:xfrm>
            <a:off x="4542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VCTxt2">
            <a:extLst>
              <a:ext uri="{FF2B5EF4-FFF2-40B4-BE49-F238E27FC236}">
                <a16:creationId xmlns:a16="http://schemas.microsoft.com/office/drawing/2014/main" id="{D19795FE-9553-0DF4-D6D1-421A145F7C43}"/>
              </a:ext>
            </a:extLst>
          </p:cNvPr>
          <p:cNvSpPr/>
          <p:nvPr/>
        </p:nvSpPr>
        <p:spPr>
          <a:xfrm>
            <a:off x="4612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cat15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(15 cat)</a:t>
            </a:r>
          </a:p>
        </p:txBody>
      </p:sp>
      <p:sp>
        <p:nvSpPr>
          <p:cNvPr id="32" name="Arr2">
            <a:extLst>
              <a:ext uri="{FF2B5EF4-FFF2-40B4-BE49-F238E27FC236}">
                <a16:creationId xmlns:a16="http://schemas.microsoft.com/office/drawing/2014/main" id="{FBDA6A97-4A68-DEE5-29B5-40AD3C66BAC7}"/>
              </a:ext>
            </a:extLst>
          </p:cNvPr>
          <p:cNvSpPr/>
          <p:nvPr/>
        </p:nvSpPr>
        <p:spPr>
          <a:xfrm>
            <a:off x="6757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VCTxt3">
            <a:extLst>
              <a:ext uri="{FF2B5EF4-FFF2-40B4-BE49-F238E27FC236}">
                <a16:creationId xmlns:a16="http://schemas.microsoft.com/office/drawing/2014/main" id="{F9E8577A-5CEE-D6AB-0127-2E7EB24E678D}"/>
              </a:ext>
            </a:extLst>
          </p:cNvPr>
          <p:cNvSpPr/>
          <p:nvPr/>
        </p:nvSpPr>
        <p:spPr>
          <a:xfrm>
            <a:off x="6827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cont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(continua)</a:t>
            </a:r>
          </a:p>
        </p:txBody>
      </p:sp>
      <p:sp>
        <p:nvSpPr>
          <p:cNvPr id="5" name="Text 29">
            <a:extLst>
              <a:ext uri="{FF2B5EF4-FFF2-40B4-BE49-F238E27FC236}">
                <a16:creationId xmlns:a16="http://schemas.microsoft.com/office/drawing/2014/main" id="{97EB3EED-2CD2-D5D5-6CE9-5B425AB78133}"/>
              </a:ext>
            </a:extLst>
          </p:cNvPr>
          <p:cNvSpPr/>
          <p:nvPr/>
        </p:nvSpPr>
        <p:spPr>
          <a:xfrm>
            <a:off x="181758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7/14</a:t>
            </a:r>
            <a:endParaRPr lang="en-US" sz="90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44B6F30-484C-434A-76C0-84AC8038E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315" y="1326984"/>
            <a:ext cx="5239277" cy="370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391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C5480-CA5E-80D0-BDE8-F0B9850DA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>
            <a:extLst>
              <a:ext uri="{FF2B5EF4-FFF2-40B4-BE49-F238E27FC236}">
                <a16:creationId xmlns:a16="http://schemas.microsoft.com/office/drawing/2014/main" id="{83364A10-DA43-47E1-4FB1-46B0B2F6EA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>
            <a:extLst>
              <a:ext uri="{FF2B5EF4-FFF2-40B4-BE49-F238E27FC236}">
                <a16:creationId xmlns:a16="http://schemas.microsoft.com/office/drawing/2014/main" id="{3229B145-36B4-6B04-BEAC-62A5CC483150}"/>
              </a:ext>
            </a:extLst>
          </p:cNvPr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Esperimento 3 — La dimensione campionaria </a:t>
            </a:r>
          </a:p>
        </p:txBody>
      </p:sp>
      <p:sp>
        <p:nvSpPr>
          <p:cNvPr id="10" name="SetupBg">
            <a:extLst>
              <a:ext uri="{FF2B5EF4-FFF2-40B4-BE49-F238E27FC236}">
                <a16:creationId xmlns:a16="http://schemas.microsoft.com/office/drawing/2014/main" id="{39769C61-4926-9499-4EA0-8553053A1A22}"/>
              </a:ext>
            </a:extLst>
          </p:cNvPr>
          <p:cNvSpPr/>
          <p:nvPr/>
        </p:nvSpPr>
        <p:spPr>
          <a:xfrm>
            <a:off x="182000" y="810000"/>
            <a:ext cx="8780000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SetupTxt">
            <a:extLst>
              <a:ext uri="{FF2B5EF4-FFF2-40B4-BE49-F238E27FC236}">
                <a16:creationId xmlns:a16="http://schemas.microsoft.com/office/drawing/2014/main" id="{E5960CAA-C531-B8A7-DCFD-46AD8CBA9F70}"/>
              </a:ext>
            </a:extLst>
          </p:cNvPr>
          <p:cNvSpPr/>
          <p:nvPr/>
        </p:nvSpPr>
        <p:spPr>
          <a:xfrm>
            <a:off x="242000" y="810000"/>
            <a:ext cx="86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nsim</a:t>
            </a: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= 350, n crescente, regola </a:t>
            </a:r>
            <a:r>
              <a:rPr lang="it-IT" sz="13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lambda.min</a:t>
            </a: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(CV) </a:t>
            </a:r>
          </a:p>
        </p:txBody>
      </p:sp>
      <p:sp>
        <p:nvSpPr>
          <p:cNvPr id="22" name="Arr0">
            <a:extLst>
              <a:ext uri="{FF2B5EF4-FFF2-40B4-BE49-F238E27FC236}">
                <a16:creationId xmlns:a16="http://schemas.microsoft.com/office/drawing/2014/main" id="{FD5000BC-B05F-3E89-D8C6-7388D76485D4}"/>
              </a:ext>
            </a:extLst>
          </p:cNvPr>
          <p:cNvSpPr/>
          <p:nvPr/>
        </p:nvSpPr>
        <p:spPr>
          <a:xfrm>
            <a:off x="2327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VCTxt1">
            <a:extLst>
              <a:ext uri="{FF2B5EF4-FFF2-40B4-BE49-F238E27FC236}">
                <a16:creationId xmlns:a16="http://schemas.microsoft.com/office/drawing/2014/main" id="{8F4F0565-45D9-57BF-F810-A09760E07943}"/>
              </a:ext>
            </a:extLst>
          </p:cNvPr>
          <p:cNvSpPr/>
          <p:nvPr/>
        </p:nvSpPr>
        <p:spPr>
          <a:xfrm>
            <a:off x="2397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cat5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(5 cat)</a:t>
            </a:r>
          </a:p>
        </p:txBody>
      </p:sp>
      <p:sp>
        <p:nvSpPr>
          <p:cNvPr id="27" name="Arr1">
            <a:extLst>
              <a:ext uri="{FF2B5EF4-FFF2-40B4-BE49-F238E27FC236}">
                <a16:creationId xmlns:a16="http://schemas.microsoft.com/office/drawing/2014/main" id="{D91B594A-64DD-2DAC-DB16-3692206E9D69}"/>
              </a:ext>
            </a:extLst>
          </p:cNvPr>
          <p:cNvSpPr/>
          <p:nvPr/>
        </p:nvSpPr>
        <p:spPr>
          <a:xfrm>
            <a:off x="4542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VCTxt2">
            <a:extLst>
              <a:ext uri="{FF2B5EF4-FFF2-40B4-BE49-F238E27FC236}">
                <a16:creationId xmlns:a16="http://schemas.microsoft.com/office/drawing/2014/main" id="{77088469-7750-37F7-E1EF-45206B3CB5C1}"/>
              </a:ext>
            </a:extLst>
          </p:cNvPr>
          <p:cNvSpPr/>
          <p:nvPr/>
        </p:nvSpPr>
        <p:spPr>
          <a:xfrm>
            <a:off x="4612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cat15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(15 cat)</a:t>
            </a:r>
          </a:p>
        </p:txBody>
      </p:sp>
      <p:sp>
        <p:nvSpPr>
          <p:cNvPr id="32" name="Arr2">
            <a:extLst>
              <a:ext uri="{FF2B5EF4-FFF2-40B4-BE49-F238E27FC236}">
                <a16:creationId xmlns:a16="http://schemas.microsoft.com/office/drawing/2014/main" id="{9A8B57F6-4500-A0D1-9B4B-0ACB6AABB0B0}"/>
              </a:ext>
            </a:extLst>
          </p:cNvPr>
          <p:cNvSpPr/>
          <p:nvPr/>
        </p:nvSpPr>
        <p:spPr>
          <a:xfrm>
            <a:off x="6757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VCTxt3">
            <a:extLst>
              <a:ext uri="{FF2B5EF4-FFF2-40B4-BE49-F238E27FC236}">
                <a16:creationId xmlns:a16="http://schemas.microsoft.com/office/drawing/2014/main" id="{0F57C284-F1DC-0390-8A90-2944E8915B20}"/>
              </a:ext>
            </a:extLst>
          </p:cNvPr>
          <p:cNvSpPr/>
          <p:nvPr/>
        </p:nvSpPr>
        <p:spPr>
          <a:xfrm>
            <a:off x="6827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cont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(continua)</a:t>
            </a:r>
          </a:p>
        </p:txBody>
      </p:sp>
      <p:sp>
        <p:nvSpPr>
          <p:cNvPr id="5" name="Text 29">
            <a:extLst>
              <a:ext uri="{FF2B5EF4-FFF2-40B4-BE49-F238E27FC236}">
                <a16:creationId xmlns:a16="http://schemas.microsoft.com/office/drawing/2014/main" id="{91396533-B8CC-A90A-39E5-1B2FD90A2DBF}"/>
              </a:ext>
            </a:extLst>
          </p:cNvPr>
          <p:cNvSpPr/>
          <p:nvPr/>
        </p:nvSpPr>
        <p:spPr>
          <a:xfrm>
            <a:off x="181758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8/14</a:t>
            </a:r>
            <a:endParaRPr lang="en-US" sz="9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A929CEE-B7F0-4933-933B-EE2E62F1A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386" y="1326984"/>
            <a:ext cx="4724233" cy="365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4517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6">
            <a:extLst>
              <a:ext uri="{FF2B5EF4-FFF2-40B4-BE49-F238E27FC236}">
                <a16:creationId xmlns:a16="http://schemas.microsoft.com/office/drawing/2014/main" id="{FE69D547-D75D-BB4A-EB9E-D693BE1BD126}"/>
              </a:ext>
            </a:extLst>
          </p:cNvPr>
          <p:cNvSpPr/>
          <p:nvPr/>
        </p:nvSpPr>
        <p:spPr>
          <a:xfrm>
            <a:off x="291636" y="1660639"/>
            <a:ext cx="4098655" cy="563158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p:pic>
        <p:nvPicPr>
          <p:cNvPr id="90" name="Logo"/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/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Possibili Soluzioni: Cross </a:t>
            </a:r>
            <a:r>
              <a:rPr lang="it-IT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Validation</a:t>
            </a: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ed </a:t>
            </a:r>
            <a:r>
              <a:rPr lang="it-IT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Elastic</a:t>
            </a: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Net</a:t>
            </a:r>
          </a:p>
        </p:txBody>
      </p:sp>
      <p:sp>
        <p:nvSpPr>
          <p:cNvPr id="10" name="QBg"/>
          <p:cNvSpPr/>
          <p:nvPr/>
        </p:nvSpPr>
        <p:spPr>
          <a:xfrm>
            <a:off x="182000" y="820000"/>
            <a:ext cx="878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QTxt"/>
          <p:cNvSpPr/>
          <p:nvPr/>
        </p:nvSpPr>
        <p:spPr>
          <a:xfrm>
            <a:off x="182000" y="784828"/>
            <a:ext cx="86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800" b="1" dirty="0">
                <a:solidFill>
                  <a:srgbClr val="004180"/>
                </a:solidFill>
                <a:latin typeface="Calibri"/>
                <a:ea typeface="Calibri"/>
                <a:cs typeface="Calibri"/>
              </a:rPr>
              <a:t>Se non è possibile cambiare i dati che violano questa caratteristica cosa possiamo fare?</a:t>
            </a:r>
          </a:p>
        </p:txBody>
      </p:sp>
      <p:sp>
        <p:nvSpPr>
          <p:cNvPr id="22" name="CTxt0"/>
          <p:cNvSpPr/>
          <p:nvPr/>
        </p:nvSpPr>
        <p:spPr>
          <a:xfrm>
            <a:off x="937630" y="1267760"/>
            <a:ext cx="2806666" cy="41156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ctr">
              <a:buNone/>
            </a:pPr>
            <a:r>
              <a:rPr lang="it-IT" b="1" dirty="0">
                <a:solidFill>
                  <a:srgbClr val="004180"/>
                </a:solidFill>
                <a:latin typeface="Calibri"/>
                <a:ea typeface="Calibri"/>
                <a:cs typeface="Calibri"/>
              </a:rPr>
              <a:t>Cross </a:t>
            </a:r>
            <a:r>
              <a:rPr lang="it-IT" b="1" dirty="0" err="1">
                <a:solidFill>
                  <a:srgbClr val="004180"/>
                </a:solidFill>
                <a:latin typeface="Calibri"/>
                <a:ea typeface="Calibri"/>
                <a:cs typeface="Calibri"/>
              </a:rPr>
              <a:t>Validation</a:t>
            </a:r>
            <a:r>
              <a:rPr lang="it-IT" b="1" dirty="0">
                <a:solidFill>
                  <a:srgbClr val="004180"/>
                </a:solidFill>
                <a:latin typeface="Calibri"/>
                <a:ea typeface="Calibri"/>
                <a:cs typeface="Calibri"/>
              </a:rPr>
              <a:t> </a:t>
            </a:r>
            <a:endParaRPr lang="it-IT" sz="1300" b="1" dirty="0">
              <a:solidFill>
                <a:srgbClr val="004180"/>
              </a:solidFill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F3B16B9F-3537-4567-BDA3-415C0EFE7B5F}"/>
                  </a:ext>
                </a:extLst>
              </p:cNvPr>
              <p:cNvSpPr txBox="1"/>
              <p:nvPr/>
            </p:nvSpPr>
            <p:spPr>
              <a:xfrm>
                <a:off x="291635" y="2297706"/>
                <a:ext cx="4098655" cy="2492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200" b="1" dirty="0"/>
                  <a:t>Delega</a:t>
                </a:r>
                <a:r>
                  <a:rPr lang="it-IT" sz="1200" dirty="0"/>
                  <a:t> la scelta del parametro </a:t>
                </a:r>
                <a14:m>
                  <m:oMath xmlns:m="http://schemas.openxmlformats.org/officeDocument/2006/math">
                    <m:r>
                      <a:rPr lang="it-IT" sz="12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200" dirty="0"/>
                  <a:t>ai </a:t>
                </a:r>
                <a:r>
                  <a:rPr lang="it-IT" sz="1200" b="1" dirty="0"/>
                  <a:t>dati</a:t>
                </a:r>
                <a:r>
                  <a:rPr lang="it-IT" sz="1200" dirty="0"/>
                  <a:t>, </a:t>
                </a:r>
                <a:r>
                  <a:rPr lang="it-IT" sz="1200" b="1" dirty="0"/>
                  <a:t>minimizzando</a:t>
                </a:r>
                <a:r>
                  <a:rPr lang="it-IT" sz="1200" dirty="0"/>
                  <a:t> </a:t>
                </a:r>
                <a:r>
                  <a:rPr lang="it-IT" sz="1200" b="1" dirty="0"/>
                  <a:t>l'errore</a:t>
                </a:r>
                <a:r>
                  <a:rPr lang="it-IT" sz="1200" dirty="0"/>
                  <a:t> di predizione.</a:t>
                </a:r>
              </a:p>
              <a:p>
                <a:endParaRPr lang="it-IT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200" dirty="0"/>
                  <a:t>Trovare il giusto equilibrio ("</a:t>
                </a:r>
                <a:r>
                  <a:rPr lang="it-IT" sz="1200" b="1" dirty="0"/>
                  <a:t>trade-off</a:t>
                </a:r>
                <a:r>
                  <a:rPr lang="it-IT" sz="1200" dirty="0"/>
                  <a:t>") tra </a:t>
                </a:r>
                <a:r>
                  <a:rPr lang="it-IT" sz="1200" b="1" dirty="0" err="1"/>
                  <a:t>bias</a:t>
                </a:r>
                <a:r>
                  <a:rPr lang="it-IT" sz="1200" dirty="0"/>
                  <a:t> e </a:t>
                </a:r>
                <a:r>
                  <a:rPr lang="it-IT" sz="1200" b="1" dirty="0"/>
                  <a:t>varianza</a:t>
                </a:r>
                <a:r>
                  <a:rPr lang="it-IT" sz="1200" dirty="0"/>
                  <a:t> in modo oggettivo, senza dover indovinare il parametro di regolarizzazione.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2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200" b="1" dirty="0"/>
                  <a:t>Suddivide</a:t>
                </a:r>
                <a:r>
                  <a:rPr lang="it-IT" sz="1200" dirty="0"/>
                  <a:t> il dataset, </a:t>
                </a:r>
                <a:r>
                  <a:rPr lang="it-IT" sz="1200" b="1" dirty="0"/>
                  <a:t>addestra</a:t>
                </a:r>
                <a:r>
                  <a:rPr lang="it-IT" sz="1200" dirty="0"/>
                  <a:t> il modello </a:t>
                </a:r>
                <a:r>
                  <a:rPr lang="it-IT" sz="1200" b="1" dirty="0"/>
                  <a:t>su una parte</a:t>
                </a:r>
                <a:r>
                  <a:rPr lang="it-IT" sz="1200" dirty="0"/>
                  <a:t> e ne </a:t>
                </a:r>
                <a:r>
                  <a:rPr lang="it-IT" sz="1200" b="1" dirty="0"/>
                  <a:t>testa</a:t>
                </a:r>
                <a:r>
                  <a:rPr lang="it-IT" sz="1200" dirty="0"/>
                  <a:t> le capacità predittive </a:t>
                </a:r>
                <a:r>
                  <a:rPr lang="it-IT" sz="1200" b="1" dirty="0"/>
                  <a:t>sull'altra</a:t>
                </a:r>
                <a:r>
                  <a:rPr lang="it-IT" sz="1200" dirty="0"/>
                  <a:t> per trovare il </a:t>
                </a:r>
                <a14:m>
                  <m:oMath xmlns:m="http://schemas.openxmlformats.org/officeDocument/2006/math">
                    <m:r>
                      <a:rPr lang="it-IT" sz="12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12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200" dirty="0"/>
                  <a:t>che generalizza meglio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200" b="1" dirty="0">
                    <a:solidFill>
                      <a:srgbClr val="004180"/>
                    </a:solidFill>
                  </a:rPr>
                  <a:t>Aspettativa</a:t>
                </a:r>
                <a:r>
                  <a:rPr lang="it-IT" sz="1200" dirty="0">
                    <a:solidFill>
                      <a:srgbClr val="004180"/>
                    </a:solidFill>
                  </a:rPr>
                  <a:t>: </a:t>
                </a:r>
                <a:r>
                  <a:rPr lang="it-IT" sz="1200" i="1" dirty="0">
                    <a:solidFill>
                      <a:srgbClr val="004180"/>
                    </a:solidFill>
                  </a:rPr>
                  <a:t>La CV sceglierà un </a:t>
                </a:r>
                <a14:m>
                  <m:oMath xmlns:m="http://schemas.openxmlformats.org/officeDocument/2006/math">
                    <m:r>
                      <a:rPr lang="it-IT" sz="1200" b="1" i="1">
                        <a:solidFill>
                          <a:srgbClr val="00418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it-IT" sz="1200" b="1" i="1">
                        <a:solidFill>
                          <a:srgbClr val="00418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200" i="1" dirty="0">
                    <a:solidFill>
                      <a:srgbClr val="004180"/>
                    </a:solidFill>
                  </a:rPr>
                  <a:t>abbastanza severo da azzerare il rumore pur trattenendo il segnale causale.</a:t>
                </a: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F3B16B9F-3537-4567-BDA3-415C0EFE7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35" y="2297706"/>
                <a:ext cx="4098655" cy="2492990"/>
              </a:xfrm>
              <a:prstGeom prst="rect">
                <a:avLst/>
              </a:prstGeom>
              <a:blipFill>
                <a:blip r:embed="rId4"/>
                <a:stretch>
                  <a:fillRect t="-244" r="-893" b="-9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F6F69BAD-A95A-DA30-769E-FF4E62A0D183}"/>
              </a:ext>
            </a:extLst>
          </p:cNvPr>
          <p:cNvCxnSpPr>
            <a:cxnSpLocks/>
          </p:cNvCxnSpPr>
          <p:nvPr/>
        </p:nvCxnSpPr>
        <p:spPr>
          <a:xfrm>
            <a:off x="4588144" y="1267783"/>
            <a:ext cx="0" cy="3517026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Shape 6">
            <a:extLst>
              <a:ext uri="{FF2B5EF4-FFF2-40B4-BE49-F238E27FC236}">
                <a16:creationId xmlns:a16="http://schemas.microsoft.com/office/drawing/2014/main" id="{E56E0C87-5AFC-7335-B856-E5BC326BD1C2}"/>
              </a:ext>
            </a:extLst>
          </p:cNvPr>
          <p:cNvSpPr/>
          <p:nvPr/>
        </p:nvSpPr>
        <p:spPr>
          <a:xfrm>
            <a:off x="4769853" y="1666505"/>
            <a:ext cx="4022455" cy="563158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p:sp>
        <p:nvSpPr>
          <p:cNvPr id="17" name="CTxt0">
            <a:extLst>
              <a:ext uri="{FF2B5EF4-FFF2-40B4-BE49-F238E27FC236}">
                <a16:creationId xmlns:a16="http://schemas.microsoft.com/office/drawing/2014/main" id="{32E99013-2908-AF38-C50D-72C704B3BE18}"/>
              </a:ext>
            </a:extLst>
          </p:cNvPr>
          <p:cNvSpPr/>
          <p:nvPr/>
        </p:nvSpPr>
        <p:spPr>
          <a:xfrm>
            <a:off x="5312303" y="1246802"/>
            <a:ext cx="2806666" cy="41156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ctr">
              <a:buNone/>
            </a:pPr>
            <a:r>
              <a:rPr lang="it-IT" b="1" dirty="0" err="1">
                <a:solidFill>
                  <a:srgbClr val="004180"/>
                </a:solidFill>
                <a:latin typeface="Calibri"/>
                <a:ea typeface="Calibri"/>
                <a:cs typeface="Calibri"/>
              </a:rPr>
              <a:t>Elastic</a:t>
            </a:r>
            <a:r>
              <a:rPr lang="it-IT" b="1" dirty="0">
                <a:solidFill>
                  <a:srgbClr val="004180"/>
                </a:solidFill>
                <a:latin typeface="Calibri"/>
                <a:ea typeface="Calibri"/>
                <a:cs typeface="Calibri"/>
              </a:rPr>
              <a:t> Net</a:t>
            </a:r>
            <a:endParaRPr lang="it-IT" sz="1300" b="1" dirty="0">
              <a:solidFill>
                <a:srgbClr val="004180"/>
              </a:solidFill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3A4AE563-B5C1-5211-DA69-B3E0CAA1747E}"/>
                  </a:ext>
                </a:extLst>
              </p:cNvPr>
              <p:cNvSpPr txBox="1"/>
              <p:nvPr/>
            </p:nvSpPr>
            <p:spPr>
              <a:xfrm>
                <a:off x="4769853" y="2294373"/>
                <a:ext cx="4022455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200" dirty="0"/>
                  <a:t>Aggiunge una </a:t>
                </a:r>
                <a:r>
                  <a:rPr lang="it-IT" sz="1200" b="1" dirty="0"/>
                  <a:t>penalità L</a:t>
                </a:r>
                <a:r>
                  <a:rPr lang="it-IT" sz="1200" b="1" baseline="-25000" dirty="0"/>
                  <a:t>2</a:t>
                </a:r>
                <a:r>
                  <a:rPr lang="it-IT" sz="1200" b="1" dirty="0"/>
                  <a:t> </a:t>
                </a:r>
                <a:r>
                  <a:rPr lang="it-IT" sz="1200" dirty="0"/>
                  <a:t>al Lasso per gestire la forte </a:t>
                </a:r>
                <a:r>
                  <a:rPr lang="it-IT" sz="1200" b="1" dirty="0" err="1"/>
                  <a:t>collinearità</a:t>
                </a:r>
                <a:endParaRPr lang="it-IT" sz="1200" b="1" dirty="0"/>
              </a:p>
              <a:p>
                <a:endParaRPr lang="it-IT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200" dirty="0"/>
                  <a:t>Invece di selezionare una </a:t>
                </a:r>
                <a:r>
                  <a:rPr lang="it-IT" sz="1200" b="1" dirty="0"/>
                  <a:t>sola variabile</a:t>
                </a:r>
                <a:r>
                  <a:rPr lang="it-IT" sz="1200" dirty="0"/>
                  <a:t> a caso tra quelle correlate, tende a </a:t>
                </a:r>
                <a:r>
                  <a:rPr lang="it-IT" sz="1200" b="1" dirty="0"/>
                  <a:t>includerle</a:t>
                </a:r>
                <a:r>
                  <a:rPr lang="it-IT" sz="1200" dirty="0"/>
                  <a:t> o escluderle tutte in </a:t>
                </a:r>
                <a:r>
                  <a:rPr lang="it-IT" sz="1200" b="1" dirty="0"/>
                  <a:t>blocco</a:t>
                </a:r>
                <a:r>
                  <a:rPr lang="it-IT" sz="1200" dirty="0"/>
                  <a:t> (</a:t>
                </a:r>
                <a:r>
                  <a:rPr lang="it-IT" sz="1200" b="1" dirty="0" err="1"/>
                  <a:t>Grouping</a:t>
                </a:r>
                <a:r>
                  <a:rPr lang="it-IT" sz="1200" b="1" dirty="0"/>
                  <a:t> </a:t>
                </a:r>
                <a:r>
                  <a:rPr lang="it-IT" sz="1200" b="1" dirty="0" err="1"/>
                  <a:t>Effect</a:t>
                </a:r>
                <a:r>
                  <a:rPr lang="it-IT" sz="12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200" dirty="0"/>
                  <a:t>Superare l'instabilità del Lasso quando le variabili sono altamente correlate tra loro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200" b="1" dirty="0">
                    <a:solidFill>
                      <a:srgbClr val="004180"/>
                    </a:solidFill>
                  </a:rPr>
                  <a:t>Aspettativa</a:t>
                </a:r>
                <a:r>
                  <a:rPr lang="it-IT" sz="1200" dirty="0">
                    <a:solidFill>
                      <a:srgbClr val="004180"/>
                    </a:solidFill>
                  </a:rPr>
                  <a:t>: </a:t>
                </a:r>
                <a:r>
                  <a:rPr lang="it-IT" sz="1200" i="1" dirty="0">
                    <a:solidFill>
                      <a:srgbClr val="004180"/>
                    </a:solidFill>
                  </a:rPr>
                  <a:t>Stabilizzare le stime e migliorare il recupero del supporto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200" i="1" smtClean="0">
                            <a:solidFill>
                              <a:srgbClr val="00418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200" i="1">
                            <a:solidFill>
                              <a:srgbClr val="00418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it-IT" sz="1200" i="1">
                            <a:solidFill>
                              <a:srgbClr val="00418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it-IT" sz="1200" dirty="0"/>
              </a:p>
            </p:txBody>
          </p:sp>
        </mc:Choice>
        <mc:Fallback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3A4AE563-B5C1-5211-DA69-B3E0CAA17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853" y="2294373"/>
                <a:ext cx="4022455" cy="2308324"/>
              </a:xfrm>
              <a:prstGeom prst="rect">
                <a:avLst/>
              </a:prstGeom>
              <a:blipFill>
                <a:blip r:embed="rId5"/>
                <a:stretch>
                  <a:fillRect b="-10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675B2952-9B67-5B36-2439-A9C82CDE1763}"/>
              </a:ext>
            </a:extLst>
          </p:cNvPr>
          <p:cNvCxnSpPr>
            <a:cxnSpLocks/>
          </p:cNvCxnSpPr>
          <p:nvPr/>
        </p:nvCxnSpPr>
        <p:spPr>
          <a:xfrm>
            <a:off x="181758" y="1226894"/>
            <a:ext cx="8610550" cy="0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5" name="Text 29">
            <a:extLst>
              <a:ext uri="{FF2B5EF4-FFF2-40B4-BE49-F238E27FC236}">
                <a16:creationId xmlns:a16="http://schemas.microsoft.com/office/drawing/2014/main" id="{3B0EA4BD-286A-75B2-CF93-24AF3CF304CB}"/>
              </a:ext>
            </a:extLst>
          </p:cNvPr>
          <p:cNvSpPr/>
          <p:nvPr/>
        </p:nvSpPr>
        <p:spPr>
          <a:xfrm>
            <a:off x="181758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9/14</a:t>
            </a:r>
            <a:endParaRPr lang="en-US" sz="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B1D3B9A-24EC-D98D-1506-9852EDF6237A}"/>
                  </a:ext>
                </a:extLst>
              </p:cNvPr>
              <p:cNvSpPr txBox="1"/>
              <p:nvPr/>
            </p:nvSpPr>
            <p:spPr>
              <a:xfrm>
                <a:off x="4862514" y="1722220"/>
                <a:ext cx="3929794" cy="451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IT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𝐸𝑁</m:t>
                              </m:r>
                            </m:sup>
                          </m:sSup>
                        </m:e>
                      </m:acc>
                      <m:r>
                        <a:rPr lang="it-IT" sz="1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1200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 sz="1200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sSub>
                                    <m:sSubPr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it-IT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12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it-IT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12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it-IT" sz="1200" dirty="0"/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it-IT" sz="1600" dirty="0"/>
              </a:p>
            </p:txBody>
          </p:sp>
        </mc:Choice>
        <mc:Fallback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B1D3B9A-24EC-D98D-1506-9852EDF62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514" y="1722220"/>
                <a:ext cx="3929794" cy="4517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BC457771-39B6-2BA9-E1BB-2ADC257A2521}"/>
                  </a:ext>
                </a:extLst>
              </p:cNvPr>
              <p:cNvSpPr txBox="1"/>
              <p:nvPr/>
            </p:nvSpPr>
            <p:spPr>
              <a:xfrm>
                <a:off x="993392" y="1750403"/>
                <a:ext cx="2565143" cy="452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IT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lim>
                          </m:limLow>
                        </m:fName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𝐶𝑉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BC457771-39B6-2BA9-E1BB-2ADC257A2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92" y="1750403"/>
                <a:ext cx="2565143" cy="452945"/>
              </a:xfrm>
              <a:prstGeom prst="rect">
                <a:avLst/>
              </a:prstGeom>
              <a:blipFill>
                <a:blip r:embed="rId7"/>
                <a:stretch>
                  <a:fillRect b="-40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6C93-6CAF-0691-5A04-65498B53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>
            <a:extLst>
              <a:ext uri="{FF2B5EF4-FFF2-40B4-BE49-F238E27FC236}">
                <a16:creationId xmlns:a16="http://schemas.microsoft.com/office/drawing/2014/main" id="{033AA182-1351-EC69-3067-742C4988B2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>
            <a:extLst>
              <a:ext uri="{FF2B5EF4-FFF2-40B4-BE49-F238E27FC236}">
                <a16:creationId xmlns:a16="http://schemas.microsoft.com/office/drawing/2014/main" id="{B3F1037F-23F2-845D-70F5-82788B3EC882}"/>
              </a:ext>
            </a:extLst>
          </p:cNvPr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Esperimenti 4, 5: Il collasso della CV ed </a:t>
            </a:r>
            <a:r>
              <a:rPr lang="it-IT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Elastic</a:t>
            </a: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Net</a:t>
            </a:r>
          </a:p>
        </p:txBody>
      </p:sp>
      <p:sp>
        <p:nvSpPr>
          <p:cNvPr id="10" name="QBg">
            <a:extLst>
              <a:ext uri="{FF2B5EF4-FFF2-40B4-BE49-F238E27FC236}">
                <a16:creationId xmlns:a16="http://schemas.microsoft.com/office/drawing/2014/main" id="{8DA5D95C-2A78-70E5-CE4F-EFD96DD47F52}"/>
              </a:ext>
            </a:extLst>
          </p:cNvPr>
          <p:cNvSpPr/>
          <p:nvPr/>
        </p:nvSpPr>
        <p:spPr>
          <a:xfrm>
            <a:off x="182000" y="820000"/>
            <a:ext cx="878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B3DA58EA-4CFE-1A55-60FB-F65352FB449B}"/>
              </a:ext>
            </a:extLst>
          </p:cNvPr>
          <p:cNvCxnSpPr>
            <a:cxnSpLocks/>
          </p:cNvCxnSpPr>
          <p:nvPr/>
        </p:nvCxnSpPr>
        <p:spPr>
          <a:xfrm>
            <a:off x="4572000" y="744415"/>
            <a:ext cx="16144" cy="4040394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5" name="Text 29">
            <a:extLst>
              <a:ext uri="{FF2B5EF4-FFF2-40B4-BE49-F238E27FC236}">
                <a16:creationId xmlns:a16="http://schemas.microsoft.com/office/drawing/2014/main" id="{41F608F9-BC59-48FE-646B-F5EFFF949C02}"/>
              </a:ext>
            </a:extLst>
          </p:cNvPr>
          <p:cNvSpPr/>
          <p:nvPr/>
        </p:nvSpPr>
        <p:spPr>
          <a:xfrm>
            <a:off x="181758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10/14</a:t>
            </a:r>
            <a:endParaRPr lang="en-US" sz="900" dirty="0"/>
          </a:p>
        </p:txBody>
      </p:sp>
      <p:sp>
        <p:nvSpPr>
          <p:cNvPr id="8" name="SetupBg">
            <a:extLst>
              <a:ext uri="{FF2B5EF4-FFF2-40B4-BE49-F238E27FC236}">
                <a16:creationId xmlns:a16="http://schemas.microsoft.com/office/drawing/2014/main" id="{4382BE61-2833-9BA2-CAD3-B8EB5604FD2E}"/>
              </a:ext>
            </a:extLst>
          </p:cNvPr>
          <p:cNvSpPr/>
          <p:nvPr/>
        </p:nvSpPr>
        <p:spPr>
          <a:xfrm>
            <a:off x="181758" y="673016"/>
            <a:ext cx="4268590" cy="657029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SetupTxt">
            <a:extLst>
              <a:ext uri="{FF2B5EF4-FFF2-40B4-BE49-F238E27FC236}">
                <a16:creationId xmlns:a16="http://schemas.microsoft.com/office/drawing/2014/main" id="{2E4A8A8D-4620-570D-0A95-0F7EF997B665}"/>
              </a:ext>
            </a:extLst>
          </p:cNvPr>
          <p:cNvSpPr/>
          <p:nvPr/>
        </p:nvSpPr>
        <p:spPr>
          <a:xfrm>
            <a:off x="181758" y="693500"/>
            <a:ext cx="4155275" cy="6114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200" dirty="0">
                <a:latin typeface="Calibri"/>
                <a:ea typeface="Calibri"/>
                <a:cs typeface="Calibri"/>
              </a:rPr>
              <a:t>10 variabili di cui 2 vere e restanti correlate, n=500, regola lambda.1se e </a:t>
            </a:r>
            <a:r>
              <a:rPr lang="it-IT" sz="1200" dirty="0" err="1">
                <a:latin typeface="Calibri"/>
                <a:ea typeface="Calibri"/>
                <a:cs typeface="Calibri"/>
              </a:rPr>
              <a:t>lambda.min</a:t>
            </a:r>
            <a:r>
              <a:rPr lang="it-IT" sz="1200" dirty="0">
                <a:latin typeface="Calibri"/>
                <a:ea typeface="Calibri"/>
                <a:cs typeface="Calibri"/>
              </a:rPr>
              <a:t>, </a:t>
            </a:r>
          </a:p>
        </p:txBody>
      </p:sp>
      <p:sp>
        <p:nvSpPr>
          <p:cNvPr id="14" name="SetupBg">
            <a:extLst>
              <a:ext uri="{FF2B5EF4-FFF2-40B4-BE49-F238E27FC236}">
                <a16:creationId xmlns:a16="http://schemas.microsoft.com/office/drawing/2014/main" id="{4B1201C3-5588-B3DB-7BBE-7629966BD04E}"/>
              </a:ext>
            </a:extLst>
          </p:cNvPr>
          <p:cNvSpPr/>
          <p:nvPr/>
        </p:nvSpPr>
        <p:spPr>
          <a:xfrm>
            <a:off x="4666199" y="673016"/>
            <a:ext cx="4268590" cy="657029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SetupTxt">
                <a:extLst>
                  <a:ext uri="{FF2B5EF4-FFF2-40B4-BE49-F238E27FC236}">
                    <a16:creationId xmlns:a16="http://schemas.microsoft.com/office/drawing/2014/main" id="{A763DE01-50D5-FD2E-D0D3-A2BCB6E669A5}"/>
                  </a:ext>
                </a:extLst>
              </p:cNvPr>
              <p:cNvSpPr/>
              <p:nvPr/>
            </p:nvSpPr>
            <p:spPr>
              <a:xfrm>
                <a:off x="4638988" y="670000"/>
                <a:ext cx="4361012" cy="611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/>
              <a:lstStyle/>
              <a:p>
                <a:pPr algn="l">
                  <a:buNone/>
                </a:pPr>
                <a:r>
                  <a:rPr lang="it-IT" sz="1400" b="1" dirty="0">
                    <a:solidFill>
                      <a:srgbClr val="1B3D7D"/>
                    </a:solidFill>
                    <a:latin typeface="Calibri"/>
                    <a:ea typeface="Calibri"/>
                    <a:cs typeface="Calibri"/>
                  </a:rPr>
                  <a:t>Setup:</a:t>
                </a:r>
              </a:p>
              <a:p>
                <a:r>
                  <a:rPr lang="it-IT" sz="1200" dirty="0">
                    <a:latin typeface="Calibri"/>
                    <a:ea typeface="Calibri"/>
                    <a:cs typeface="Calibri"/>
                  </a:rPr>
                  <a:t>DGP classico, n = 500, </a:t>
                </a:r>
                <a:r>
                  <a:rPr lang="it-IT" sz="1200" dirty="0" err="1">
                    <a:latin typeface="Calibri"/>
                    <a:ea typeface="Calibri"/>
                    <a:cs typeface="Calibri"/>
                  </a:rPr>
                  <a:t>nsim</a:t>
                </a:r>
                <a:r>
                  <a:rPr lang="it-IT" sz="1200" dirty="0">
                    <a:latin typeface="Calibri"/>
                    <a:ea typeface="Calibri"/>
                    <a:cs typeface="Calibri"/>
                  </a:rPr>
                  <a:t> = 250, </a:t>
                </a:r>
                <a:r>
                  <a:rPr lang="it-IT" sz="1200" dirty="0">
                    <a:solidFill>
                      <a:srgbClr val="1A1A1A"/>
                    </a:solidFill>
                    <a:ea typeface="Calibri"/>
                    <a:cs typeface="Calibri"/>
                  </a:rPr>
                  <a:t>regola lambda.1se (CV), </a:t>
                </a:r>
                <a14:m>
                  <m:oMath xmlns:m="http://schemas.openxmlformats.org/officeDocument/2006/math">
                    <m:r>
                      <a:rPr lang="it-IT" sz="1200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𝛼</m:t>
                    </m:r>
                    <m:r>
                      <a:rPr lang="it-IT" sz="1200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=0.5</m:t>
                    </m:r>
                  </m:oMath>
                </a14:m>
                <a:r>
                  <a:rPr lang="it-IT" sz="1200" dirty="0">
                    <a:solidFill>
                      <a:srgbClr val="1A1A1A"/>
                    </a:solidFill>
                    <a:ea typeface="Calibri"/>
                    <a:cs typeface="Calibri"/>
                  </a:rPr>
                  <a:t> </a:t>
                </a:r>
                <a:endParaRPr lang="it-IT" sz="1200" dirty="0">
                  <a:latin typeface="Calibri"/>
                  <a:ea typeface="Calibri"/>
                  <a:cs typeface="Calibri"/>
                </a:endParaRPr>
              </a:p>
            </p:txBody>
          </p:sp>
        </mc:Choice>
        <mc:Fallback>
          <p:sp>
            <p:nvSpPr>
              <p:cNvPr id="20" name="SetupTxt">
                <a:extLst>
                  <a:ext uri="{FF2B5EF4-FFF2-40B4-BE49-F238E27FC236}">
                    <a16:creationId xmlns:a16="http://schemas.microsoft.com/office/drawing/2014/main" id="{A763DE01-50D5-FD2E-D0D3-A2BCB6E669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988" y="670000"/>
                <a:ext cx="4361012" cy="611404"/>
              </a:xfrm>
              <a:prstGeom prst="rect">
                <a:avLst/>
              </a:prstGeom>
              <a:blipFill>
                <a:blip r:embed="rId3"/>
                <a:stretch>
                  <a:fillRect l="-4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Immagine 22">
            <a:extLst>
              <a:ext uri="{FF2B5EF4-FFF2-40B4-BE49-F238E27FC236}">
                <a16:creationId xmlns:a16="http://schemas.microsoft.com/office/drawing/2014/main" id="{97E3C5E5-E4FB-1C9C-B1EC-70FA5FE4F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437" y="1356989"/>
            <a:ext cx="3108162" cy="26013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86A1A0F3-4A47-AF22-3E10-86A42456D17F}"/>
                  </a:ext>
                </a:extLst>
              </p:cNvPr>
              <p:cNvSpPr txBox="1"/>
              <p:nvPr/>
            </p:nvSpPr>
            <p:spPr>
              <a:xfrm>
                <a:off x="4666198" y="3924867"/>
                <a:ext cx="4295802" cy="9759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100" dirty="0"/>
                  <a:t>La probabilità di recupero esatto </a:t>
                </a:r>
                <a14:m>
                  <m:oMath xmlns:m="http://schemas.openxmlformats.org/officeDocument/2006/math">
                    <m:r>
                      <a:rPr lang="it-IT" sz="11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it-IT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1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  <m:r>
                          <a:rPr lang="it-IT" sz="11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it-IT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1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it-IT" sz="11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sz="1100" dirty="0"/>
                  <a:t> crolla appena si supera la soglia critica IC=1.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100" dirty="0"/>
                  <a:t>Il </a:t>
                </a:r>
                <a:r>
                  <a:rPr lang="it-IT" sz="1100" b="1" dirty="0" err="1"/>
                  <a:t>Grouping</a:t>
                </a:r>
                <a:r>
                  <a:rPr lang="it-IT" sz="1100" b="1" dirty="0"/>
                  <a:t> </a:t>
                </a:r>
                <a:r>
                  <a:rPr lang="it-IT" sz="1100" b="1" dirty="0" err="1"/>
                  <a:t>Effect</a:t>
                </a:r>
                <a:r>
                  <a:rPr lang="it-IT" sz="1100" dirty="0"/>
                  <a:t>: costringe le variabili correlate a entrare nel modello insieme. Se IC violata, EN le include sistematicamente. </a:t>
                </a:r>
                <a:r>
                  <a:rPr lang="it-IT" sz="1100" b="1" dirty="0"/>
                  <a:t>Migliora la stima, ma distrugge la selezione</a:t>
                </a:r>
                <a:r>
                  <a:rPr lang="it-IT" sz="1200" b="1" dirty="0"/>
                  <a:t>.</a:t>
                </a:r>
                <a:endParaRPr lang="it-IT" sz="1200" dirty="0"/>
              </a:p>
            </p:txBody>
          </p:sp>
        </mc:Choice>
        <mc:Fallback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86A1A0F3-4A47-AF22-3E10-86A42456D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198" y="3924867"/>
                <a:ext cx="4295802" cy="975908"/>
              </a:xfrm>
              <a:prstGeom prst="rect">
                <a:avLst/>
              </a:prstGeom>
              <a:blipFill>
                <a:blip r:embed="rId5"/>
                <a:stretch>
                  <a:fillRect r="-709" b="-43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02282D5-C49C-8889-184D-7A2A32E122EB}"/>
              </a:ext>
            </a:extLst>
          </p:cNvPr>
          <p:cNvSpPr txBox="1"/>
          <p:nvPr/>
        </p:nvSpPr>
        <p:spPr>
          <a:xfrm>
            <a:off x="182000" y="3887334"/>
            <a:ext cx="426834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/>
              <a:t>Entrambi i criteri falliscono</a:t>
            </a:r>
            <a:r>
              <a:rPr lang="it-IT" sz="1100" b="1" dirty="0"/>
              <a:t>, </a:t>
            </a:r>
            <a:r>
              <a:rPr lang="it-IT" sz="1100" b="1" dirty="0" err="1"/>
              <a:t>lambda.min</a:t>
            </a:r>
            <a:r>
              <a:rPr lang="it-IT" sz="1100" b="1" dirty="0"/>
              <a:t> </a:t>
            </a:r>
            <a:r>
              <a:rPr lang="it-IT" sz="1100" dirty="0"/>
              <a:t>include 6 falsi positivi; </a:t>
            </a:r>
            <a:r>
              <a:rPr lang="it-IT" sz="1100" b="1" dirty="0"/>
              <a:t>lambda.1se </a:t>
            </a:r>
            <a:r>
              <a:rPr lang="it-IT" sz="1100" dirty="0"/>
              <a:t>ne include 8. Il supporto vero non viene mai isolato.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/>
              <a:t>La </a:t>
            </a:r>
            <a:r>
              <a:rPr lang="it-IT" sz="1100" b="1" dirty="0"/>
              <a:t>CV</a:t>
            </a:r>
            <a:r>
              <a:rPr lang="it-IT" sz="1100" dirty="0"/>
              <a:t> ottimizza esclusivamente l'errore di predizione (</a:t>
            </a:r>
            <a:r>
              <a:rPr lang="it-IT" sz="1100" b="1" dirty="0"/>
              <a:t>MSE</a:t>
            </a:r>
            <a:r>
              <a:rPr lang="it-IT" sz="1100" dirty="0"/>
              <a:t>).         Se IC &gt; 1 il </a:t>
            </a:r>
            <a:r>
              <a:rPr lang="it-IT" sz="1100" b="1" dirty="0"/>
              <a:t>rumore correlato </a:t>
            </a:r>
            <a:r>
              <a:rPr lang="it-IT" sz="1100" dirty="0"/>
              <a:t>abbassa l'errore predittivo </a:t>
            </a:r>
            <a:r>
              <a:rPr lang="it-IT" sz="1100" i="1" dirty="0"/>
              <a:t>quasi quanto il </a:t>
            </a:r>
            <a:r>
              <a:rPr lang="it-IT" sz="1100" b="1" i="1" dirty="0"/>
              <a:t>segnale vero</a:t>
            </a:r>
            <a:r>
              <a:rPr lang="it-IT" sz="1100" dirty="0"/>
              <a:t>. L'algoritmo li considera </a:t>
            </a:r>
            <a:r>
              <a:rPr lang="it-IT" sz="1100" b="1" dirty="0"/>
              <a:t>equivalenti</a:t>
            </a:r>
            <a:r>
              <a:rPr lang="it-IT" sz="1100" dirty="0"/>
              <a:t>.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277474A4-491C-0191-6463-AA7616565CEA}"/>
              </a:ext>
            </a:extLst>
          </p:cNvPr>
          <p:cNvSpPr/>
          <p:nvPr/>
        </p:nvSpPr>
        <p:spPr>
          <a:xfrm>
            <a:off x="6371480" y="1400897"/>
            <a:ext cx="83403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912C3805-32CF-FB2F-8F94-2993528B68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76" y="1393433"/>
            <a:ext cx="3015013" cy="253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39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AF9DD-EECC-6043-A591-EDEA4D8C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>
            <a:extLst>
              <a:ext uri="{FF2B5EF4-FFF2-40B4-BE49-F238E27FC236}">
                <a16:creationId xmlns:a16="http://schemas.microsoft.com/office/drawing/2014/main" id="{DE642A92-5431-376A-7576-4D5269613F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>
            <a:extLst>
              <a:ext uri="{FF2B5EF4-FFF2-40B4-BE49-F238E27FC236}">
                <a16:creationId xmlns:a16="http://schemas.microsoft.com/office/drawing/2014/main" id="{D8FA9197-3540-4E13-93FB-8C5D6A83BFB4}"/>
              </a:ext>
            </a:extLst>
          </p:cNvPr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L’ </a:t>
            </a:r>
            <a:r>
              <a:rPr lang="it-IT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Adaptive</a:t>
            </a: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Lasso </a:t>
            </a:r>
          </a:p>
        </p:txBody>
      </p:sp>
      <p:sp>
        <p:nvSpPr>
          <p:cNvPr id="2" name="Text 29">
            <a:extLst>
              <a:ext uri="{FF2B5EF4-FFF2-40B4-BE49-F238E27FC236}">
                <a16:creationId xmlns:a16="http://schemas.microsoft.com/office/drawing/2014/main" id="{2E368CEB-5EB0-E4F3-E529-F857C88FC55E}"/>
              </a:ext>
            </a:extLst>
          </p:cNvPr>
          <p:cNvSpPr/>
          <p:nvPr/>
        </p:nvSpPr>
        <p:spPr>
          <a:xfrm>
            <a:off x="181758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11/14</a:t>
            </a:r>
            <a:endParaRPr lang="en-US" sz="9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186C148-B2C4-43BA-FAFA-A2E264660F9E}"/>
              </a:ext>
            </a:extLst>
          </p:cNvPr>
          <p:cNvSpPr txBox="1"/>
          <p:nvPr/>
        </p:nvSpPr>
        <p:spPr>
          <a:xfrm>
            <a:off x="270387" y="1880010"/>
            <a:ext cx="369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4180"/>
                </a:solidFill>
              </a:rPr>
              <a:t>Meccanismo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30D764F-DD21-2BDB-828C-21028E9D57F6}"/>
              </a:ext>
            </a:extLst>
          </p:cNvPr>
          <p:cNvSpPr txBox="1"/>
          <p:nvPr/>
        </p:nvSpPr>
        <p:spPr>
          <a:xfrm>
            <a:off x="506293" y="1020465"/>
            <a:ext cx="861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Estensione del Lasso che </a:t>
            </a:r>
            <a:r>
              <a:rPr lang="it-IT" sz="1600" b="1" dirty="0"/>
              <a:t>assegna una penalizzazione diversa a ciascun coefficiente</a:t>
            </a:r>
            <a:r>
              <a:rPr lang="it-IT" sz="1600" dirty="0"/>
              <a:t>, anziché utilizzare una penalizzazione uniforme. 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CC367965-1B63-7BA6-D32B-6F76A4A088F1}"/>
              </a:ext>
            </a:extLst>
          </p:cNvPr>
          <p:cNvCxnSpPr>
            <a:cxnSpLocks/>
          </p:cNvCxnSpPr>
          <p:nvPr/>
        </p:nvCxnSpPr>
        <p:spPr>
          <a:xfrm>
            <a:off x="312271" y="1859947"/>
            <a:ext cx="8610550" cy="0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1ECE3562-8CBA-390B-438A-5318BA176F5A}"/>
              </a:ext>
            </a:extLst>
          </p:cNvPr>
          <p:cNvCxnSpPr>
            <a:cxnSpLocks/>
          </p:cNvCxnSpPr>
          <p:nvPr/>
        </p:nvCxnSpPr>
        <p:spPr>
          <a:xfrm flipH="1">
            <a:off x="4182358" y="1907459"/>
            <a:ext cx="16144" cy="2932615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222A8D1-2F80-E9FC-6E0E-3B0B73746577}"/>
              </a:ext>
            </a:extLst>
          </p:cNvPr>
          <p:cNvSpPr txBox="1"/>
          <p:nvPr/>
        </p:nvSpPr>
        <p:spPr>
          <a:xfrm>
            <a:off x="312271" y="705354"/>
            <a:ext cx="828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4180"/>
                </a:solidFill>
              </a:rPr>
              <a:t>Definizione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C68EA33-9770-3126-0BA4-8AAF7FBA044F}"/>
              </a:ext>
            </a:extLst>
          </p:cNvPr>
          <p:cNvSpPr txBox="1"/>
          <p:nvPr/>
        </p:nvSpPr>
        <p:spPr>
          <a:xfrm>
            <a:off x="390090" y="2279459"/>
            <a:ext cx="3808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Modifica la </a:t>
            </a:r>
            <a:r>
              <a:rPr lang="it-IT" sz="1600" b="1" dirty="0"/>
              <a:t>funzione obiettivo</a:t>
            </a:r>
            <a:r>
              <a:rPr lang="it-IT" sz="1600" dirty="0"/>
              <a:t> introducendo dei </a:t>
            </a:r>
            <a:r>
              <a:rPr lang="it-IT" sz="1600" b="1" dirty="0"/>
              <a:t>pesi adattivi </a:t>
            </a:r>
            <a:r>
              <a:rPr lang="it-IT" sz="1600" dirty="0"/>
              <a:t>(</a:t>
            </a:r>
            <a:r>
              <a:rPr lang="it-IT" sz="1600" b="1" dirty="0" err="1"/>
              <a:t>wj</a:t>
            </a:r>
            <a:r>
              <a:rPr lang="it-IT" sz="1600" b="1" dirty="0"/>
              <a:t>​</a:t>
            </a:r>
            <a:r>
              <a:rPr lang="it-IT" sz="1600" dirty="0"/>
              <a:t>).</a:t>
            </a:r>
          </a:p>
          <a:p>
            <a:r>
              <a:rPr lang="it-IT" sz="1600" dirty="0"/>
              <a:t>I pesi derivano da una </a:t>
            </a:r>
            <a:r>
              <a:rPr lang="it-IT" sz="1600" b="1" dirty="0"/>
              <a:t>stima preliminare</a:t>
            </a:r>
            <a:r>
              <a:rPr lang="it-IT" sz="1600" dirty="0"/>
              <a:t> dei coefficienti (</a:t>
            </a:r>
            <a:r>
              <a:rPr lang="it-IT" sz="1600" b="1" i="1" dirty="0"/>
              <a:t>OLS</a:t>
            </a:r>
            <a:r>
              <a:rPr lang="it-IT" sz="1600" dirty="0"/>
              <a:t>, </a:t>
            </a:r>
            <a:r>
              <a:rPr lang="it-IT" sz="1600" b="1" i="1" dirty="0"/>
              <a:t>Ridge</a:t>
            </a:r>
            <a:r>
              <a:rPr lang="it-IT" sz="1600" dirty="0"/>
              <a:t>, </a:t>
            </a:r>
            <a:r>
              <a:rPr lang="it-IT" sz="1600" b="1" i="1" dirty="0"/>
              <a:t>Lasso</a:t>
            </a:r>
            <a:r>
              <a:rPr lang="it-IT" sz="1600" dirty="0"/>
              <a:t>, </a:t>
            </a:r>
            <a:r>
              <a:rPr lang="it-IT" sz="1600" b="1" i="1" dirty="0" err="1"/>
              <a:t>Elastic</a:t>
            </a:r>
            <a:r>
              <a:rPr lang="it-IT" sz="1600" b="1" i="1" dirty="0"/>
              <a:t> Net</a:t>
            </a:r>
            <a:r>
              <a:rPr lang="it-IT" sz="1600" dirty="0"/>
              <a:t>).</a:t>
            </a: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24453B02-5071-677D-59F0-3CEA544D1411}"/>
              </a:ext>
            </a:extLst>
          </p:cNvPr>
          <p:cNvSpPr/>
          <p:nvPr/>
        </p:nvSpPr>
        <p:spPr>
          <a:xfrm>
            <a:off x="391436" y="3600729"/>
            <a:ext cx="3679556" cy="1286855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6776F93A-A879-2C41-629D-8E3A5FA01AF7}"/>
              </a:ext>
            </a:extLst>
          </p:cNvPr>
          <p:cNvSpPr txBox="1"/>
          <p:nvPr/>
        </p:nvSpPr>
        <p:spPr>
          <a:xfrm>
            <a:off x="4198502" y="1877342"/>
            <a:ext cx="369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4180"/>
                </a:solidFill>
              </a:rPr>
              <a:t>Proprietà</a:t>
            </a:r>
          </a:p>
        </p:txBody>
      </p:sp>
      <p:sp>
        <p:nvSpPr>
          <p:cNvPr id="64" name="Text 9">
            <a:extLst>
              <a:ext uri="{FF2B5EF4-FFF2-40B4-BE49-F238E27FC236}">
                <a16:creationId xmlns:a16="http://schemas.microsoft.com/office/drawing/2014/main" id="{A04F5001-4E3E-B60F-7A45-F4D0B482F298}"/>
              </a:ext>
            </a:extLst>
          </p:cNvPr>
          <p:cNvSpPr/>
          <p:nvPr/>
        </p:nvSpPr>
        <p:spPr>
          <a:xfrm>
            <a:off x="4309868" y="2263428"/>
            <a:ext cx="417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600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Penalizzazione</a:t>
            </a: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adattiva</a:t>
            </a:r>
            <a:endParaRPr lang="en-US" sz="1600" dirty="0"/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444348D4-468E-7FCF-0AD4-85A94B744157}"/>
              </a:ext>
            </a:extLst>
          </p:cNvPr>
          <p:cNvSpPr txBox="1"/>
          <p:nvPr/>
        </p:nvSpPr>
        <p:spPr>
          <a:xfrm>
            <a:off x="4454770" y="2482884"/>
            <a:ext cx="46892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dirty="0"/>
              <a:t>Le variabili importanti vengono penalizzate meno.</a:t>
            </a:r>
          </a:p>
          <a:p>
            <a:r>
              <a:rPr lang="it-IT" sz="1100" dirty="0"/>
              <a:t>Le variabili poco rilevanti vengono penalizzate molto.</a:t>
            </a:r>
          </a:p>
        </p:txBody>
      </p:sp>
      <p:sp>
        <p:nvSpPr>
          <p:cNvPr id="71" name="Text 9">
            <a:extLst>
              <a:ext uri="{FF2B5EF4-FFF2-40B4-BE49-F238E27FC236}">
                <a16:creationId xmlns:a16="http://schemas.microsoft.com/office/drawing/2014/main" id="{61A223EC-3A8A-911D-1BAF-F8E3AA094BE8}"/>
              </a:ext>
            </a:extLst>
          </p:cNvPr>
          <p:cNvSpPr/>
          <p:nvPr/>
        </p:nvSpPr>
        <p:spPr>
          <a:xfrm>
            <a:off x="4309868" y="2986742"/>
            <a:ext cx="417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it-IT" sz="1600" b="1" dirty="0">
                <a:solidFill>
                  <a:srgbClr val="2E7D32"/>
                </a:solidFill>
              </a:rPr>
              <a:t>Riduzione del </a:t>
            </a:r>
            <a:r>
              <a:rPr lang="it-IT" sz="1600" b="1" dirty="0" err="1">
                <a:solidFill>
                  <a:srgbClr val="2E7D32"/>
                </a:solidFill>
              </a:rPr>
              <a:t>bias</a:t>
            </a:r>
            <a:r>
              <a:rPr lang="it-IT" sz="1600" b="1" dirty="0">
                <a:solidFill>
                  <a:srgbClr val="2E7D32"/>
                </a:solidFill>
              </a:rPr>
              <a:t> verso zero</a:t>
            </a:r>
            <a:endParaRPr lang="en-US" sz="1600" dirty="0">
              <a:solidFill>
                <a:srgbClr val="2E7D3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400AD737-2A08-2580-3143-9C3CC2160F0D}"/>
                  </a:ext>
                </a:extLst>
              </p:cNvPr>
              <p:cNvSpPr txBox="1"/>
              <p:nvPr/>
            </p:nvSpPr>
            <p:spPr>
              <a:xfrm>
                <a:off x="406956" y="3576660"/>
                <a:ext cx="3647268" cy="7801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it-IT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it-IT" sz="1400" i="1">
                                  <a:latin typeface="Cambria Math" panose="02040503050406030204" pitchFamily="18" charset="0"/>
                                </a:rPr>
                                <m:t>𝐴𝐿</m:t>
                              </m:r>
                            </m:sup>
                          </m:sSup>
                        </m:e>
                      </m:acc>
                      <m:r>
                        <a:rPr lang="it-IT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1400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it-IT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it-IT" sz="1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 sz="1400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it-IT" sz="1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it-IT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it-IT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it-IT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it-IT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it-IT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it-IT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it-IT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1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it-IT" sz="1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it-IT" sz="14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r>
                                            <a:rPr lang="it-IT" sz="14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it-IT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it-IT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it-IT" sz="1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it-IT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it-IT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it-IT" sz="14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it-IT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it-IT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1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it-IT" sz="1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it-IT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it-IT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sz="1400" i="1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400AD737-2A08-2580-3143-9C3CC2160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56" y="3576660"/>
                <a:ext cx="3647268" cy="7801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CasellaDiTesto 64">
                <a:extLst>
                  <a:ext uri="{FF2B5EF4-FFF2-40B4-BE49-F238E27FC236}">
                    <a16:creationId xmlns:a16="http://schemas.microsoft.com/office/drawing/2014/main" id="{69EB6465-B005-A279-7231-0B86AC3447A2}"/>
                  </a:ext>
                </a:extLst>
              </p:cNvPr>
              <p:cNvSpPr txBox="1"/>
              <p:nvPr/>
            </p:nvSpPr>
            <p:spPr>
              <a:xfrm>
                <a:off x="1040853" y="4244156"/>
                <a:ext cx="2190522" cy="589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it-IT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Sup>
                                        <m:sSubSupPr>
                                          <m:ctrlPr>
                                            <a:rPr lang="it-IT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it-IT" sz="12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it-IT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it-IT" sz="1200" i="1">
                                              <a:latin typeface="Cambria Math" panose="02040503050406030204" pitchFamily="18" charset="0"/>
                                            </a:rPr>
                                            <m:t>𝑖𝑛𝑖𝑡</m:t>
                                          </m:r>
                                        </m:sup>
                                      </m:sSubSup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65" name="CasellaDiTesto 64">
                <a:extLst>
                  <a:ext uri="{FF2B5EF4-FFF2-40B4-BE49-F238E27FC236}">
                    <a16:creationId xmlns:a16="http://schemas.microsoft.com/office/drawing/2014/main" id="{69EB6465-B005-A279-7231-0B86AC344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853" y="4244156"/>
                <a:ext cx="2190522" cy="589585"/>
              </a:xfrm>
              <a:prstGeom prst="rect">
                <a:avLst/>
              </a:prstGeom>
              <a:blipFill>
                <a:blip r:embed="rId4"/>
                <a:stretch>
                  <a:fillRect r="-250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 9">
            <a:extLst>
              <a:ext uri="{FF2B5EF4-FFF2-40B4-BE49-F238E27FC236}">
                <a16:creationId xmlns:a16="http://schemas.microsoft.com/office/drawing/2014/main" id="{F17D64B9-1607-0F82-7EF3-5885B14D99EA}"/>
              </a:ext>
            </a:extLst>
          </p:cNvPr>
          <p:cNvSpPr/>
          <p:nvPr/>
        </p:nvSpPr>
        <p:spPr>
          <a:xfrm>
            <a:off x="4318205" y="3381273"/>
            <a:ext cx="417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it-IT" sz="1600" b="1" dirty="0">
                <a:solidFill>
                  <a:srgbClr val="2E7D32"/>
                </a:solidFill>
              </a:rPr>
              <a:t>Consistenza nella selezione</a:t>
            </a:r>
            <a:endParaRPr lang="en-US" sz="1600" dirty="0">
              <a:solidFill>
                <a:srgbClr val="2E7D32"/>
              </a:solidFill>
            </a:endParaRP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37490C26-3173-898D-D129-06EC7A22BF23}"/>
              </a:ext>
            </a:extLst>
          </p:cNvPr>
          <p:cNvSpPr txBox="1"/>
          <p:nvPr/>
        </p:nvSpPr>
        <p:spPr>
          <a:xfrm>
            <a:off x="4436063" y="3624183"/>
            <a:ext cx="46892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dirty="0"/>
              <a:t>seleziona le variabili corrette con probabilità che tende a 1   P(S^=S)→1</a:t>
            </a:r>
          </a:p>
          <a:p>
            <a:r>
              <a:rPr lang="it-IT" sz="1100" dirty="0"/>
              <a:t>Rispetta così le </a:t>
            </a:r>
            <a:r>
              <a:rPr lang="it-IT" sz="1100" b="1" dirty="0"/>
              <a:t>Oracle </a:t>
            </a:r>
            <a:r>
              <a:rPr lang="it-IT" sz="1100" b="1" dirty="0" err="1"/>
              <a:t>Property</a:t>
            </a:r>
            <a:r>
              <a:rPr lang="it-IT" sz="1100" b="1" dirty="0"/>
              <a:t> </a:t>
            </a:r>
            <a:r>
              <a:rPr lang="it-IT" sz="1100" i="1" dirty="0"/>
              <a:t>(sotto alcune ipotesi)</a:t>
            </a: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4CAB9FEC-CADB-2415-B7AD-997690B9CE07}"/>
              </a:ext>
            </a:extLst>
          </p:cNvPr>
          <p:cNvSpPr txBox="1"/>
          <p:nvPr/>
        </p:nvSpPr>
        <p:spPr>
          <a:xfrm>
            <a:off x="4237610" y="4123035"/>
            <a:ext cx="48876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rgbClr val="C62828"/>
                </a:solidFill>
              </a:rPr>
              <a:t>✗ </a:t>
            </a:r>
            <a:r>
              <a:rPr lang="it-IT" sz="1500" b="1" dirty="0">
                <a:solidFill>
                  <a:srgbClr val="C62828"/>
                </a:solidFill>
              </a:rPr>
              <a:t>Richiede una stima preliminare affidabile dei coefficienti.</a:t>
            </a:r>
          </a:p>
        </p:txBody>
      </p:sp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D0ABFD02-444D-D84B-72D6-F01A939D6D69}"/>
              </a:ext>
            </a:extLst>
          </p:cNvPr>
          <p:cNvSpPr txBox="1"/>
          <p:nvPr/>
        </p:nvSpPr>
        <p:spPr>
          <a:xfrm>
            <a:off x="4237610" y="4517948"/>
            <a:ext cx="47436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rgbClr val="C62828"/>
                </a:solidFill>
              </a:rPr>
              <a:t>✗ La scelta dei pesi influenza il risultato finale.</a:t>
            </a:r>
          </a:p>
        </p:txBody>
      </p:sp>
    </p:spTree>
    <p:extLst>
      <p:ext uri="{BB962C8B-B14F-4D97-AF65-F5344CB8AC3E}">
        <p14:creationId xmlns:p14="http://schemas.microsoft.com/office/powerpoint/2010/main" val="240848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484B5-11BB-32BC-0A06-65F48BE4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>
            <a:extLst>
              <a:ext uri="{FF2B5EF4-FFF2-40B4-BE49-F238E27FC236}">
                <a16:creationId xmlns:a16="http://schemas.microsoft.com/office/drawing/2014/main" id="{DD2FC276-06B1-A8D5-4765-32D7AFA489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48" t="25421" r="-1064" b="-929"/>
          <a:stretch>
            <a:fillRect/>
          </a:stretch>
        </p:blipFill>
        <p:spPr>
          <a:xfrm>
            <a:off x="41080" y="6476"/>
            <a:ext cx="800187" cy="670190"/>
          </a:xfrm>
          <a:prstGeom prst="rect">
            <a:avLst/>
          </a:prstGeom>
        </p:spPr>
      </p:pic>
      <p:sp>
        <p:nvSpPr>
          <p:cNvPr id="92" name="Title">
            <a:extLst>
              <a:ext uri="{FF2B5EF4-FFF2-40B4-BE49-F238E27FC236}">
                <a16:creationId xmlns:a16="http://schemas.microsoft.com/office/drawing/2014/main" id="{FE767FA7-A13D-7B37-E846-A15E7745B76C}"/>
              </a:ext>
            </a:extLst>
          </p:cNvPr>
          <p:cNvSpPr/>
          <p:nvPr/>
        </p:nvSpPr>
        <p:spPr>
          <a:xfrm>
            <a:off x="794133" y="91272"/>
            <a:ext cx="8215002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7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Esp. 6 — Lasso vs </a:t>
            </a:r>
            <a:r>
              <a:rPr lang="it-IT" sz="27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Elastic</a:t>
            </a:r>
            <a:r>
              <a:rPr lang="it-IT" sz="27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Net vs </a:t>
            </a:r>
            <a:r>
              <a:rPr lang="it-IT" sz="27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Adaptive</a:t>
            </a:r>
            <a:r>
              <a:rPr lang="it-IT" sz="27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Lasso</a:t>
            </a:r>
          </a:p>
        </p:txBody>
      </p:sp>
      <p:sp>
        <p:nvSpPr>
          <p:cNvPr id="32" name="MHdr0">
            <a:extLst>
              <a:ext uri="{FF2B5EF4-FFF2-40B4-BE49-F238E27FC236}">
                <a16:creationId xmlns:a16="http://schemas.microsoft.com/office/drawing/2014/main" id="{0357E026-60E0-81DA-E4BD-DF412E6C0F19}"/>
              </a:ext>
            </a:extLst>
          </p:cNvPr>
          <p:cNvSpPr/>
          <p:nvPr/>
        </p:nvSpPr>
        <p:spPr>
          <a:xfrm>
            <a:off x="342465" y="1386084"/>
            <a:ext cx="1824818" cy="3465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Lasso</a:t>
            </a:r>
          </a:p>
        </p:txBody>
      </p:sp>
      <p:sp>
        <p:nvSpPr>
          <p:cNvPr id="33" name="MTxt0">
            <a:extLst>
              <a:ext uri="{FF2B5EF4-FFF2-40B4-BE49-F238E27FC236}">
                <a16:creationId xmlns:a16="http://schemas.microsoft.com/office/drawing/2014/main" id="{82419814-AAD5-6C62-3659-B16659F0268C}"/>
              </a:ext>
            </a:extLst>
          </p:cNvPr>
          <p:cNvSpPr/>
          <p:nvPr/>
        </p:nvSpPr>
        <p:spPr>
          <a:xfrm>
            <a:off x="595512" y="1681303"/>
            <a:ext cx="2757287" cy="7722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Buono per selezione però cala drasticamente superata soglia </a:t>
            </a:r>
          </a:p>
        </p:txBody>
      </p:sp>
      <p:sp>
        <p:nvSpPr>
          <p:cNvPr id="36" name="MHdr1">
            <a:extLst>
              <a:ext uri="{FF2B5EF4-FFF2-40B4-BE49-F238E27FC236}">
                <a16:creationId xmlns:a16="http://schemas.microsoft.com/office/drawing/2014/main" id="{6D759DC2-7720-E644-BA96-E864A72E2333}"/>
              </a:ext>
            </a:extLst>
          </p:cNvPr>
          <p:cNvSpPr/>
          <p:nvPr/>
        </p:nvSpPr>
        <p:spPr>
          <a:xfrm>
            <a:off x="342465" y="2448665"/>
            <a:ext cx="1824818" cy="34252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dirty="0" err="1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Elastic</a:t>
            </a:r>
            <a:r>
              <a:rPr lang="it-IT" b="1" dirty="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b="1" dirty="0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Net</a:t>
            </a:r>
          </a:p>
        </p:txBody>
      </p:sp>
      <p:sp>
        <p:nvSpPr>
          <p:cNvPr id="37" name="MTxt1">
            <a:extLst>
              <a:ext uri="{FF2B5EF4-FFF2-40B4-BE49-F238E27FC236}">
                <a16:creationId xmlns:a16="http://schemas.microsoft.com/office/drawing/2014/main" id="{EF53636E-96FB-A151-6202-B5709F1C6C49}"/>
              </a:ext>
            </a:extLst>
          </p:cNvPr>
          <p:cNvSpPr/>
          <p:nvPr/>
        </p:nvSpPr>
        <p:spPr>
          <a:xfrm>
            <a:off x="595512" y="2748787"/>
            <a:ext cx="2757287" cy="7722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Per </a:t>
            </a:r>
            <a:r>
              <a:rPr lang="it-IT" sz="14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Grouping</a:t>
            </a:r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4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Effect</a:t>
            </a:r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peggiore nella selezione tende a raccogliere più spesso il rumore</a:t>
            </a:r>
          </a:p>
        </p:txBody>
      </p:sp>
      <p:sp>
        <p:nvSpPr>
          <p:cNvPr id="40" name="MHdr2">
            <a:extLst>
              <a:ext uri="{FF2B5EF4-FFF2-40B4-BE49-F238E27FC236}">
                <a16:creationId xmlns:a16="http://schemas.microsoft.com/office/drawing/2014/main" id="{8367343E-D9E3-268A-965D-DBD46872B4CD}"/>
              </a:ext>
            </a:extLst>
          </p:cNvPr>
          <p:cNvSpPr/>
          <p:nvPr/>
        </p:nvSpPr>
        <p:spPr>
          <a:xfrm>
            <a:off x="342464" y="3600927"/>
            <a:ext cx="1972833" cy="34252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dirty="0" err="1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Adaptive</a:t>
            </a:r>
            <a:r>
              <a:rPr lang="it-IT" b="1" dirty="0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 Lasso</a:t>
            </a:r>
            <a:endParaRPr lang="it-IT" sz="1500" b="1" dirty="0">
              <a:solidFill>
                <a:srgbClr val="2A9D8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MTxt2">
            <a:extLst>
              <a:ext uri="{FF2B5EF4-FFF2-40B4-BE49-F238E27FC236}">
                <a16:creationId xmlns:a16="http://schemas.microsoft.com/office/drawing/2014/main" id="{779ECB2F-F34D-5A1B-23DB-1A950464B56A}"/>
              </a:ext>
            </a:extLst>
          </p:cNvPr>
          <p:cNvSpPr/>
          <p:nvPr/>
        </p:nvSpPr>
        <p:spPr>
          <a:xfrm>
            <a:off x="595512" y="3943456"/>
            <a:ext cx="2640057" cy="93873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È la soluzione ideale in questo scenario. R</a:t>
            </a:r>
            <a:r>
              <a:rPr lang="it-IT" sz="1400" dirty="0"/>
              <a:t>iesce a essere rigoroso e robusto anche sotto stress</a:t>
            </a:r>
            <a:endParaRPr lang="it-IT" sz="1400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etupBg">
            <a:extLst>
              <a:ext uri="{FF2B5EF4-FFF2-40B4-BE49-F238E27FC236}">
                <a16:creationId xmlns:a16="http://schemas.microsoft.com/office/drawing/2014/main" id="{11027F06-79DB-6314-9A39-E21998C7FC9A}"/>
              </a:ext>
            </a:extLst>
          </p:cNvPr>
          <p:cNvSpPr/>
          <p:nvPr/>
        </p:nvSpPr>
        <p:spPr>
          <a:xfrm>
            <a:off x="242000" y="717823"/>
            <a:ext cx="8780000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 dirty="0"/>
          </a:p>
        </p:txBody>
      </p:sp>
      <p:sp>
        <p:nvSpPr>
          <p:cNvPr id="5" name="SetupTxt">
            <a:extLst>
              <a:ext uri="{FF2B5EF4-FFF2-40B4-BE49-F238E27FC236}">
                <a16:creationId xmlns:a16="http://schemas.microsoft.com/office/drawing/2014/main" id="{EEC40BC0-0E26-15A9-415B-52FCBB05D054}"/>
              </a:ext>
            </a:extLst>
          </p:cNvPr>
          <p:cNvSpPr/>
          <p:nvPr/>
        </p:nvSpPr>
        <p:spPr>
          <a:xfrm>
            <a:off x="302000" y="737123"/>
            <a:ext cx="86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400" dirty="0">
                <a:latin typeface="Calibri"/>
                <a:ea typeface="Calibri"/>
                <a:cs typeface="Calibri"/>
              </a:rPr>
              <a:t>n = 500, </a:t>
            </a:r>
            <a:r>
              <a:rPr lang="it-IT" sz="1400" dirty="0" err="1">
                <a:latin typeface="Calibri"/>
                <a:ea typeface="Calibri"/>
                <a:cs typeface="Calibri"/>
              </a:rPr>
              <a:t>nsim</a:t>
            </a:r>
            <a:r>
              <a:rPr lang="it-IT" sz="1400" dirty="0">
                <a:latin typeface="Calibri"/>
                <a:ea typeface="Calibri"/>
                <a:cs typeface="Calibri"/>
              </a:rPr>
              <a:t> = 250, regola lambda.1se, inizializzazione Ridge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D325B0D9-C150-9C21-0B5B-A0921603D2A9}"/>
              </a:ext>
            </a:extLst>
          </p:cNvPr>
          <p:cNvCxnSpPr>
            <a:cxnSpLocks/>
          </p:cNvCxnSpPr>
          <p:nvPr/>
        </p:nvCxnSpPr>
        <p:spPr>
          <a:xfrm>
            <a:off x="3448161" y="1301262"/>
            <a:ext cx="0" cy="3628292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 29">
            <a:extLst>
              <a:ext uri="{FF2B5EF4-FFF2-40B4-BE49-F238E27FC236}">
                <a16:creationId xmlns:a16="http://schemas.microsoft.com/office/drawing/2014/main" id="{6E123F1E-F4B8-E16A-ABA3-94FAA8BA1FF7}"/>
              </a:ext>
            </a:extLst>
          </p:cNvPr>
          <p:cNvSpPr/>
          <p:nvPr/>
        </p:nvSpPr>
        <p:spPr>
          <a:xfrm>
            <a:off x="158985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12/14</a:t>
            </a:r>
            <a:endParaRPr lang="en-US" sz="9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025076E-2583-5AD7-8380-7ADCC1C2D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326" y="1367751"/>
            <a:ext cx="4820887" cy="3611765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030E185A-4416-4C39-C3CA-8C15F6B5DFBD}"/>
              </a:ext>
            </a:extLst>
          </p:cNvPr>
          <p:cNvSpPr/>
          <p:nvPr/>
        </p:nvSpPr>
        <p:spPr>
          <a:xfrm>
            <a:off x="5260709" y="1397808"/>
            <a:ext cx="208108" cy="137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215B8621-8314-4A3F-734B-D9DB0A46A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709" y="1385337"/>
            <a:ext cx="154080" cy="16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12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F0494-5030-A34C-F958-2CFD1F8F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>
            <a:extLst>
              <a:ext uri="{FF2B5EF4-FFF2-40B4-BE49-F238E27FC236}">
                <a16:creationId xmlns:a16="http://schemas.microsoft.com/office/drawing/2014/main" id="{756F3BB7-747F-7B3A-9261-F8D9DC6013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28" name="Title">
            <a:extLst>
              <a:ext uri="{FF2B5EF4-FFF2-40B4-BE49-F238E27FC236}">
                <a16:creationId xmlns:a16="http://schemas.microsoft.com/office/drawing/2014/main" id="{5872965A-C94D-533B-15BD-2A91351E70AF}"/>
              </a:ext>
            </a:extLst>
          </p:cNvPr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Conclusioni - Riepilogo</a:t>
            </a:r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257D980C-7074-1D03-3A3E-1017F4585425}"/>
              </a:ext>
            </a:extLst>
          </p:cNvPr>
          <p:cNvSpPr/>
          <p:nvPr/>
        </p:nvSpPr>
        <p:spPr>
          <a:xfrm>
            <a:off x="158985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13/14</a:t>
            </a:r>
            <a:endParaRPr lang="en-US" sz="900" dirty="0"/>
          </a:p>
        </p:txBody>
      </p:sp>
      <p:sp>
        <p:nvSpPr>
          <p:cNvPr id="123" name="CasellaDiTesto 122">
            <a:extLst>
              <a:ext uri="{FF2B5EF4-FFF2-40B4-BE49-F238E27FC236}">
                <a16:creationId xmlns:a16="http://schemas.microsoft.com/office/drawing/2014/main" id="{97264804-DA85-84ED-15E1-820819B15787}"/>
              </a:ext>
            </a:extLst>
          </p:cNvPr>
          <p:cNvSpPr txBox="1"/>
          <p:nvPr/>
        </p:nvSpPr>
        <p:spPr>
          <a:xfrm>
            <a:off x="58977" y="1125163"/>
            <a:ext cx="8941023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4180"/>
                </a:solidFill>
              </a:rPr>
              <a:t>Il fallimento del Lasso è strutturale e deterministico:</a:t>
            </a:r>
            <a:r>
              <a:rPr lang="it-IT" sz="1600" dirty="0"/>
              <a:t> </a:t>
            </a:r>
            <a:r>
              <a:rPr lang="it-IT" sz="1400" dirty="0"/>
              <a:t>la capacità del Lasso standard di selezionare il modello corretto non degrada in modo lineare, ma </a:t>
            </a:r>
            <a:r>
              <a:rPr lang="it-IT" sz="1400" b="1" dirty="0"/>
              <a:t>crolla verticalmente </a:t>
            </a:r>
            <a:r>
              <a:rPr lang="it-IT" sz="1400" dirty="0"/>
              <a:t>e drasticamente non appena la </a:t>
            </a:r>
            <a:r>
              <a:rPr lang="it-IT" sz="1400" b="1" dirty="0" err="1"/>
              <a:t>Irrepresentable</a:t>
            </a:r>
            <a:r>
              <a:rPr lang="it-IT" sz="1400" b="1" dirty="0"/>
              <a:t> </a:t>
            </a:r>
            <a:r>
              <a:rPr lang="it-IT" sz="1400" b="1" dirty="0" err="1"/>
              <a:t>Condition</a:t>
            </a:r>
            <a:r>
              <a:rPr lang="it-IT" sz="1400" b="1" dirty="0"/>
              <a:t> (IC) supera o eguaglia il valore di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4180"/>
                </a:solidFill>
              </a:rPr>
              <a:t>La contaminazione da falsi positivi:</a:t>
            </a:r>
            <a:r>
              <a:rPr lang="it-IT" sz="1600" dirty="0"/>
              <a:t> </a:t>
            </a:r>
            <a:r>
              <a:rPr lang="it-IT" sz="1400" dirty="0"/>
              <a:t>quando </a:t>
            </a:r>
            <a:r>
              <a:rPr lang="it-IT" sz="1400" b="1" dirty="0"/>
              <a:t>l'IC viene violata</a:t>
            </a:r>
            <a:r>
              <a:rPr lang="it-IT" sz="1400" dirty="0"/>
              <a:t>, il Lasso non fallisce perdendo le variabili rilevanti (i FN rimangono prossimi allo zero), ma viene "</a:t>
            </a:r>
            <a:r>
              <a:rPr lang="it-IT" sz="1400" b="1" dirty="0"/>
              <a:t>contaminato" includendo rumore</a:t>
            </a:r>
            <a:r>
              <a:rPr lang="it-IT" sz="1400" dirty="0"/>
              <a:t> che non viene risolto nemmeno con l’aumento della </a:t>
            </a:r>
            <a:r>
              <a:rPr lang="it-IT" sz="1400" b="1" dirty="0"/>
              <a:t>dimensionalità campionaria</a:t>
            </a:r>
            <a:endParaRPr lang="it-IT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4180"/>
                </a:solidFill>
              </a:rPr>
              <a:t>L'illusione della Cross-</a:t>
            </a:r>
            <a:r>
              <a:rPr lang="it-IT" sz="1600" b="1" dirty="0" err="1">
                <a:solidFill>
                  <a:srgbClr val="004180"/>
                </a:solidFill>
              </a:rPr>
              <a:t>Validation</a:t>
            </a:r>
            <a:r>
              <a:rPr lang="it-IT" sz="1600" b="1" dirty="0">
                <a:solidFill>
                  <a:srgbClr val="004180"/>
                </a:solidFill>
              </a:rPr>
              <a:t>: </a:t>
            </a:r>
            <a:r>
              <a:rPr lang="it-IT" sz="1400" dirty="0"/>
              <a:t>affidarsi a parametri come </a:t>
            </a:r>
            <a:r>
              <a:rPr lang="it-IT" sz="1400" b="1" dirty="0" err="1"/>
              <a:t>lambda.min</a:t>
            </a:r>
            <a:r>
              <a:rPr lang="it-IT" sz="1400" b="1" dirty="0"/>
              <a:t> o lambda.1se</a:t>
            </a:r>
            <a:r>
              <a:rPr lang="it-IT" sz="1400" dirty="0"/>
              <a:t> in presenza di variabili false ma correlate al segnale porta </a:t>
            </a:r>
            <a:r>
              <a:rPr lang="it-IT" sz="1400" b="1" dirty="0"/>
              <a:t>all'inclusione di innumerevoli Falsi Positivi</a:t>
            </a:r>
            <a:r>
              <a:rPr lang="it-IT" sz="1400" dirty="0"/>
              <a:t> che sfuggono al controllo della CV.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4180"/>
                </a:solidFill>
              </a:rPr>
              <a:t>L'</a:t>
            </a:r>
            <a:r>
              <a:rPr lang="it-IT" sz="1600" b="1" dirty="0" err="1">
                <a:solidFill>
                  <a:srgbClr val="004180"/>
                </a:solidFill>
              </a:rPr>
              <a:t>Adaptive</a:t>
            </a:r>
            <a:r>
              <a:rPr lang="it-IT" sz="1600" b="1" dirty="0">
                <a:solidFill>
                  <a:srgbClr val="004180"/>
                </a:solidFill>
              </a:rPr>
              <a:t> Lasso come reale contromisura: </a:t>
            </a:r>
            <a:r>
              <a:rPr lang="it-IT" sz="1400" dirty="0"/>
              <a:t>gode delle cosiddette </a:t>
            </a:r>
            <a:r>
              <a:rPr lang="it-IT" sz="1400" b="1" dirty="0"/>
              <a:t>proprietà oracolo</a:t>
            </a:r>
            <a:r>
              <a:rPr lang="it-IT" sz="1400" dirty="0"/>
              <a:t>, penalizzando in modo inversamente proporzionale a una stima iniziale (come la Ridge), riesce a mantenere una </a:t>
            </a:r>
            <a:r>
              <a:rPr lang="it-IT" sz="1400" b="1" dirty="0"/>
              <a:t>probabilità di corretta selezione</a:t>
            </a:r>
            <a:r>
              <a:rPr lang="it-IT" sz="1400" dirty="0"/>
              <a:t> prossima al </a:t>
            </a:r>
            <a:r>
              <a:rPr lang="it-IT" sz="1400" b="1" dirty="0"/>
              <a:t>100%</a:t>
            </a:r>
            <a:r>
              <a:rPr lang="it-IT" sz="1400" dirty="0"/>
              <a:t> anche in regioni in cui </a:t>
            </a:r>
            <a:r>
              <a:rPr lang="it-IT" sz="1400" b="1" dirty="0"/>
              <a:t>l'IC è ampiamente violata</a:t>
            </a:r>
            <a:r>
              <a:rPr lang="it-IT" sz="1400" dirty="0"/>
              <a:t>.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20151340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6BE3E-67B2-4F1D-0EA4-0BD3C8596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magine 32">
            <a:extLst>
              <a:ext uri="{FF2B5EF4-FFF2-40B4-BE49-F238E27FC236}">
                <a16:creationId xmlns:a16="http://schemas.microsoft.com/office/drawing/2014/main" id="{DDF36E7A-507B-80DD-71AE-D160D5BD7E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B31E1EC5-EDCA-D7AA-5904-EBE844C3B35C}"/>
              </a:ext>
            </a:extLst>
          </p:cNvPr>
          <p:cNvSpPr/>
          <p:nvPr/>
        </p:nvSpPr>
        <p:spPr>
          <a:xfrm>
            <a:off x="3617397" y="209461"/>
            <a:ext cx="19092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3200" b="1" dirty="0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7AED570-82CA-EE2D-8FED-46C06CC6B16B}"/>
              </a:ext>
            </a:extLst>
          </p:cNvPr>
          <p:cNvSpPr txBox="1"/>
          <p:nvPr/>
        </p:nvSpPr>
        <p:spPr>
          <a:xfrm>
            <a:off x="359764" y="824934"/>
            <a:ext cx="8559999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ea typeface="Calibri"/>
                <a:cs typeface="Calibri"/>
              </a:rPr>
              <a:t>Slides del corso riguardanti </a:t>
            </a:r>
            <a:r>
              <a:rPr lang="it-IT" sz="2000" i="1" dirty="0">
                <a:ea typeface="Calibri"/>
                <a:cs typeface="Calibri"/>
              </a:rPr>
              <a:t>Lasso, </a:t>
            </a:r>
            <a:r>
              <a:rPr lang="it-IT" sz="2000" i="1" dirty="0" err="1">
                <a:ea typeface="Calibri"/>
                <a:cs typeface="Calibri"/>
              </a:rPr>
              <a:t>Adaptive</a:t>
            </a:r>
            <a:r>
              <a:rPr lang="it-IT" sz="2000" i="1" dirty="0">
                <a:ea typeface="Calibri"/>
                <a:cs typeface="Calibri"/>
              </a:rPr>
              <a:t> Lasso, </a:t>
            </a:r>
            <a:r>
              <a:rPr lang="it-IT" sz="2000" i="1" dirty="0" err="1">
                <a:ea typeface="Calibri"/>
                <a:cs typeface="Calibri"/>
              </a:rPr>
              <a:t>Elastic</a:t>
            </a:r>
            <a:r>
              <a:rPr lang="it-IT" sz="2000" i="1" dirty="0">
                <a:ea typeface="Calibri"/>
                <a:cs typeface="Calibri"/>
              </a:rPr>
              <a:t> Net e Cross </a:t>
            </a:r>
            <a:r>
              <a:rPr lang="it-IT" sz="2000" i="1" dirty="0" err="1">
                <a:ea typeface="Calibri"/>
                <a:cs typeface="Calibri"/>
              </a:rPr>
              <a:t>Validation</a:t>
            </a:r>
            <a:endParaRPr lang="it-IT" sz="2000" i="1" dirty="0">
              <a:ea typeface="Calibri"/>
              <a:cs typeface="Calibri"/>
            </a:endParaRPr>
          </a:p>
          <a:p>
            <a:endParaRPr lang="it-IT" sz="2000" i="1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 err="1"/>
              <a:t>Tibshirani</a:t>
            </a:r>
            <a:r>
              <a:rPr lang="it-IT" sz="2000" dirty="0"/>
              <a:t>, R. (1996). </a:t>
            </a:r>
            <a:r>
              <a:rPr lang="it-IT" sz="2000" dirty="0" err="1"/>
              <a:t>Regression</a:t>
            </a:r>
            <a:r>
              <a:rPr lang="it-IT" sz="2000" dirty="0"/>
              <a:t> </a:t>
            </a:r>
            <a:r>
              <a:rPr lang="it-IT" sz="2000" dirty="0" err="1"/>
              <a:t>shrinkage</a:t>
            </a:r>
            <a:r>
              <a:rPr lang="it-IT" sz="2000" dirty="0"/>
              <a:t> and </a:t>
            </a:r>
            <a:r>
              <a:rPr lang="it-IT" sz="2000" dirty="0" err="1"/>
              <a:t>selection</a:t>
            </a:r>
            <a:r>
              <a:rPr lang="it-IT" sz="2000" dirty="0"/>
              <a:t> via the lasso. JRSS-B, 58(1), 267–288.</a:t>
            </a:r>
          </a:p>
          <a:p>
            <a:endParaRPr lang="it-IT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Zhao, P., &amp; </a:t>
            </a:r>
            <a:r>
              <a:rPr lang="it-IT" sz="2000" dirty="0" err="1"/>
              <a:t>Yu</a:t>
            </a:r>
            <a:r>
              <a:rPr lang="it-IT" sz="2000" dirty="0"/>
              <a:t>, B. (2006). On model </a:t>
            </a:r>
            <a:r>
              <a:rPr lang="it-IT" sz="2000" dirty="0" err="1"/>
              <a:t>selection</a:t>
            </a:r>
            <a:r>
              <a:rPr lang="it-IT" sz="2000" dirty="0"/>
              <a:t> </a:t>
            </a:r>
            <a:r>
              <a:rPr lang="it-IT" sz="2000" dirty="0" err="1"/>
              <a:t>consistency</a:t>
            </a:r>
            <a:r>
              <a:rPr lang="it-IT" sz="2000" dirty="0"/>
              <a:t> of lasso. JMLR, 7, 2541–2563.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Zou, H. (2006). The </a:t>
            </a:r>
            <a:r>
              <a:rPr lang="it-IT" sz="2000" dirty="0" err="1"/>
              <a:t>adaptive</a:t>
            </a:r>
            <a:r>
              <a:rPr lang="it-IT" sz="2000" dirty="0"/>
              <a:t> lasso and </a:t>
            </a:r>
            <a:r>
              <a:rPr lang="it-IT" sz="2000" dirty="0" err="1"/>
              <a:t>its</a:t>
            </a:r>
            <a:r>
              <a:rPr lang="it-IT" sz="2000" dirty="0"/>
              <a:t> </a:t>
            </a:r>
            <a:r>
              <a:rPr lang="it-IT" sz="2000" dirty="0" err="1"/>
              <a:t>oracle</a:t>
            </a:r>
            <a:r>
              <a:rPr lang="it-IT" sz="2000" dirty="0"/>
              <a:t> </a:t>
            </a:r>
            <a:r>
              <a:rPr lang="it-IT" sz="2000" dirty="0" err="1"/>
              <a:t>properties</a:t>
            </a:r>
            <a:r>
              <a:rPr lang="it-IT" sz="2000" dirty="0"/>
              <a:t>. JASA, 101(476), 1418–1429.</a:t>
            </a:r>
          </a:p>
          <a:p>
            <a:endParaRPr lang="it-IT" sz="20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ea typeface="Calibri"/>
                <a:cs typeface="Calibri"/>
              </a:rPr>
              <a:t>Claude e Gemini per aiuto sul codice e impaginazione slide</a:t>
            </a:r>
          </a:p>
        </p:txBody>
      </p:sp>
      <p:sp>
        <p:nvSpPr>
          <p:cNvPr id="4" name="Text 29">
            <a:extLst>
              <a:ext uri="{FF2B5EF4-FFF2-40B4-BE49-F238E27FC236}">
                <a16:creationId xmlns:a16="http://schemas.microsoft.com/office/drawing/2014/main" id="{40276D26-AEC0-63EC-79CA-2223F9960F17}"/>
              </a:ext>
            </a:extLst>
          </p:cNvPr>
          <p:cNvSpPr/>
          <p:nvPr/>
        </p:nvSpPr>
        <p:spPr>
          <a:xfrm>
            <a:off x="158985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14/14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338906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CD87CF2A8CCE46999F14E89D2397A7" ma:contentTypeVersion="9" ma:contentTypeDescription="Create a new document." ma:contentTypeScope="" ma:versionID="04c6c9a53cca2dc0747056af3e59128d">
  <xsd:schema xmlns:xsd="http://www.w3.org/2001/XMLSchema" xmlns:xs="http://www.w3.org/2001/XMLSchema" xmlns:p="http://schemas.microsoft.com/office/2006/metadata/properties" xmlns:ns3="df5b7411-0bd9-441c-a587-7944a4ab8ce9" targetNamespace="http://schemas.microsoft.com/office/2006/metadata/properties" ma:root="true" ma:fieldsID="a84b1cfebefeb2fc1e8a376aeec60261" ns3:_="">
    <xsd:import namespace="df5b7411-0bd9-441c-a587-7944a4ab8ce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5b7411-0bd9-441c-a587-7944a4ab8ce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f5b7411-0bd9-441c-a587-7944a4ab8ce9" xsi:nil="true"/>
  </documentManagement>
</p:properties>
</file>

<file path=customXml/itemProps1.xml><?xml version="1.0" encoding="utf-8"?>
<ds:datastoreItem xmlns:ds="http://schemas.openxmlformats.org/officeDocument/2006/customXml" ds:itemID="{86BD5B09-5F77-4A89-B4D1-4081243486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5b7411-0bd9-441c-a587-7944a4ab8c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6E7083-04CE-4148-8822-E3F79A2926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AD13D0-A941-4301-90CA-BF751F48A029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df5b7411-0bd9-441c-a587-7944a4ab8ce9"/>
    <ds:schemaRef ds:uri="http://purl.org/dc/terms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5060</TotalTime>
  <Words>1463</Words>
  <Application>Microsoft Office PowerPoint</Application>
  <PresentationFormat>Presentazione su schermo (16:9)</PresentationFormat>
  <Paragraphs>176</Paragraphs>
  <Slides>14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Lorenzo Maria Pennelli</cp:lastModifiedBy>
  <cp:revision>603</cp:revision>
  <dcterms:created xsi:type="dcterms:W3CDTF">2026-03-12T12:19:20Z</dcterms:created>
  <dcterms:modified xsi:type="dcterms:W3CDTF">2026-06-27T22:22:08Z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0x010100FFCD87CF2A8CCE46999F14E89D2397A7</vt:lpwstr>
  </property>
</Properties>
</file>