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6_0.xml" ContentType="application/vnd.ms-powerpoint.comments+xml"/>
  <Override PartName="/ppt/comments/modernComment_116_A5DD8C86.xml" ContentType="application/vnd.ms-powerpoint.comments+xml"/>
  <Override PartName="/ppt/comments/modernComment_10A_0.xml" ContentType="application/vnd.ms-powerpoint.comments+xml"/>
  <Override PartName="/ppt/comments/modernComment_10B_0.xml" ContentType="application/vnd.ms-powerpoint.comments+xml"/>
  <Override PartName="/ppt/comments/modernComment_10F_0.xml" ContentType="application/vnd.ms-powerpoint.comments+xml"/>
  <Override PartName="/ppt/comments/modernComment_11D_13FC76BC.xml" ContentType="application/vnd.ms-powerpoint.comments+xml"/>
  <Override PartName="/ppt/notesSlides/notesSlide5.xml" ContentType="application/vnd.openxmlformats-officedocument.presentationml.notesSlide+xml"/>
  <Override PartName="/ppt/comments/modernComment_114_9CF31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75" r:id="rId7"/>
    <p:sldId id="262" r:id="rId8"/>
    <p:sldId id="278" r:id="rId9"/>
    <p:sldId id="266" r:id="rId10"/>
    <p:sldId id="267" r:id="rId11"/>
    <p:sldId id="282" r:id="rId12"/>
    <p:sldId id="269" r:id="rId13"/>
    <p:sldId id="271" r:id="rId14"/>
    <p:sldId id="285" r:id="rId15"/>
    <p:sldId id="27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B64C7-3099-4DDC-57B8-DF28B5A77704}" name="Lorenzo Maria Pennelli" initials="LP" userId="S::lorenzo.pennelli@edu.unifi.it::fdca4809-38c1-4a64-a4ea-829df516f7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D8F"/>
    <a:srgbClr val="F4A261"/>
    <a:srgbClr val="C62828"/>
    <a:srgbClr val="2E7D32"/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03CD68-C89C-4C63-B21F-20E0EEB05B03}" authorId="{CC4B64C7-3099-4DDC-57B8-DF28B5A77704}" created="2026-05-24T12:48:29.09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19" creationId="{3A4AE563-B5C1-5211-DA69-B3E0CAA1747E}"/>
    </ac:deMkLst>
    <p188:txBody>
      <a:bodyPr/>
      <a:lstStyle/>
      <a:p>
        <a:r>
          <a:rPr lang="it-IT"/>
          <a:t>Ditemi se così va bene o è troppo poco professionale</a:t>
        </a:r>
      </a:p>
    </p188:txBody>
  </p188:cm>
</p188:cmLst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CD1CD4-3046-459F-98BA-BAB98EB72E39}" authorId="{CC4B64C7-3099-4DDC-57B8-DF28B5A77704}" created="2026-05-24T10:49:47.846">
    <pc:sldMkLst xmlns:pc="http://schemas.microsoft.com/office/powerpoint/2013/main/command">
      <pc:docMk/>
      <pc:sldMk cId="0" sldId="267"/>
    </pc:sldMkLst>
    <p188:txBody>
      <a:bodyPr/>
      <a:lstStyle/>
      <a:p>
        <a:r>
          <a:rPr lang="it-IT"/>
          <a:t>Stesso concetto della slide 5 non so se lasciare solo il grafico o aggiungere un paio di punti di spiegazione</a:t>
        </a:r>
      </a:p>
    </p188:txBody>
  </p188:cm>
  <p188:cm id="{5EE64D2A-0981-437B-9B5D-7EC3D0C652D2}" authorId="{CC4B64C7-3099-4DDC-57B8-DF28B5A77704}" created="2026-05-24T11:15:51.295">
    <pc:sldMkLst xmlns:pc="http://schemas.microsoft.com/office/powerpoint/2013/main/command">
      <pc:docMk/>
      <pc:sldMk cId="0" sldId="267"/>
    </pc:sldMkLst>
    <p188:txBody>
      <a:bodyPr/>
      <a:lstStyle/>
      <a:p>
        <a:r>
          <a:rPr lang="it-IT"/>
          <a:t>Deciso per rho=0.95 se non vi va più si può passare a fare gli esperimenti rho=0.99 però bisogna cambiare tutti i setup</a:t>
        </a:r>
      </a:p>
    </p188:txBody>
  </p188:cm>
</p188:cmLst>
</file>

<file path=ppt/comments/modernComment_1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4A8E7F-F64E-4565-93E1-973F46EDFFB3}" authorId="{CC4B64C7-3099-4DDC-57B8-DF28B5A77704}" created="2026-05-24T17:36:31.710">
    <pc:sldMkLst xmlns:pc="http://schemas.microsoft.com/office/powerpoint/2013/main/command">
      <pc:docMk/>
      <pc:sldMk cId="0" sldId="271"/>
    </pc:sldMkLst>
    <p188:txBody>
      <a:bodyPr/>
      <a:lstStyle/>
      <a:p>
        <a:r>
          <a:rPr lang="it-IT"/>
          <a:t>Vediamo se così va bene forse ci sarà da cambiare l’elenco puntato (sono stanco e senza idee) inoltre forse va cambiato setup perché se ci vogliamo collegare al fatto che rifacciamo l’esperimento 3 più volte dovremmo avere un simil setup</a:t>
        </a:r>
      </a:p>
    </p188:txBody>
  </p188:cm>
</p188:cmLst>
</file>

<file path=ppt/comments/modernComment_11D_13FC76B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A2E7B7-728E-4FD3-8F12-514DD559723D}" authorId="{CC4B64C7-3099-4DDC-57B8-DF28B5A77704}" created="2026-05-24T17:37:35.653">
    <pc:sldMkLst xmlns:pc="http://schemas.microsoft.com/office/powerpoint/2013/main/command">
      <pc:docMk/>
      <pc:sldMk cId="335312572" sldId="285"/>
    </pc:sldMkLst>
    <p188:txBody>
      <a:bodyPr/>
      <a:lstStyle/>
      <a:p>
        <a:r>
          <a:rPr lang="it-IT"/>
          <a:t>Come conclusione finale pensavo sinceramente solo la tabella riassuntiva, ma se si vuole aggiungere qualche altro punto ben venga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815DBB-9401-48C8-9F6F-C918DA44B83C}" authorId="{CC4B64C7-3099-4DDC-57B8-DF28B5A77704}" created="2026-05-24T10:31:03.969">
    <pc:sldMkLst xmlns:pc="http://schemas.microsoft.com/office/powerpoint/2013/main/command">
      <pc:docMk/>
      <pc:sldMk cId="0" sldId="262"/>
    </pc:sldMkLst>
    <p188:txBody>
      <a:bodyPr/>
      <a:lstStyle/>
      <a:p>
        <a:r>
          <a:rPr lang="it-IT"/>
          <a:t>Per questa slide l’ho pensata così per rimanere nello stile delle slide precedenti l’unica nota è forse troppo carica e la nota in corsivo che è un riferimento alla formula matematica non so se tenerla</a:t>
        </a:r>
      </a:p>
    </p188:txBody>
  </p188:cm>
</p188:cmLst>
</file>

<file path=ppt/comments/modernComment_114_9CF3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9F6C1E-6547-49C2-B2B9-0BE7D00D7368}" authorId="{CC4B64C7-3099-4DDC-57B8-DF28B5A77704}" created="2026-05-24T17:49:31.3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285846" sldId="276"/>
      <ac:spMk id="2" creationId="{6F298D74-F56D-5BC1-408F-ED87B18157FA}"/>
    </ac:deMkLst>
    <p188:txBody>
      <a:bodyPr/>
      <a:lstStyle/>
      <a:p>
        <a:r>
          <a:rPr lang="it-IT"/>
          <a:t>Io ho messo queste referenze, se avete altri paper o volete togliere ben venga
</a:t>
        </a:r>
      </a:p>
    </p188:txBody>
  </p188:cm>
</p188:cmLst>
</file>

<file path=ppt/comments/modernComment_116_A5DD8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D4E516-36CE-4ADB-8727-FB5AFCA2DB2A}" authorId="{CC4B64C7-3099-4DDC-57B8-DF28B5A77704}" created="2026-05-24T10:29:41.793">
    <pc:sldMkLst xmlns:pc="http://schemas.microsoft.com/office/powerpoint/2013/main/command">
      <pc:docMk/>
      <pc:sldMk cId="2782760070" sldId="278"/>
    </pc:sldMkLst>
    <p188:txBody>
      <a:bodyPr/>
      <a:lstStyle/>
      <a:p>
        <a:r>
          <a:rPr lang="it-IT"/>
          <a:t>Io la pensavo così che il grafico sembra abbastanza autoesplicativo, però se non siete della stessa idea allora pensavo di spostare il grafico e poi a fianco di mettere un elenco puntato per spiegare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C98DF-AA4A-0E17-1AD2-827A6679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C6763-7A86-143A-1B4A-5E2128B08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BCF30-B90B-6D2B-416F-CF8E62BB0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5C4F9-EED2-EAEC-6ED0-8D652C358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0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6_A5DD8C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F_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1D_13FC76BC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9CF3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rwanscornet.github.io/talks/mdi.pdf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-8620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501135"/>
            <a:ext cx="5738391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La Variable Importance</a:t>
            </a:r>
            <a:endParaRPr lang="en-US" sz="36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2824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AUTORI: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309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Francesco Faillace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329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Lorenzo Maria Pennelli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56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BD989F4-7EEE-8B97-F7D7-EDF85754A840}"/>
              </a:ext>
            </a:extLst>
          </p:cNvPr>
          <p:cNvSpPr txBox="1"/>
          <p:nvPr/>
        </p:nvSpPr>
        <p:spPr>
          <a:xfrm>
            <a:off x="411480" y="1170013"/>
            <a:ext cx="5341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i="1" dirty="0">
                <a:solidFill>
                  <a:srgbClr val="004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 Correlazione nella Selezione di Variabili in Random Forest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Contesto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 Random Forest</a:t>
            </a:r>
            <a:endParaRPr lang="it-IT" sz="2800" dirty="0" err="1"/>
          </a:p>
        </p:txBody>
      </p:sp>
      <p:sp>
        <p:nvSpPr>
          <p:cNvPr id="9" name="Text 7"/>
          <p:cNvSpPr/>
          <p:nvPr/>
        </p:nvSpPr>
        <p:spPr>
          <a:xfrm>
            <a:off x="263266" y="2974799"/>
            <a:ext cx="4114800" cy="2194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endParaRPr lang="en-US" sz="11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2/12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3CAD74-B2DA-F68F-47B4-E0AB70C65BDE}"/>
              </a:ext>
            </a:extLst>
          </p:cNvPr>
          <p:cNvSpPr txBox="1"/>
          <p:nvPr/>
        </p:nvSpPr>
        <p:spPr>
          <a:xfrm>
            <a:off x="151990" y="786723"/>
            <a:ext cx="8992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Algoritmi </a:t>
            </a:r>
            <a:r>
              <a:rPr lang="it-IT" dirty="0" err="1"/>
              <a:t>Ensembled</a:t>
            </a:r>
            <a:r>
              <a:rPr lang="it-IT" dirty="0"/>
              <a:t>-Tree che combinano </a:t>
            </a:r>
            <a:r>
              <a:rPr lang="it-IT" dirty="0" err="1"/>
              <a:t>Bagging</a:t>
            </a:r>
            <a:r>
              <a:rPr lang="it-IT" dirty="0"/>
              <a:t> con una selezione randomica dei predittori. 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517404B-8A70-8234-8104-8BCABACEFBC8}"/>
              </a:ext>
            </a:extLst>
          </p:cNvPr>
          <p:cNvSpPr/>
          <p:nvPr/>
        </p:nvSpPr>
        <p:spPr>
          <a:xfrm>
            <a:off x="1245939" y="2969472"/>
            <a:ext cx="1543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Punti</a:t>
            </a:r>
            <a:r>
              <a:rPr lang="en-US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di Forza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2578E23-8F9B-0315-0C81-BE6A9025994D}"/>
              </a:ext>
            </a:extLst>
          </p:cNvPr>
          <p:cNvSpPr/>
          <p:nvPr/>
        </p:nvSpPr>
        <p:spPr>
          <a:xfrm>
            <a:off x="6011878" y="2974799"/>
            <a:ext cx="13564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Limitazioni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FB4D02A-469E-372F-BF84-19765C64ACCC}"/>
              </a:ext>
            </a:extLst>
          </p:cNvPr>
          <p:cNvSpPr/>
          <p:nvPr/>
        </p:nvSpPr>
        <p:spPr>
          <a:xfrm>
            <a:off x="454173" y="1476768"/>
            <a:ext cx="3923893" cy="101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Bagging</a:t>
            </a:r>
          </a:p>
          <a:p>
            <a:r>
              <a:rPr lang="it-IT" sz="1400" dirty="0"/>
              <a:t>Tecnica che riduce la varianza di un modello statistico creando più sotto-alberi tramite </a:t>
            </a:r>
            <a:r>
              <a:rPr lang="it-IT" sz="1400" b="1" dirty="0"/>
              <a:t>bootstrap </a:t>
            </a:r>
            <a:r>
              <a:rPr lang="it-IT" sz="1400" dirty="0"/>
              <a:t>e</a:t>
            </a:r>
            <a:r>
              <a:rPr lang="it-IT" sz="1400" b="1" dirty="0"/>
              <a:t> aggregando</a:t>
            </a:r>
            <a:r>
              <a:rPr lang="it-IT" sz="1400" dirty="0"/>
              <a:t> i risultati per ottenere una previsione più stabile e accurata.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7645A7F-3689-F469-3D63-BC43BF877055}"/>
              </a:ext>
            </a:extLst>
          </p:cNvPr>
          <p:cNvSpPr/>
          <p:nvPr/>
        </p:nvSpPr>
        <p:spPr>
          <a:xfrm>
            <a:off x="4926556" y="1459090"/>
            <a:ext cx="3763272" cy="1049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Feature subsampling</a:t>
            </a:r>
          </a:p>
          <a:p>
            <a:pPr algn="l"/>
            <a:r>
              <a:rPr lang="en-US" sz="1400" dirty="0">
                <a:ea typeface="Calibri" panose="020F0502020204030204"/>
                <a:cs typeface="Calibri" panose="020F0502020204030204"/>
              </a:rPr>
              <a:t>Ad ogni split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ciascun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albero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sceglie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casualmente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un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sottoinsieme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di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predittori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(</a:t>
            </a:r>
            <a:r>
              <a:rPr lang="en-US" sz="1400" b="1" dirty="0" err="1">
                <a:ea typeface="Calibri" panose="020F0502020204030204"/>
                <a:cs typeface="Calibri" panose="020F0502020204030204"/>
              </a:rPr>
              <a:t>mtry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) da cui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sceglie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il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migliore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in modo da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ridurre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la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correlazione</a:t>
            </a:r>
            <a:r>
              <a:rPr lang="en-US" sz="1400" dirty="0">
                <a:ea typeface="Calibri" panose="020F0502020204030204"/>
                <a:cs typeface="Calibri" panose="020F0502020204030204"/>
              </a:rPr>
              <a:t> e la </a:t>
            </a:r>
            <a:r>
              <a:rPr lang="en-US" sz="1400" dirty="0" err="1">
                <a:ea typeface="Calibri" panose="020F0502020204030204"/>
                <a:cs typeface="Calibri" panose="020F0502020204030204"/>
              </a:rPr>
              <a:t>varianza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9415233-40B0-5D34-910F-03AC89829253}"/>
              </a:ext>
            </a:extLst>
          </p:cNvPr>
          <p:cNvSpPr txBox="1"/>
          <p:nvPr/>
        </p:nvSpPr>
        <p:spPr>
          <a:xfrm>
            <a:off x="151990" y="3319785"/>
            <a:ext cx="4359457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Robusto all’</a:t>
            </a:r>
            <a:r>
              <a:rPr lang="it-IT" sz="1400" dirty="0" err="1"/>
              <a:t>overfitting</a:t>
            </a:r>
            <a:endParaRPr lang="it-IT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Gestisce variabili continue, categoriali e dati mancanti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Forniscono una stima dell’errore di test (OOB </a:t>
            </a:r>
            <a:r>
              <a:rPr lang="it-IT" sz="1400" dirty="0" err="1"/>
              <a:t>error</a:t>
            </a:r>
            <a:r>
              <a:rPr lang="it-IT" sz="14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Nessuna assunzione sulla distribuzione dei dati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7AE40F0-2230-393D-113E-FA191FA978E3}"/>
              </a:ext>
            </a:extLst>
          </p:cNvPr>
          <p:cNvSpPr txBox="1"/>
          <p:nvPr/>
        </p:nvSpPr>
        <p:spPr>
          <a:xfrm>
            <a:off x="4970621" y="3319785"/>
            <a:ext cx="3562959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Complesso da analizzare teoricamente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Difficile da interpretare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Costoso in memoria e in inferenza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A29174C0-F434-9E67-AF61-D6442F666134}"/>
              </a:ext>
            </a:extLst>
          </p:cNvPr>
          <p:cNvCxnSpPr>
            <a:cxnSpLocks/>
          </p:cNvCxnSpPr>
          <p:nvPr/>
        </p:nvCxnSpPr>
        <p:spPr>
          <a:xfrm>
            <a:off x="4625323" y="2896800"/>
            <a:ext cx="7227" cy="2120997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3A5EFF77-74AD-DC2D-859E-94A1B39FE0B0}"/>
              </a:ext>
            </a:extLst>
          </p:cNvPr>
          <p:cNvCxnSpPr>
            <a:cxnSpLocks/>
          </p:cNvCxnSpPr>
          <p:nvPr/>
        </p:nvCxnSpPr>
        <p:spPr>
          <a:xfrm>
            <a:off x="835677" y="2788812"/>
            <a:ext cx="741209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A269-B631-7B35-83D5-E5717DDA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24E4E5C-CB25-A9F7-7CDC-7299B1569750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Contesto</a:t>
            </a:r>
            <a:r>
              <a:rPr lang="en-US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 Variable Importance</a:t>
            </a:r>
            <a:endParaRPr lang="it-IT" sz="28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8607534-A078-BC36-A076-6882E4FFC474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3/12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D869F9BE-6285-BEA5-D07F-08AEDEE88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EFD1FFB-260E-6EC7-EBC5-8E3EEBC1EFB0}"/>
              </a:ext>
            </a:extLst>
          </p:cNvPr>
          <p:cNvSpPr txBox="1"/>
          <p:nvPr/>
        </p:nvSpPr>
        <p:spPr>
          <a:xfrm>
            <a:off x="181758" y="754500"/>
            <a:ext cx="89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È la misura del contributo specifico di ciascun predittore nel determinare il risultato della variabile target. Identifica quali fattori guidano maggiormente le previsioni del modello.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2C63364-FDDE-5B59-26DB-5496F4D2D184}"/>
              </a:ext>
            </a:extLst>
          </p:cNvPr>
          <p:cNvSpPr/>
          <p:nvPr/>
        </p:nvSpPr>
        <p:spPr>
          <a:xfrm>
            <a:off x="289493" y="1710722"/>
            <a:ext cx="28167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MDI — Mean Decrease Impurity</a:t>
            </a:r>
            <a:endParaRPr lang="en-US" sz="1600" dirty="0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35E1AF7E-F757-514F-1970-E99A5137F52A}"/>
              </a:ext>
            </a:extLst>
          </p:cNvPr>
          <p:cNvSpPr/>
          <p:nvPr/>
        </p:nvSpPr>
        <p:spPr>
          <a:xfrm>
            <a:off x="4510973" y="1712703"/>
            <a:ext cx="457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 — Mean Decrease Accuracy</a:t>
            </a:r>
            <a:endParaRPr lang="en-US" sz="1600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D6CE5142-2088-38F4-3BFF-D7369EE74EE4}"/>
              </a:ext>
            </a:extLst>
          </p:cNvPr>
          <p:cNvCxnSpPr>
            <a:cxnSpLocks/>
          </p:cNvCxnSpPr>
          <p:nvPr/>
        </p:nvCxnSpPr>
        <p:spPr>
          <a:xfrm>
            <a:off x="4438170" y="1653187"/>
            <a:ext cx="7227" cy="3389797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 4">
            <a:extLst>
              <a:ext uri="{FF2B5EF4-FFF2-40B4-BE49-F238E27FC236}">
                <a16:creationId xmlns:a16="http://schemas.microsoft.com/office/drawing/2014/main" id="{C519DB50-9463-DF92-CCE4-9AC653350AED}"/>
              </a:ext>
            </a:extLst>
          </p:cNvPr>
          <p:cNvSpPr/>
          <p:nvPr/>
        </p:nvSpPr>
        <p:spPr>
          <a:xfrm>
            <a:off x="289493" y="1984230"/>
            <a:ext cx="855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(Gini Importance)</a:t>
            </a:r>
            <a:endParaRPr lang="en-US" sz="95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E945EFF0-CBBD-A2CA-D2DB-4BBE6DC4736C}"/>
              </a:ext>
            </a:extLst>
          </p:cNvPr>
          <p:cNvSpPr/>
          <p:nvPr/>
        </p:nvSpPr>
        <p:spPr>
          <a:xfrm>
            <a:off x="4510973" y="19669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(Permutation Importance)</a:t>
            </a:r>
            <a:endParaRPr lang="en-US" sz="95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D4EC59C-FC1E-BFAD-FD7E-51F4C610760C}"/>
              </a:ext>
            </a:extLst>
          </p:cNvPr>
          <p:cNvSpPr/>
          <p:nvPr/>
        </p:nvSpPr>
        <p:spPr>
          <a:xfrm>
            <a:off x="289493" y="2117910"/>
            <a:ext cx="4105317" cy="77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 quanto ogni variabile contribuisce a ridurre l'impurezza </a:t>
            </a:r>
            <a:r>
              <a:rPr lang="it-IT" sz="1000" dirty="0"/>
              <a:t>all'interno dei nodi degli alberi. Per ogni variabile usata per uno split, si calcola di quanto diminuisce l'impurezza tra il nodo padre e i nodi figli. </a:t>
            </a:r>
          </a:p>
          <a:p>
            <a:r>
              <a:rPr lang="it-IT" sz="1000" dirty="0"/>
              <a:t>Questo valore viene sommato e mediato su tutti gli alberi della foresta.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58A8865-7A16-75B2-7428-91F233491AF3}"/>
              </a:ext>
            </a:extLst>
          </p:cNvPr>
          <p:cNvSpPr/>
          <p:nvPr/>
        </p:nvSpPr>
        <p:spPr>
          <a:xfrm>
            <a:off x="289493" y="2896406"/>
            <a:ext cx="4069080" cy="666647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624253CA-2332-1D65-BD39-DDC38C15CD2A}"/>
                  </a:ext>
                </a:extLst>
              </p:cNvPr>
              <p:cNvSpPr txBox="1"/>
              <p:nvPr/>
            </p:nvSpPr>
            <p:spPr>
              <a:xfrm>
                <a:off x="289493" y="2883867"/>
                <a:ext cx="3862684" cy="691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smtClean="0">
                          <a:latin typeface="Cambria Math" panose="02040503050406030204" pitchFamily="18" charset="0"/>
                        </a:rPr>
                        <m:t>𝑀𝐷𝐼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  <m:d>
                                    <m:dPr>
                                      <m:ctrlP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it-IT" sz="1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sz="1200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624253CA-2332-1D65-BD39-DDC38C15C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93" y="2883867"/>
                <a:ext cx="3862684" cy="691728"/>
              </a:xfrm>
              <a:prstGeom prst="rect">
                <a:avLst/>
              </a:prstGeom>
              <a:blipFill>
                <a:blip r:embed="rId4"/>
                <a:stretch>
                  <a:fillRect t="-90351" b="-105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6">
            <a:extLst>
              <a:ext uri="{FF2B5EF4-FFF2-40B4-BE49-F238E27FC236}">
                <a16:creationId xmlns:a16="http://schemas.microsoft.com/office/drawing/2014/main" id="{AED1F80B-DB4E-E96F-22B4-19D92986FEE0}"/>
              </a:ext>
            </a:extLst>
          </p:cNvPr>
          <p:cNvSpPr/>
          <p:nvPr/>
        </p:nvSpPr>
        <p:spPr>
          <a:xfrm>
            <a:off x="4510973" y="2896406"/>
            <a:ext cx="4069080" cy="666647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BE154114-007B-B095-43EB-7806791B4602}"/>
                  </a:ext>
                </a:extLst>
              </p:cNvPr>
              <p:cNvSpPr txBox="1"/>
              <p:nvPr/>
            </p:nvSpPr>
            <p:spPr>
              <a:xfrm>
                <a:off x="4524994" y="2910820"/>
                <a:ext cx="4039636" cy="611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smtClean="0">
                          <a:latin typeface="Cambria Math" panose="02040503050406030204" pitchFamily="18" charset="0"/>
                        </a:rPr>
                        <m:t>𝑀𝐷𝐴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d>
                            <m:d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𝐴𝑐</m:t>
                              </m:r>
                              <m:sSubSup>
                                <m:sSubSup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𝑂𝑂𝐵</m:t>
                                  </m:r>
                                </m:sup>
                              </m:sSubSup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𝐴𝑐</m:t>
                              </m:r>
                              <m:sSubSup>
                                <m:sSubSup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it-IT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𝑂𝑂𝐵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BE154114-007B-B095-43EB-7806791B4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994" y="2910820"/>
                <a:ext cx="4039636" cy="6116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5">
            <a:extLst>
              <a:ext uri="{FF2B5EF4-FFF2-40B4-BE49-F238E27FC236}">
                <a16:creationId xmlns:a16="http://schemas.microsoft.com/office/drawing/2014/main" id="{A957CEBE-C14B-BF95-067F-2F4218231B43}"/>
              </a:ext>
            </a:extLst>
          </p:cNvPr>
          <p:cNvSpPr/>
          <p:nvPr/>
        </p:nvSpPr>
        <p:spPr>
          <a:xfrm>
            <a:off x="4524994" y="2126719"/>
            <a:ext cx="4105317" cy="77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000" dirty="0"/>
              <a:t>Misura l'importanza di una variabile osservando quanto peggiora l’accuratezza del modello se i suoi valori Out-of-Bag (OOB) vengono mescolati casualmente.</a:t>
            </a:r>
          </a:p>
          <a:p>
            <a:r>
              <a:rPr lang="it-IT" sz="1000" dirty="0"/>
              <a:t>Se l'accuratezza crolla, la variabile è fondamentale; se rimane invariata, la variabile è trascurabile.</a:t>
            </a:r>
            <a:endParaRPr lang="en-US" sz="10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E7FFCB67-5622-A350-F5DC-C797E8391F48}"/>
              </a:ext>
            </a:extLst>
          </p:cNvPr>
          <p:cNvSpPr/>
          <p:nvPr/>
        </p:nvSpPr>
        <p:spPr>
          <a:xfrm>
            <a:off x="289493" y="3638431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Vantaggi</a:t>
            </a:r>
            <a:endParaRPr lang="en-US" sz="10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52C49751-4617-F061-01EB-B06F3F03CECB}"/>
              </a:ext>
            </a:extLst>
          </p:cNvPr>
          <p:cNvSpPr/>
          <p:nvPr/>
        </p:nvSpPr>
        <p:spPr>
          <a:xfrm>
            <a:off x="426653" y="3867031"/>
            <a:ext cx="40315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Calcolata a costo zero durante il training, non richiede dati aggiuntivi.</a:t>
            </a:r>
            <a:endParaRPr lang="en-US" sz="95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FA81110F-7C2E-F516-5633-DE1674349ED0}"/>
              </a:ext>
            </a:extLst>
          </p:cNvPr>
          <p:cNvSpPr/>
          <p:nvPr/>
        </p:nvSpPr>
        <p:spPr>
          <a:xfrm>
            <a:off x="289493" y="4095631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Problema fondamentale</a:t>
            </a:r>
            <a:endParaRPr lang="en-US" sz="10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DF3383FA-F3CE-82E0-E9BF-B89BB0B388E4}"/>
              </a:ext>
            </a:extLst>
          </p:cNvPr>
          <p:cNvSpPr/>
          <p:nvPr/>
        </p:nvSpPr>
        <p:spPr>
          <a:xfrm>
            <a:off x="426653" y="4324231"/>
            <a:ext cx="4031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sistematico verso variabili ad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cardinalità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E[MDI(Xⱼ)] &gt; 0 anche se Xⱼ ⊥ Y.</a:t>
            </a:r>
            <a:endParaRPr lang="en-US" sz="95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819D0759-0BC4-42B9-9FD6-7626B6BBD1BF}"/>
              </a:ext>
            </a:extLst>
          </p:cNvPr>
          <p:cNvSpPr/>
          <p:nvPr/>
        </p:nvSpPr>
        <p:spPr>
          <a:xfrm>
            <a:off x="426653" y="4571119"/>
            <a:ext cx="4031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bias cresce col numero di valori distinti, indipendentemente dalla rilevanza reale.</a:t>
            </a:r>
            <a:endParaRPr lang="en-US" sz="95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F0F92313-55B6-7E05-739A-1A0B98C70729}"/>
              </a:ext>
            </a:extLst>
          </p:cNvPr>
          <p:cNvSpPr/>
          <p:nvPr/>
        </p:nvSpPr>
        <p:spPr>
          <a:xfrm>
            <a:off x="4524994" y="3736467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sensibile alla cardinalità rispetto alla MDI</a:t>
            </a:r>
            <a:endParaRPr lang="en-US" sz="950" b="1" dirty="0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C0DEEE7F-04B6-AE7D-7E9A-8E0D061FE21E}"/>
              </a:ext>
            </a:extLst>
          </p:cNvPr>
          <p:cNvSpPr/>
          <p:nvPr/>
        </p:nvSpPr>
        <p:spPr>
          <a:xfrm>
            <a:off x="4524994" y="397421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0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Limitazioni</a:t>
            </a:r>
            <a:endParaRPr lang="en-US" sz="10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0C595636-99DD-8272-BA2B-4B597FA8E4D6}"/>
              </a:ext>
            </a:extLst>
          </p:cNvPr>
          <p:cNvSpPr/>
          <p:nvPr/>
        </p:nvSpPr>
        <p:spPr>
          <a:xfrm>
            <a:off x="4662153" y="4193667"/>
            <a:ext cx="40098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variabili correlate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distribuisce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l’importanza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arbitrariamente tra variabili simili.</a:t>
            </a:r>
            <a:endParaRPr lang="en-US" sz="95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07C68074-6E71-129C-4342-B1FEE9EFE9B4}"/>
              </a:ext>
            </a:extLst>
          </p:cNvPr>
          <p:cNvSpPr/>
          <p:nvPr/>
        </p:nvSpPr>
        <p:spPr>
          <a:xfrm>
            <a:off x="4658677" y="4399805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più lento da calcolare.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3120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4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bias della MDI: perché favorisce alta cardinalità</a:t>
            </a: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6E33B095-E968-8AF7-7F3E-9A1EC44DB335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4/12</a:t>
            </a:r>
            <a:endParaRPr lang="en-US" sz="9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A601F60-F0CD-83C7-C6E9-256CB43ACC20}"/>
              </a:ext>
            </a:extLst>
          </p:cNvPr>
          <p:cNvSpPr/>
          <p:nvPr/>
        </p:nvSpPr>
        <p:spPr>
          <a:xfrm>
            <a:off x="181758" y="889555"/>
            <a:ext cx="7502719" cy="32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Più valori possibili = più opportunità di sembrare utile per caso.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3928D39-5B27-8CA2-CB49-047F62615E14}"/>
              </a:ext>
            </a:extLst>
          </p:cNvPr>
          <p:cNvSpPr/>
          <p:nvPr/>
        </p:nvSpPr>
        <p:spPr>
          <a:xfrm>
            <a:off x="182880" y="2322356"/>
            <a:ext cx="8609428" cy="32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Il feature </a:t>
            </a:r>
            <a:r>
              <a:rPr lang="it-IT" sz="20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subsampling</a:t>
            </a:r>
            <a:r>
              <a:rPr lang="it-IT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amplifica il problema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AF249C96-CD25-D2D0-61B9-5ABB136B5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52" y="3599929"/>
            <a:ext cx="8377300" cy="951268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CA141BE-9370-549D-D4A0-D0471DEB920B}"/>
              </a:ext>
            </a:extLst>
          </p:cNvPr>
          <p:cNvSpPr txBox="1"/>
          <p:nvPr/>
        </p:nvSpPr>
        <p:spPr>
          <a:xfrm>
            <a:off x="505651" y="1228190"/>
            <a:ext cx="83291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Le variabili continue offrono </a:t>
            </a:r>
            <a:r>
              <a:rPr lang="it-IT" sz="1400" b="1" dirty="0"/>
              <a:t>centinaia di soglie </a:t>
            </a:r>
            <a:r>
              <a:rPr lang="it-IT" sz="1400" dirty="0"/>
              <a:t>rispetto all'unico taglio di una binaria. </a:t>
            </a:r>
          </a:p>
          <a:p>
            <a:r>
              <a:rPr lang="it-IT" sz="1400" dirty="0"/>
              <a:t>Questo eccesso di tentativi permette al </a:t>
            </a:r>
            <a:r>
              <a:rPr lang="it-IT" sz="1400" b="1" dirty="0"/>
              <a:t>puro rumore</a:t>
            </a:r>
            <a:r>
              <a:rPr lang="it-IT" sz="1400" dirty="0"/>
              <a:t> di simulare, per puro caso, una </a:t>
            </a:r>
            <a:r>
              <a:rPr lang="it-IT" sz="1400" b="1" dirty="0"/>
              <a:t>soglia utile</a:t>
            </a:r>
            <a:r>
              <a:rPr lang="it-IT" sz="1400" dirty="0"/>
              <a:t>. </a:t>
            </a:r>
          </a:p>
          <a:p>
            <a:endParaRPr lang="it-IT" sz="1400" dirty="0"/>
          </a:p>
          <a:p>
            <a:r>
              <a:rPr lang="it-IT" sz="1400" i="1" dirty="0"/>
              <a:t>Nota: il massimo su K tentativi cresce con K, anche con un guadagno atteso pari a zero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893660E-93AF-0EF7-FDF1-F724943C7BA2}"/>
              </a:ext>
            </a:extLst>
          </p:cNvPr>
          <p:cNvSpPr txBox="1"/>
          <p:nvPr/>
        </p:nvSpPr>
        <p:spPr>
          <a:xfrm>
            <a:off x="581851" y="2666698"/>
            <a:ext cx="8210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 ogni split si considerano solo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𝑚 &lt; 𝑝 variabili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una variabile ad alta cardinalità ha più probabilità di risultare la “migliore” nel sottoinsieme estratto per puro caso</a:t>
            </a:r>
            <a:endParaRPr lang="it-IT" dirty="0"/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398E5D50-AB98-EC93-2CDB-D36E6BFD65BE}"/>
              </a:ext>
            </a:extLst>
          </p:cNvPr>
          <p:cNvCxnSpPr>
            <a:cxnSpLocks/>
          </p:cNvCxnSpPr>
          <p:nvPr/>
        </p:nvCxnSpPr>
        <p:spPr>
          <a:xfrm>
            <a:off x="181758" y="2179212"/>
            <a:ext cx="8528488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6D66274C-37F7-C6AC-44D5-F836A684B280}"/>
              </a:ext>
            </a:extLst>
          </p:cNvPr>
          <p:cNvCxnSpPr>
            <a:cxnSpLocks/>
          </p:cNvCxnSpPr>
          <p:nvPr/>
        </p:nvCxnSpPr>
        <p:spPr>
          <a:xfrm>
            <a:off x="136424" y="3415996"/>
            <a:ext cx="8528488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83F3A-223C-4FFD-3380-55DFF0BD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43B012AA-5B62-CB2B-B759-DD31D3595D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1CCC4608-3BD0-0700-E7E8-49DDC398BC5F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1 — Bias MDI</a:t>
            </a:r>
          </a:p>
        </p:txBody>
      </p:sp>
      <p:sp>
        <p:nvSpPr>
          <p:cNvPr id="10" name="SetupBg">
            <a:extLst>
              <a:ext uri="{FF2B5EF4-FFF2-40B4-BE49-F238E27FC236}">
                <a16:creationId xmlns:a16="http://schemas.microsoft.com/office/drawing/2014/main" id="{D2EAC83E-B0DF-FDB3-A5B7-C7647DC53441}"/>
              </a:ext>
            </a:extLst>
          </p:cNvPr>
          <p:cNvSpPr/>
          <p:nvPr/>
        </p:nvSpPr>
        <p:spPr>
          <a:xfrm>
            <a:off x="182000" y="810000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1" name="SetupTxt">
            <a:extLst>
              <a:ext uri="{FF2B5EF4-FFF2-40B4-BE49-F238E27FC236}">
                <a16:creationId xmlns:a16="http://schemas.microsoft.com/office/drawing/2014/main" id="{8A6C1D28-4957-5078-B4EF-554916A4673F}"/>
              </a:ext>
            </a:extLst>
          </p:cNvPr>
          <p:cNvSpPr/>
          <p:nvPr/>
        </p:nvSpPr>
        <p:spPr>
          <a:xfrm>
            <a:off x="242000" y="810000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n=600, Y = rumore puro, 4 predittori tutti rumore con cardinalità crescente</a:t>
            </a:r>
          </a:p>
        </p:txBody>
      </p:sp>
      <p:sp>
        <p:nvSpPr>
          <p:cNvPr id="22" name="Arr0">
            <a:extLst>
              <a:ext uri="{FF2B5EF4-FFF2-40B4-BE49-F238E27FC236}">
                <a16:creationId xmlns:a16="http://schemas.microsoft.com/office/drawing/2014/main" id="{29BAD6EF-75D3-F5E8-0231-9AC8F6293C2A}"/>
              </a:ext>
            </a:extLst>
          </p:cNvPr>
          <p:cNvSpPr/>
          <p:nvPr/>
        </p:nvSpPr>
        <p:spPr>
          <a:xfrm>
            <a:off x="232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VCTxt1">
            <a:extLst>
              <a:ext uri="{FF2B5EF4-FFF2-40B4-BE49-F238E27FC236}">
                <a16:creationId xmlns:a16="http://schemas.microsoft.com/office/drawing/2014/main" id="{A6DAE7DA-3296-34D6-382C-51E3DF19F987}"/>
              </a:ext>
            </a:extLst>
          </p:cNvPr>
          <p:cNvSpPr/>
          <p:nvPr/>
        </p:nvSpPr>
        <p:spPr>
          <a:xfrm>
            <a:off x="239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(5 cat)</a:t>
            </a:r>
          </a:p>
        </p:txBody>
      </p:sp>
      <p:sp>
        <p:nvSpPr>
          <p:cNvPr id="27" name="Arr1">
            <a:extLst>
              <a:ext uri="{FF2B5EF4-FFF2-40B4-BE49-F238E27FC236}">
                <a16:creationId xmlns:a16="http://schemas.microsoft.com/office/drawing/2014/main" id="{6BE26101-4FFE-47ED-3B3F-49FA70DA9B31}"/>
              </a:ext>
            </a:extLst>
          </p:cNvPr>
          <p:cNvSpPr/>
          <p:nvPr/>
        </p:nvSpPr>
        <p:spPr>
          <a:xfrm>
            <a:off x="4542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VCTxt2">
            <a:extLst>
              <a:ext uri="{FF2B5EF4-FFF2-40B4-BE49-F238E27FC236}">
                <a16:creationId xmlns:a16="http://schemas.microsoft.com/office/drawing/2014/main" id="{1DE43079-6BCE-4D8F-B99C-B27672EE7826}"/>
              </a:ext>
            </a:extLst>
          </p:cNvPr>
          <p:cNvSpPr/>
          <p:nvPr/>
        </p:nvSpPr>
        <p:spPr>
          <a:xfrm>
            <a:off x="4612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cat15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(15 cat)</a:t>
            </a:r>
          </a:p>
        </p:txBody>
      </p:sp>
      <p:sp>
        <p:nvSpPr>
          <p:cNvPr id="32" name="Arr2">
            <a:extLst>
              <a:ext uri="{FF2B5EF4-FFF2-40B4-BE49-F238E27FC236}">
                <a16:creationId xmlns:a16="http://schemas.microsoft.com/office/drawing/2014/main" id="{3634995F-7611-7F23-A19C-FD9824B03107}"/>
              </a:ext>
            </a:extLst>
          </p:cNvPr>
          <p:cNvSpPr/>
          <p:nvPr/>
        </p:nvSpPr>
        <p:spPr>
          <a:xfrm>
            <a:off x="6757000" y="1260000"/>
            <a:ext cx="6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endParaRPr lang="it-IT" sz="1800" b="1" dirty="0">
              <a:solidFill>
                <a:srgbClr val="546E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VCTxt3">
            <a:extLst>
              <a:ext uri="{FF2B5EF4-FFF2-40B4-BE49-F238E27FC236}">
                <a16:creationId xmlns:a16="http://schemas.microsoft.com/office/drawing/2014/main" id="{B370BA28-BE68-58AB-A6D5-3A3BEA923F7E}"/>
              </a:ext>
            </a:extLst>
          </p:cNvPr>
          <p:cNvSpPr/>
          <p:nvPr/>
        </p:nvSpPr>
        <p:spPr>
          <a:xfrm>
            <a:off x="6827000" y="1260000"/>
            <a:ext cx="2135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 cont</a:t>
            </a:r>
          </a:p>
          <a:p>
            <a:pPr algn="l">
              <a:buNone/>
            </a:pPr>
            <a:r>
              <a:rPr lang="it-IT" sz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(continua)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915BD9D-4263-2441-A336-EFBFBA9B4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969" y="1379370"/>
            <a:ext cx="6630079" cy="3500888"/>
          </a:xfrm>
          <a:prstGeom prst="rect">
            <a:avLst/>
          </a:prstGeom>
        </p:spPr>
      </p:pic>
      <p:sp>
        <p:nvSpPr>
          <p:cNvPr id="5" name="Text 29">
            <a:extLst>
              <a:ext uri="{FF2B5EF4-FFF2-40B4-BE49-F238E27FC236}">
                <a16:creationId xmlns:a16="http://schemas.microsoft.com/office/drawing/2014/main" id="{1FF86554-45FC-76D2-A2A3-CD9F49C6ABF8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827600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">
            <a:extLst>
              <a:ext uri="{FF2B5EF4-FFF2-40B4-BE49-F238E27FC236}">
                <a16:creationId xmlns:a16="http://schemas.microsoft.com/office/drawing/2014/main" id="{5882D6BD-ACA5-5FB2-1A09-D7B650E3A4D4}"/>
              </a:ext>
            </a:extLst>
          </p:cNvPr>
          <p:cNvSpPr/>
          <p:nvPr/>
        </p:nvSpPr>
        <p:spPr>
          <a:xfrm>
            <a:off x="3157118" y="1845944"/>
            <a:ext cx="2864682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FE69D547-D75D-BB4A-EB9E-D693BE1BD126}"/>
              </a:ext>
            </a:extLst>
          </p:cNvPr>
          <p:cNvSpPr/>
          <p:nvPr/>
        </p:nvSpPr>
        <p:spPr>
          <a:xfrm>
            <a:off x="211758" y="1833771"/>
            <a:ext cx="2806666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pic>
        <p:nvPicPr>
          <p:cNvPr id="90" name="Logo"/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problema della correlazione e l’instabilità</a:t>
            </a:r>
          </a:p>
        </p:txBody>
      </p:sp>
      <p:sp>
        <p:nvSpPr>
          <p:cNvPr id="10" name="QBg"/>
          <p:cNvSpPr/>
          <p:nvPr/>
        </p:nvSpPr>
        <p:spPr>
          <a:xfrm>
            <a:off x="182000" y="820000"/>
            <a:ext cx="878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" name="QTxt"/>
          <p:cNvSpPr/>
          <p:nvPr/>
        </p:nvSpPr>
        <p:spPr>
          <a:xfrm>
            <a:off x="182000" y="820000"/>
            <a:ext cx="86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800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Cosa succede quando due predittori sono fortemente correlati?</a:t>
            </a:r>
          </a:p>
        </p:txBody>
      </p:sp>
      <p:sp>
        <p:nvSpPr>
          <p:cNvPr id="22" name="CTxt0"/>
          <p:cNvSpPr/>
          <p:nvPr/>
        </p:nvSpPr>
        <p:spPr>
          <a:xfrm>
            <a:off x="222000" y="1440686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Premessa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652395-B74D-8E97-3EEA-561AC36EA4E7}"/>
              </a:ext>
            </a:extLst>
          </p:cNvPr>
          <p:cNvSpPr txBox="1"/>
          <p:nvPr/>
        </p:nvSpPr>
        <p:spPr>
          <a:xfrm>
            <a:off x="191758" y="1845943"/>
            <a:ext cx="2846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rgbClr val="004180"/>
                </a:solidFill>
              </a:rPr>
              <a:t>entrambe le variabili sembrano ugualmente utili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B16B9F-3537-4567-BDA3-415C0EFE7B5F}"/>
              </a:ext>
            </a:extLst>
          </p:cNvPr>
          <p:cNvSpPr txBox="1"/>
          <p:nvPr/>
        </p:nvSpPr>
        <p:spPr>
          <a:xfrm>
            <a:off x="222000" y="2526332"/>
            <a:ext cx="28466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Con </a:t>
            </a:r>
            <a:r>
              <a:rPr lang="it-IT" sz="1400" b="1" dirty="0"/>
              <a:t>ρ alta</a:t>
            </a:r>
            <a:r>
              <a:rPr lang="it-IT" sz="1400" dirty="0"/>
              <a:t>, X₁ e X₂ producono quasi lo stesso guadagno di MSE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foresta </a:t>
            </a:r>
            <a:r>
              <a:rPr lang="it-IT" sz="1400" b="1" dirty="0"/>
              <a:t>non distingue</a:t>
            </a:r>
            <a:r>
              <a:rPr lang="it-IT" sz="1400" dirty="0"/>
              <a:t> quale sia davvero </a:t>
            </a:r>
            <a:r>
              <a:rPr lang="it-IT" sz="1400" b="1" dirty="0"/>
              <a:t>causale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F6F69BAD-A95A-DA30-769E-FF4E62A0D183}"/>
              </a:ext>
            </a:extLst>
          </p:cNvPr>
          <p:cNvCxnSpPr>
            <a:cxnSpLocks/>
          </p:cNvCxnSpPr>
          <p:nvPr/>
        </p:nvCxnSpPr>
        <p:spPr>
          <a:xfrm flipH="1">
            <a:off x="3068666" y="1399686"/>
            <a:ext cx="16144" cy="2932615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CTxt0">
            <a:extLst>
              <a:ext uri="{FF2B5EF4-FFF2-40B4-BE49-F238E27FC236}">
                <a16:creationId xmlns:a16="http://schemas.microsoft.com/office/drawing/2014/main" id="{FF93BB77-9D99-31EA-735F-DDDB33A34E63}"/>
              </a:ext>
            </a:extLst>
          </p:cNvPr>
          <p:cNvSpPr/>
          <p:nvPr/>
        </p:nvSpPr>
        <p:spPr>
          <a:xfrm>
            <a:off x="3149972" y="1434374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Meccanismo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A4F1E74-559C-2B13-2E2A-C439283A1299}"/>
              </a:ext>
            </a:extLst>
          </p:cNvPr>
          <p:cNvSpPr txBox="1"/>
          <p:nvPr/>
        </p:nvSpPr>
        <p:spPr>
          <a:xfrm>
            <a:off x="3175134" y="1933943"/>
            <a:ext cx="2846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rgbClr val="004180"/>
                </a:solidFill>
              </a:rPr>
              <a:t>chi vince dipende dal caso</a:t>
            </a:r>
            <a:endParaRPr lang="it-IT" sz="1400" i="1" dirty="0">
              <a:solidFill>
                <a:srgbClr val="004180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893225-B40B-AB2B-4831-801292C6E143}"/>
              </a:ext>
            </a:extLst>
          </p:cNvPr>
          <p:cNvSpPr txBox="1"/>
          <p:nvPr/>
        </p:nvSpPr>
        <p:spPr>
          <a:xfrm>
            <a:off x="3161522" y="2526332"/>
            <a:ext cx="2846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Bootstrap</a:t>
            </a:r>
            <a:r>
              <a:rPr lang="it-IT" sz="1400" dirty="0"/>
              <a:t> e </a:t>
            </a:r>
            <a:r>
              <a:rPr lang="it-IT" sz="1400" b="1" dirty="0" err="1"/>
              <a:t>mtry</a:t>
            </a:r>
            <a:r>
              <a:rPr lang="it-IT" sz="1400" dirty="0"/>
              <a:t> scelgono casualmente quale variabile è disponibile ad ogni split.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"vincitrice" accumula importanza per pura fortuna</a:t>
            </a:r>
            <a:endParaRPr lang="it-IT" sz="1400" b="1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E56E0C87-5AFC-7335-B856-E5BC326BD1C2}"/>
              </a:ext>
            </a:extLst>
          </p:cNvPr>
          <p:cNvSpPr/>
          <p:nvPr/>
        </p:nvSpPr>
        <p:spPr>
          <a:xfrm>
            <a:off x="6116988" y="1845943"/>
            <a:ext cx="2864682" cy="56315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p:sp>
        <p:nvSpPr>
          <p:cNvPr id="17" name="CTxt0">
            <a:extLst>
              <a:ext uri="{FF2B5EF4-FFF2-40B4-BE49-F238E27FC236}">
                <a16:creationId xmlns:a16="http://schemas.microsoft.com/office/drawing/2014/main" id="{32E99013-2908-AF38-C50D-72C704B3BE18}"/>
              </a:ext>
            </a:extLst>
          </p:cNvPr>
          <p:cNvSpPr/>
          <p:nvPr/>
        </p:nvSpPr>
        <p:spPr>
          <a:xfrm>
            <a:off x="6090170" y="1434374"/>
            <a:ext cx="2806666" cy="41156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it-IT" b="1" dirty="0">
                <a:solidFill>
                  <a:srgbClr val="004180"/>
                </a:solidFill>
                <a:latin typeface="Calibri"/>
                <a:ea typeface="Calibri"/>
                <a:cs typeface="Calibri"/>
              </a:rPr>
              <a:t>Effetto</a:t>
            </a:r>
            <a:endParaRPr lang="it-IT" sz="1300" b="1" dirty="0">
              <a:solidFill>
                <a:srgbClr val="0041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C8BEA4D-0C51-D87D-96E0-D7BD419D8502}"/>
              </a:ext>
            </a:extLst>
          </p:cNvPr>
          <p:cNvSpPr txBox="1"/>
          <p:nvPr/>
        </p:nvSpPr>
        <p:spPr>
          <a:xfrm>
            <a:off x="6106324" y="1816220"/>
            <a:ext cx="28066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4180"/>
                </a:solidFill>
              </a:rPr>
              <a:t> </a:t>
            </a:r>
            <a:r>
              <a:rPr lang="it-IT" sz="1600" i="1" dirty="0">
                <a:solidFill>
                  <a:srgbClr val="004180"/>
                </a:solidFill>
              </a:rPr>
              <a:t>l'importanza si distribuisce arbitrariamente</a:t>
            </a:r>
            <a:endParaRPr lang="it-IT" sz="1400" i="1" dirty="0">
              <a:solidFill>
                <a:srgbClr val="004180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A4AE563-B5C1-5211-DA69-B3E0CAA1747E}"/>
              </a:ext>
            </a:extLst>
          </p:cNvPr>
          <p:cNvSpPr txBox="1"/>
          <p:nvPr/>
        </p:nvSpPr>
        <p:spPr>
          <a:xfrm>
            <a:off x="6090170" y="2520020"/>
            <a:ext cx="2846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</a:t>
            </a:r>
            <a:r>
              <a:rPr lang="it-IT" sz="1400" b="1" dirty="0"/>
              <a:t>classifica</a:t>
            </a:r>
            <a:r>
              <a:rPr lang="it-IT" sz="1400" dirty="0"/>
              <a:t> cambia ad ogni </a:t>
            </a:r>
            <a:r>
              <a:rPr lang="it-IT" sz="1400" b="1" dirty="0" err="1"/>
              <a:t>run</a:t>
            </a:r>
            <a:r>
              <a:rPr lang="it-IT" sz="1400" dirty="0"/>
              <a:t>, anche sugli stessi dati.</a:t>
            </a:r>
          </a:p>
          <a:p>
            <a:endParaRPr lang="it-I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Il "gene più importante " oggi, domani potrebbe non esserlo più</a:t>
            </a:r>
            <a:r>
              <a:rPr lang="it-IT" sz="1400" dirty="0"/>
              <a:t>.</a:t>
            </a:r>
            <a:endParaRPr lang="it-IT" sz="1400" b="1" dirty="0"/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99C616E-1708-E764-AB97-E36E85D38413}"/>
              </a:ext>
            </a:extLst>
          </p:cNvPr>
          <p:cNvCxnSpPr>
            <a:cxnSpLocks/>
          </p:cNvCxnSpPr>
          <p:nvPr/>
        </p:nvCxnSpPr>
        <p:spPr>
          <a:xfrm>
            <a:off x="6060824" y="1399686"/>
            <a:ext cx="31888" cy="2984745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675B2952-9B67-5B36-2439-A9C82CDE1763}"/>
              </a:ext>
            </a:extLst>
          </p:cNvPr>
          <p:cNvCxnSpPr>
            <a:cxnSpLocks/>
          </p:cNvCxnSpPr>
          <p:nvPr/>
        </p:nvCxnSpPr>
        <p:spPr>
          <a:xfrm>
            <a:off x="181758" y="1320686"/>
            <a:ext cx="861055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5" name="Text 29">
            <a:extLst>
              <a:ext uri="{FF2B5EF4-FFF2-40B4-BE49-F238E27FC236}">
                <a16:creationId xmlns:a16="http://schemas.microsoft.com/office/drawing/2014/main" id="{3B0EA4BD-286A-75B2-CF93-24AF3CF304CB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6/12</a:t>
            </a:r>
            <a:endParaRPr lang="en-US" sz="9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2 — L’effetto della Correlazione</a:t>
            </a:r>
          </a:p>
        </p:txBody>
      </p:sp>
      <p:sp>
        <p:nvSpPr>
          <p:cNvPr id="2" name="SetupBg">
            <a:extLst>
              <a:ext uri="{FF2B5EF4-FFF2-40B4-BE49-F238E27FC236}">
                <a16:creationId xmlns:a16="http://schemas.microsoft.com/office/drawing/2014/main" id="{BA8CD6CA-ABEF-8EC5-EFFE-04CED07EECA3}"/>
              </a:ext>
            </a:extLst>
          </p:cNvPr>
          <p:cNvSpPr/>
          <p:nvPr/>
        </p:nvSpPr>
        <p:spPr>
          <a:xfrm>
            <a:off x="182000" y="758692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SetupTxt">
            <a:extLst>
              <a:ext uri="{FF2B5EF4-FFF2-40B4-BE49-F238E27FC236}">
                <a16:creationId xmlns:a16="http://schemas.microsoft.com/office/drawing/2014/main" id="{DFEEA9E2-1B9D-9AE3-9C95-4B357FE642A0}"/>
              </a:ext>
            </a:extLst>
          </p:cNvPr>
          <p:cNvSpPr/>
          <p:nvPr/>
        </p:nvSpPr>
        <p:spPr>
          <a:xfrm>
            <a:off x="242000" y="758692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p=12 predittori - struttura AR(1) con ρ=0.95 - solo X₁ è causale - n=150 - 30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con semi diversi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3F88270-18EB-E482-18E9-D5607A31F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122" y="1358845"/>
            <a:ext cx="6355003" cy="3306940"/>
          </a:xfrm>
          <a:prstGeom prst="rect">
            <a:avLst/>
          </a:prstGeom>
        </p:spPr>
      </p:pic>
      <p:sp>
        <p:nvSpPr>
          <p:cNvPr id="7" name="Text 29">
            <a:extLst>
              <a:ext uri="{FF2B5EF4-FFF2-40B4-BE49-F238E27FC236}">
                <a16:creationId xmlns:a16="http://schemas.microsoft.com/office/drawing/2014/main" id="{818F7926-0FE1-9E1A-A62A-20721AC6A725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7/12</a:t>
            </a:r>
            <a:endParaRPr lang="en-US" sz="9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7C8C-3323-DBB1-CFEE-388932B7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E807D0A3-CD08-FC47-8FAE-DC8174D0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>
            <a:extLst>
              <a:ext uri="{FF2B5EF4-FFF2-40B4-BE49-F238E27FC236}">
                <a16:creationId xmlns:a16="http://schemas.microsoft.com/office/drawing/2014/main" id="{5B90A0E9-E561-6F25-92B3-27DBC363D410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Possibile soluzione: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Conditional</a:t>
            </a: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28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Importance</a:t>
            </a:r>
            <a:endParaRPr lang="it-IT" sz="2800" b="1" dirty="0">
              <a:solidFill>
                <a:srgbClr val="1B3D7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 29">
            <a:extLst>
              <a:ext uri="{FF2B5EF4-FFF2-40B4-BE49-F238E27FC236}">
                <a16:creationId xmlns:a16="http://schemas.microsoft.com/office/drawing/2014/main" id="{1E8AE4CD-9326-56D1-86EC-352FC3B349C5}"/>
              </a:ext>
            </a:extLst>
          </p:cNvPr>
          <p:cNvSpPr/>
          <p:nvPr/>
        </p:nvSpPr>
        <p:spPr>
          <a:xfrm>
            <a:off x="181758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8/12</a:t>
            </a:r>
            <a:endParaRPr lang="en-US" sz="90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FF42EC1-946D-B25C-C5E2-563FB2F1CDB2}"/>
              </a:ext>
            </a:extLst>
          </p:cNvPr>
          <p:cNvSpPr txBox="1"/>
          <p:nvPr/>
        </p:nvSpPr>
        <p:spPr>
          <a:xfrm>
            <a:off x="270387" y="1880010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Meccanismo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2782E7-C3CF-DB58-82D5-572A6B840289}"/>
              </a:ext>
            </a:extLst>
          </p:cNvPr>
          <p:cNvSpPr txBox="1"/>
          <p:nvPr/>
        </p:nvSpPr>
        <p:spPr>
          <a:xfrm>
            <a:off x="456078" y="978188"/>
            <a:ext cx="8619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Estensione della MDA </a:t>
            </a:r>
            <a:r>
              <a:rPr lang="it-IT" sz="1400" dirty="0"/>
              <a:t>che permuta Xⱼ rispetto alla sua distribuzione </a:t>
            </a:r>
            <a:r>
              <a:rPr lang="it-IT" sz="1400" b="1" dirty="0"/>
              <a:t>condizionale Xⱼ | Z</a:t>
            </a:r>
            <a:r>
              <a:rPr lang="it-IT" sz="1400" dirty="0"/>
              <a:t>, anziché rispetto alla distribuzione marginale.</a:t>
            </a:r>
          </a:p>
          <a:p>
            <a:r>
              <a:rPr lang="it-IT" sz="1400" dirty="0"/>
              <a:t>In questo modo isola il </a:t>
            </a:r>
            <a:r>
              <a:rPr lang="it-IT" sz="1400" b="1" dirty="0"/>
              <a:t>contributo unico </a:t>
            </a:r>
            <a:r>
              <a:rPr lang="it-IT" sz="1400" dirty="0"/>
              <a:t>di Xⱼ al netto delle variabili correlate Z.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5DC8F57-DC0D-0CE9-86AA-B7C7639C1889}"/>
              </a:ext>
            </a:extLst>
          </p:cNvPr>
          <p:cNvCxnSpPr>
            <a:cxnSpLocks/>
          </p:cNvCxnSpPr>
          <p:nvPr/>
        </p:nvCxnSpPr>
        <p:spPr>
          <a:xfrm>
            <a:off x="312271" y="1859947"/>
            <a:ext cx="8610550" cy="0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94357AB7-D10F-1188-FFA5-427641BB2D05}"/>
              </a:ext>
            </a:extLst>
          </p:cNvPr>
          <p:cNvCxnSpPr>
            <a:cxnSpLocks/>
          </p:cNvCxnSpPr>
          <p:nvPr/>
        </p:nvCxnSpPr>
        <p:spPr>
          <a:xfrm flipH="1">
            <a:off x="4182358" y="1907459"/>
            <a:ext cx="16144" cy="2932615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4136DCB-8B6C-207D-4F96-F353D9BE4635}"/>
              </a:ext>
            </a:extLst>
          </p:cNvPr>
          <p:cNvSpPr txBox="1"/>
          <p:nvPr/>
        </p:nvSpPr>
        <p:spPr>
          <a:xfrm>
            <a:off x="312271" y="705354"/>
            <a:ext cx="828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Definizione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40AF6F8-4D41-896C-8BF6-0B9B70D3BBDA}"/>
              </a:ext>
            </a:extLst>
          </p:cNvPr>
          <p:cNvSpPr txBox="1"/>
          <p:nvPr/>
        </p:nvSpPr>
        <p:spPr>
          <a:xfrm>
            <a:off x="390090" y="2191053"/>
            <a:ext cx="380841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Le </a:t>
            </a:r>
            <a:r>
              <a:rPr lang="it-IT" sz="1400" b="1" dirty="0"/>
              <a:t>osservazioni OOB </a:t>
            </a:r>
            <a:r>
              <a:rPr lang="it-IT" sz="1400" dirty="0"/>
              <a:t>vengono partizionate in base ai valori delle variabili </a:t>
            </a:r>
            <a:r>
              <a:rPr lang="it-IT" sz="1400" b="1" dirty="0"/>
              <a:t>correlate Z</a:t>
            </a:r>
            <a:r>
              <a:rPr lang="it-IT" sz="1400" dirty="0"/>
              <a:t> (sfrutta struttura degli alberi). </a:t>
            </a:r>
          </a:p>
          <a:p>
            <a:r>
              <a:rPr lang="it-IT" sz="1400" b="1" dirty="0"/>
              <a:t>Xⱼ</a:t>
            </a:r>
            <a:r>
              <a:rPr lang="it-IT" sz="1400" dirty="0"/>
              <a:t> viene poi permutata esclusivamente all'interno di </a:t>
            </a:r>
            <a:r>
              <a:rPr lang="it-IT" sz="1400" b="1" dirty="0"/>
              <a:t>ciascun gruppo</a:t>
            </a:r>
            <a:r>
              <a:rPr lang="it-IT" sz="1400" dirty="0"/>
              <a:t>, preservando così la reale </a:t>
            </a:r>
            <a:r>
              <a:rPr lang="it-IT" sz="1400" b="1" dirty="0"/>
              <a:t>struttura di dipendenza</a:t>
            </a:r>
            <a:r>
              <a:rPr lang="it-IT" sz="1400" dirty="0"/>
              <a:t>.</a:t>
            </a:r>
          </a:p>
          <a:p>
            <a:endParaRPr lang="it-IT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3033512C-A9C0-D3AD-1BC4-2C0F33656D6C}"/>
              </a:ext>
            </a:extLst>
          </p:cNvPr>
          <p:cNvSpPr/>
          <p:nvPr/>
        </p:nvSpPr>
        <p:spPr>
          <a:xfrm>
            <a:off x="391436" y="3600730"/>
            <a:ext cx="3679556" cy="1133998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58F5D58C-F527-B62D-73AD-CD2791E55CE8}"/>
                  </a:ext>
                </a:extLst>
              </p:cNvPr>
              <p:cNvSpPr txBox="1"/>
              <p:nvPr/>
            </p:nvSpPr>
            <p:spPr>
              <a:xfrm>
                <a:off x="-233019" y="3653973"/>
                <a:ext cx="5178519" cy="611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1200" i="0" smtClean="0">
                          <a:latin typeface="Cambria Math" panose="02040503050406030204" pitchFamily="18" charset="0"/>
                        </a:rPr>
                        <m:t>CPI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it-IT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Acc</m:t>
                                  </m:r>
                                </m:e>
                                <m:sub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it-IT" sz="1200" i="0">
                                          <a:latin typeface="Cambria Math" panose="02040503050406030204" pitchFamily="18" charset="0"/>
                                        </a:rPr>
                                        <m:t>OOB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Acc</m:t>
                                  </m:r>
                                </m:e>
                                <m:sub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it-IT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it-IT" sz="1200" i="0">
                                          <a:latin typeface="Cambria Math" panose="02040503050406030204" pitchFamily="18" charset="0"/>
                                        </a:rPr>
                                        <m:t>OOB</m:t>
                                      </m:r>
                                    </m:e>
                                    <m:sub>
                                      <m:r>
                                        <a:rPr lang="it-IT" sz="1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58F5D58C-F527-B62D-73AD-CD2791E55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3019" y="3653973"/>
                <a:ext cx="5178519" cy="611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3DA3237C-B034-6E0D-6807-89886FBB4872}"/>
                  </a:ext>
                </a:extLst>
              </p:cNvPr>
              <p:cNvSpPr txBox="1"/>
              <p:nvPr/>
            </p:nvSpPr>
            <p:spPr>
              <a:xfrm>
                <a:off x="514693" y="4312295"/>
                <a:ext cx="3340930" cy="307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2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0">
                              <a:latin typeface="Cambria Math" panose="02040503050406030204" pitchFamily="18" charset="0"/>
                            </a:rPr>
                            <m:t>𝒵</m:t>
                          </m:r>
                        </m:e>
                        <m:sub>
                          <m:r>
                            <a:rPr lang="it-IT" sz="1200" i="0">
                              <a:latin typeface="Cambria Math" panose="02040503050406030204" pitchFamily="18" charset="0"/>
                            </a:rPr>
                            <m:t>𝒿</m:t>
                          </m:r>
                        </m:sub>
                      </m:sSub>
                      <m:r>
                        <a:rPr lang="it-IT" sz="1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it-IT" sz="1200" i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it-IT" sz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i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20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it-IT" sz="1200" i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1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it-IT" sz="120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it-IT" sz="1200" i="0"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</m:e>
                          </m:acc>
                          <m:d>
                            <m:dPr>
                              <m:ctrlPr>
                                <a:rPr lang="it-IT" sz="1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it-IT" sz="1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sz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 sz="1200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it-IT" sz="1200" i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it-IT" sz="1200" i="0">
                          <a:latin typeface="Cambria Math" panose="02040503050406030204" pitchFamily="18" charset="0"/>
                        </a:rPr>
                        <m:t>λ</m:t>
                      </m:r>
                      <m:r>
                        <m:rPr>
                          <m:lit/>
                        </m:rPr>
                        <a:rPr lang="it-IT" sz="1200" i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3DA3237C-B034-6E0D-6807-89886FBB4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93" y="4312295"/>
                <a:ext cx="3340930" cy="307520"/>
              </a:xfrm>
              <a:prstGeom prst="rect">
                <a:avLst/>
              </a:prstGeom>
              <a:blipFill>
                <a:blip r:embed="rId4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CB6C74B4-A7CC-723D-627E-DAF7DC18B0BC}"/>
              </a:ext>
            </a:extLst>
          </p:cNvPr>
          <p:cNvSpPr txBox="1"/>
          <p:nvPr/>
        </p:nvSpPr>
        <p:spPr>
          <a:xfrm>
            <a:off x="4198502" y="1877342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004180"/>
                </a:solidFill>
              </a:rPr>
              <a:t>Proprietà</a:t>
            </a:r>
          </a:p>
        </p:txBody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BE1E2D1A-B491-3127-6BFA-5B4B09C1DC83}"/>
              </a:ext>
            </a:extLst>
          </p:cNvPr>
          <p:cNvSpPr/>
          <p:nvPr/>
        </p:nvSpPr>
        <p:spPr>
          <a:xfrm>
            <a:off x="4309868" y="2291891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 </a:t>
            </a:r>
            <a:r>
              <a:rPr lang="en-US" sz="1600" b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distorta</a:t>
            </a:r>
            <a:endParaRPr lang="en-US" sz="1600" dirty="0"/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D2B540D2-67B7-D9A1-2B0A-ACF96301B7EA}"/>
              </a:ext>
            </a:extLst>
          </p:cNvPr>
          <p:cNvSpPr txBox="1"/>
          <p:nvPr/>
        </p:nvSpPr>
        <p:spPr>
          <a:xfrm>
            <a:off x="4454770" y="2518974"/>
            <a:ext cx="4689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Elimina il </a:t>
            </a:r>
            <a:r>
              <a:rPr lang="it-IT" sz="1400" dirty="0" err="1"/>
              <a:t>bias</a:t>
            </a:r>
            <a:r>
              <a:rPr lang="it-IT" sz="1400" dirty="0"/>
              <a:t> da cardinalità a livello di splitting. </a:t>
            </a:r>
          </a:p>
          <a:p>
            <a:r>
              <a:rPr lang="it-IT" sz="1400" dirty="0"/>
              <a:t>E[CI(Xⱼ)] = 0 se Xⱼ ⊥ Y | Z</a:t>
            </a:r>
            <a:endParaRPr lang="it-IT" sz="1100" dirty="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6FEA3F87-13B0-EF93-DDE4-3DFFB841FE7D}"/>
              </a:ext>
            </a:extLst>
          </p:cNvPr>
          <p:cNvSpPr/>
          <p:nvPr/>
        </p:nvSpPr>
        <p:spPr>
          <a:xfrm>
            <a:off x="4309868" y="3095169"/>
            <a:ext cx="417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it-IT" sz="1600" b="1" dirty="0">
                <a:solidFill>
                  <a:srgbClr val="2E7D32"/>
                </a:solidFill>
              </a:rPr>
              <a:t>Stabile con variabili correlate</a:t>
            </a:r>
            <a:endParaRPr lang="en-US" sz="1600" dirty="0">
              <a:solidFill>
                <a:srgbClr val="2E7D32"/>
              </a:solidFill>
            </a:endParaRP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98F9634-B0D2-3E20-32D6-0C4BD62A64A1}"/>
              </a:ext>
            </a:extLst>
          </p:cNvPr>
          <p:cNvSpPr txBox="1"/>
          <p:nvPr/>
        </p:nvSpPr>
        <p:spPr>
          <a:xfrm>
            <a:off x="4454770" y="3338855"/>
            <a:ext cx="4689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dirty="0"/>
              <a:t>Permutando dentro Z, l'importanza non viene distribuita arbitrariamente tra Xⱼ e Z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DC290C67-60FD-4705-E7DD-251AE26917EF}"/>
              </a:ext>
            </a:extLst>
          </p:cNvPr>
          <p:cNvSpPr txBox="1"/>
          <p:nvPr/>
        </p:nvSpPr>
        <p:spPr>
          <a:xfrm>
            <a:off x="4256317" y="3972587"/>
            <a:ext cx="4689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C62828"/>
                </a:solidFill>
              </a:rPr>
              <a:t>✗ Implementazione: </a:t>
            </a:r>
            <a:r>
              <a:rPr lang="it-IT" sz="1600" b="1" dirty="0" err="1">
                <a:solidFill>
                  <a:srgbClr val="C62828"/>
                </a:solidFill>
              </a:rPr>
              <a:t>cforest</a:t>
            </a:r>
            <a:r>
              <a:rPr lang="it-IT" sz="1600" b="1" dirty="0">
                <a:solidFill>
                  <a:srgbClr val="C62828"/>
                </a:solidFill>
              </a:rPr>
              <a:t> (R)</a:t>
            </a:r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9186DEC1-FEBC-BD19-7E67-CB33129237CF}"/>
              </a:ext>
            </a:extLst>
          </p:cNvPr>
          <p:cNvSpPr/>
          <p:nvPr/>
        </p:nvSpPr>
        <p:spPr>
          <a:xfrm>
            <a:off x="4453447" y="435666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31704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2"/>
          <a:srcRect l="-1348" t="25421" r="-1064" b="-929"/>
          <a:stretch>
            <a:fillRect/>
          </a:stretch>
        </p:blipFill>
        <p:spPr>
          <a:xfrm>
            <a:off x="41080" y="647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794133" y="91272"/>
            <a:ext cx="8215002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7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Esp. 3 — MDI vs Permutation vs Conditional Importance</a:t>
            </a:r>
          </a:p>
        </p:txBody>
      </p:sp>
      <p:sp>
        <p:nvSpPr>
          <p:cNvPr id="32" name="MHdr0"/>
          <p:cNvSpPr/>
          <p:nvPr/>
        </p:nvSpPr>
        <p:spPr>
          <a:xfrm>
            <a:off x="342465" y="1386084"/>
            <a:ext cx="1824818" cy="3465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MDI</a:t>
            </a:r>
          </a:p>
        </p:txBody>
      </p:sp>
      <p:sp>
        <p:nvSpPr>
          <p:cNvPr id="33" name="MTxt0"/>
          <p:cNvSpPr/>
          <p:nvPr/>
        </p:nvSpPr>
        <p:spPr>
          <a:xfrm>
            <a:off x="595512" y="1681303"/>
            <a:ext cx="2757287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Distribuisce importanza su X₂ (≈0.6) e X₃–X₄ (≈0.3). </a:t>
            </a:r>
          </a:p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Profilo ‘sfumato’.</a:t>
            </a:r>
          </a:p>
        </p:txBody>
      </p:sp>
      <p:sp>
        <p:nvSpPr>
          <p:cNvPr id="36" name="MHdr1"/>
          <p:cNvSpPr/>
          <p:nvPr/>
        </p:nvSpPr>
        <p:spPr>
          <a:xfrm>
            <a:off x="342465" y="2448665"/>
            <a:ext cx="1824818" cy="3425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F4A261"/>
                </a:solidFill>
                <a:latin typeface="Calibri"/>
                <a:ea typeface="Calibri"/>
                <a:cs typeface="Calibri"/>
              </a:rPr>
              <a:t>Permutation</a:t>
            </a:r>
          </a:p>
        </p:txBody>
      </p:sp>
      <p:sp>
        <p:nvSpPr>
          <p:cNvPr id="37" name="MTxt1"/>
          <p:cNvSpPr/>
          <p:nvPr/>
        </p:nvSpPr>
        <p:spPr>
          <a:xfrm>
            <a:off x="595512" y="2748787"/>
            <a:ext cx="2698671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Simile a MDI nelle prime posizioni, importanza residua su molte variabili lontane.</a:t>
            </a:r>
          </a:p>
        </p:txBody>
      </p:sp>
      <p:sp>
        <p:nvSpPr>
          <p:cNvPr id="40" name="MHdr2"/>
          <p:cNvSpPr/>
          <p:nvPr/>
        </p:nvSpPr>
        <p:spPr>
          <a:xfrm>
            <a:off x="342465" y="3600927"/>
            <a:ext cx="1824818" cy="34252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Conditional</a:t>
            </a:r>
            <a:endParaRPr lang="it-IT" sz="1500" b="1" dirty="0">
              <a:solidFill>
                <a:srgbClr val="2A9D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MTxt2"/>
          <p:cNvSpPr/>
          <p:nvPr/>
        </p:nvSpPr>
        <p:spPr>
          <a:xfrm>
            <a:off x="595512" y="3943456"/>
            <a:ext cx="2546271" cy="7722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Concentra ≈0.95 su X₁. X₂ scende a ≈0.45. </a:t>
            </a:r>
          </a:p>
          <a:p>
            <a:pPr algn="l">
              <a:buNone/>
            </a:pPr>
            <a:r>
              <a:rPr lang="it-IT" sz="14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Tutto il resto vicino a zero. ✓</a:t>
            </a:r>
          </a:p>
        </p:txBody>
      </p:sp>
      <p:sp>
        <p:nvSpPr>
          <p:cNvPr id="4" name="SetupBg">
            <a:extLst>
              <a:ext uri="{FF2B5EF4-FFF2-40B4-BE49-F238E27FC236}">
                <a16:creationId xmlns:a16="http://schemas.microsoft.com/office/drawing/2014/main" id="{1D539A29-A3C0-65DD-4F73-0130BF5E86F7}"/>
              </a:ext>
            </a:extLst>
          </p:cNvPr>
          <p:cNvSpPr/>
          <p:nvPr/>
        </p:nvSpPr>
        <p:spPr>
          <a:xfrm>
            <a:off x="242000" y="717823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5" name="SetupTxt">
            <a:extLst>
              <a:ext uri="{FF2B5EF4-FFF2-40B4-BE49-F238E27FC236}">
                <a16:creationId xmlns:a16="http://schemas.microsoft.com/office/drawing/2014/main" id="{58AAB149-C0C8-6D2F-8329-8B0A224E4B81}"/>
              </a:ext>
            </a:extLst>
          </p:cNvPr>
          <p:cNvSpPr/>
          <p:nvPr/>
        </p:nvSpPr>
        <p:spPr>
          <a:xfrm>
            <a:off x="302000" y="717823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p=12 predittori - struttura AR(1) con ρ=0.95 - solo X₁ è causale - n=150 - output normalizzato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63521D4-D40F-04E9-9646-8D442FA8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283" y="1209097"/>
            <a:ext cx="4871588" cy="3864751"/>
          </a:xfrm>
          <a:prstGeom prst="rect">
            <a:avLst/>
          </a:prstGeom>
        </p:spPr>
      </p:pic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9C67F3C-A30A-D23D-5151-7AA79CFD7AF5}"/>
              </a:ext>
            </a:extLst>
          </p:cNvPr>
          <p:cNvCxnSpPr>
            <a:cxnSpLocks/>
          </p:cNvCxnSpPr>
          <p:nvPr/>
        </p:nvCxnSpPr>
        <p:spPr>
          <a:xfrm>
            <a:off x="3448161" y="1301262"/>
            <a:ext cx="0" cy="3628292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 29">
            <a:extLst>
              <a:ext uri="{FF2B5EF4-FFF2-40B4-BE49-F238E27FC236}">
                <a16:creationId xmlns:a16="http://schemas.microsoft.com/office/drawing/2014/main" id="{486D807E-310A-FA51-1EDE-3CD33C198356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/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92" name="Title"/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 4 — Validazione Quantitativa</a:t>
            </a:r>
          </a:p>
        </p:txBody>
      </p:sp>
      <p:sp>
        <p:nvSpPr>
          <p:cNvPr id="2" name="SetupBg">
            <a:extLst>
              <a:ext uri="{FF2B5EF4-FFF2-40B4-BE49-F238E27FC236}">
                <a16:creationId xmlns:a16="http://schemas.microsoft.com/office/drawing/2014/main" id="{C41E5EF4-57FC-9A83-3A87-3E073EACF028}"/>
              </a:ext>
            </a:extLst>
          </p:cNvPr>
          <p:cNvSpPr/>
          <p:nvPr/>
        </p:nvSpPr>
        <p:spPr>
          <a:xfrm>
            <a:off x="242000" y="650538"/>
            <a:ext cx="878000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4" name="SetupTxt">
            <a:extLst>
              <a:ext uri="{FF2B5EF4-FFF2-40B4-BE49-F238E27FC236}">
                <a16:creationId xmlns:a16="http://schemas.microsoft.com/office/drawing/2014/main" id="{CBD5E8F6-2139-D956-CF5E-0967E189B66F}"/>
              </a:ext>
            </a:extLst>
          </p:cNvPr>
          <p:cNvSpPr/>
          <p:nvPr/>
        </p:nvSpPr>
        <p:spPr>
          <a:xfrm>
            <a:off x="302000" y="650538"/>
            <a:ext cx="86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p=12 predittori - struttura AR(1) con ρ=0.95 </a:t>
            </a:r>
            <a:r>
              <a:rPr lang="it-IT" sz="1300" dirty="0">
                <a:solidFill>
                  <a:srgbClr val="1A1A1A"/>
                </a:solidFill>
                <a:ea typeface="Calibri"/>
                <a:cs typeface="Calibri"/>
              </a:rPr>
              <a:t>- X₁, X</a:t>
            </a:r>
            <a:r>
              <a:rPr lang="it-IT" sz="1300" baseline="-25000" dirty="0">
                <a:solidFill>
                  <a:srgbClr val="1A1A1A"/>
                </a:solidFill>
                <a:ea typeface="Calibri"/>
                <a:cs typeface="Calibri"/>
              </a:rPr>
              <a:t>4</a:t>
            </a:r>
            <a:r>
              <a:rPr lang="it-IT" sz="1300" dirty="0">
                <a:solidFill>
                  <a:srgbClr val="1A1A1A"/>
                </a:solidFill>
                <a:ea typeface="Calibri"/>
                <a:cs typeface="Calibri"/>
              </a:rPr>
              <a:t>, X</a:t>
            </a:r>
            <a:r>
              <a:rPr lang="it-IT" sz="1300" baseline="-25000" dirty="0">
                <a:solidFill>
                  <a:srgbClr val="1A1A1A"/>
                </a:solidFill>
                <a:ea typeface="Calibri"/>
                <a:cs typeface="Calibri"/>
              </a:rPr>
              <a:t>7</a:t>
            </a:r>
            <a:r>
              <a:rPr lang="it-IT" sz="1300" dirty="0">
                <a:solidFill>
                  <a:srgbClr val="1A1A1A"/>
                </a:solidFill>
                <a:ea typeface="Calibri"/>
                <a:cs typeface="Calibri"/>
              </a:rPr>
              <a:t> 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sono causali - n=100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DB2C423-EBFD-5360-43ED-199DDFB53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584" y="1661075"/>
            <a:ext cx="5175562" cy="2570955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B137733-C451-4C5B-6A6A-7D5CF125EE59}"/>
              </a:ext>
            </a:extLst>
          </p:cNvPr>
          <p:cNvSpPr txBox="1"/>
          <p:nvPr/>
        </p:nvSpPr>
        <p:spPr>
          <a:xfrm>
            <a:off x="301999" y="1390959"/>
            <a:ext cx="3478693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altLang="it-I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L'esperimento valuta la capacità di selezionare esattamente le 3 vere variabili causali (</a:t>
            </a:r>
            <a:r>
              <a:rPr kumimoji="0" lang="it-IT" altLang="it-I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X</a:t>
            </a:r>
            <a:r>
              <a:rPr kumimoji="0" lang="it-IT" altLang="it-IT" sz="1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1</a:t>
            </a:r>
            <a:r>
              <a:rPr kumimoji="0" lang="it-IT" altLang="it-I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, X</a:t>
            </a:r>
            <a:r>
              <a:rPr kumimoji="0" lang="it-IT" altLang="it-IT" sz="1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4</a:t>
            </a:r>
            <a:r>
              <a:rPr kumimoji="0" lang="it-IT" altLang="it-I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, X</a:t>
            </a:r>
            <a:r>
              <a:rPr kumimoji="0" lang="it-IT" altLang="it-IT" sz="11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ogle Sans Text"/>
                <a:ea typeface="+mn-ea"/>
                <a:cs typeface="+mn-cs"/>
              </a:rPr>
              <a:t>7</a:t>
            </a:r>
            <a:r>
              <a:rPr kumimoji="0" lang="it-IT" altLang="it-I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isolandole dal rumore correlato su 30 </a:t>
            </a:r>
            <a:r>
              <a:rPr kumimoji="0" lang="it-IT" alt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run</a:t>
            </a:r>
            <a:r>
              <a:rPr kumimoji="0" lang="it-IT" altLang="it-IT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indipendenti.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t-IT" altLang="it-IT" sz="1100" dirty="0">
              <a:solidFill>
                <a:prstClr val="black"/>
              </a:solidFill>
              <a:latin typeface="Calibri" panose="020F0502020204030204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b="1" dirty="0"/>
              <a:t>MDI (Inaffidabile e distorto):</a:t>
            </a:r>
            <a:r>
              <a:rPr lang="it-IT" sz="1100" dirty="0"/>
              <a:t> Ha l'F1-score mediano più basso (circa 35%) ed è fortemente instabile (punti dispersi da 0% a 75%).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0" lang="it-IT" altLang="it-I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b="1" dirty="0"/>
              <a:t>MDA / </a:t>
            </a:r>
            <a:r>
              <a:rPr lang="it-IT" sz="1100" b="1" dirty="0" err="1"/>
              <a:t>Permutation</a:t>
            </a:r>
            <a:r>
              <a:rPr lang="it-IT" sz="1100" b="1" dirty="0"/>
              <a:t> (Migliore ma instabile):</a:t>
            </a:r>
            <a:r>
              <a:rPr lang="it-IT" sz="1100" dirty="0"/>
              <a:t> Mostra un netto salto predittivo con una mediana più alta (circa 60%), ma soffre della massima variabilità verticale (scatola molto ampia). La permutazione incondizionata risente della multicollinearità.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0" lang="it-IT" altLang="it-I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t-IT" sz="1100" b="1" dirty="0" err="1"/>
              <a:t>Conditional</a:t>
            </a:r>
            <a:r>
              <a:rPr lang="it-IT" sz="1100" b="1" dirty="0"/>
              <a:t> </a:t>
            </a:r>
            <a:r>
              <a:rPr lang="it-IT" sz="1100" b="1" dirty="0" err="1"/>
              <a:t>Importance</a:t>
            </a:r>
            <a:r>
              <a:rPr lang="it-IT" sz="1100" b="1" dirty="0"/>
              <a:t>:</a:t>
            </a:r>
            <a:r>
              <a:rPr lang="it-IT" sz="1100" dirty="0"/>
              <a:t> Garantisce la massima stabilità e consistenza. La scatola è estremamente compatta e schiacciata sulla mediana (circa 66%): azzera i crolli verso il basso tipici di MDI e MDA.</a:t>
            </a:r>
            <a:endParaRPr kumimoji="0" lang="it-IT" altLang="it-IT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0" lang="it-IT" alt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Text 29">
            <a:extLst>
              <a:ext uri="{FF2B5EF4-FFF2-40B4-BE49-F238E27FC236}">
                <a16:creationId xmlns:a16="http://schemas.microsoft.com/office/drawing/2014/main" id="{6ADDF957-714B-DDC5-ED0A-132CE24F7C60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10/12</a:t>
            </a:r>
            <a:endParaRPr lang="en-US" sz="900" dirty="0"/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DA7C1F86-C0C2-96BA-D9B5-3B837499457F}"/>
              </a:ext>
            </a:extLst>
          </p:cNvPr>
          <p:cNvCxnSpPr>
            <a:cxnSpLocks/>
          </p:cNvCxnSpPr>
          <p:nvPr/>
        </p:nvCxnSpPr>
        <p:spPr>
          <a:xfrm flipH="1">
            <a:off x="3780692" y="1387597"/>
            <a:ext cx="16144" cy="3496626"/>
          </a:xfrm>
          <a:prstGeom prst="straightConnector1">
            <a:avLst/>
          </a:prstGeom>
          <a:ln w="12700">
            <a:solidFill>
              <a:schemeClr val="bg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68E2-9D85-FE2F-DC57-7D898EF8A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Logo">
            <a:extLst>
              <a:ext uri="{FF2B5EF4-FFF2-40B4-BE49-F238E27FC236}">
                <a16:creationId xmlns:a16="http://schemas.microsoft.com/office/drawing/2014/main" id="{B1EAEA79-41CC-91AF-9797-63EAE182F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10" name="THdr0">
            <a:extLst>
              <a:ext uri="{FF2B5EF4-FFF2-40B4-BE49-F238E27FC236}">
                <a16:creationId xmlns:a16="http://schemas.microsoft.com/office/drawing/2014/main" id="{5F70F6A9-E57C-8352-F007-35C8A3E190CF}"/>
              </a:ext>
            </a:extLst>
          </p:cNvPr>
          <p:cNvSpPr/>
          <p:nvPr/>
        </p:nvSpPr>
        <p:spPr>
          <a:xfrm>
            <a:off x="697809" y="1433055"/>
            <a:ext cx="260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1" name="THdrTxt0">
            <a:extLst>
              <a:ext uri="{FF2B5EF4-FFF2-40B4-BE49-F238E27FC236}">
                <a16:creationId xmlns:a16="http://schemas.microsoft.com/office/drawing/2014/main" id="{ACA217C3-3D3B-B381-291D-F332A0D09BB8}"/>
              </a:ext>
            </a:extLst>
          </p:cNvPr>
          <p:cNvSpPr/>
          <p:nvPr/>
        </p:nvSpPr>
        <p:spPr>
          <a:xfrm>
            <a:off x="697809" y="1433055"/>
            <a:ext cx="26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Metodo</a:t>
            </a:r>
          </a:p>
        </p:txBody>
      </p:sp>
      <p:sp>
        <p:nvSpPr>
          <p:cNvPr id="11" name="THdr1">
            <a:extLst>
              <a:ext uri="{FF2B5EF4-FFF2-40B4-BE49-F238E27FC236}">
                <a16:creationId xmlns:a16="http://schemas.microsoft.com/office/drawing/2014/main" id="{3FC2BAD1-112C-5F3C-4BED-9550632D5888}"/>
              </a:ext>
            </a:extLst>
          </p:cNvPr>
          <p:cNvSpPr/>
          <p:nvPr/>
        </p:nvSpPr>
        <p:spPr>
          <a:xfrm>
            <a:off x="3297809" y="1433055"/>
            <a:ext cx="132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3" name="THdrTxt1">
            <a:extLst>
              <a:ext uri="{FF2B5EF4-FFF2-40B4-BE49-F238E27FC236}">
                <a16:creationId xmlns:a16="http://schemas.microsoft.com/office/drawing/2014/main" id="{C6054B3A-8756-0765-D04D-F4033996B042}"/>
              </a:ext>
            </a:extLst>
          </p:cNvPr>
          <p:cNvSpPr/>
          <p:nvPr/>
        </p:nvSpPr>
        <p:spPr>
          <a:xfrm>
            <a:off x="3297809" y="1433055"/>
            <a:ext cx="132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Bias
cardinalità</a:t>
            </a:r>
          </a:p>
        </p:txBody>
      </p:sp>
      <p:sp>
        <p:nvSpPr>
          <p:cNvPr id="12" name="THdr2">
            <a:extLst>
              <a:ext uri="{FF2B5EF4-FFF2-40B4-BE49-F238E27FC236}">
                <a16:creationId xmlns:a16="http://schemas.microsoft.com/office/drawing/2014/main" id="{A16F2FD0-234D-3D9F-4F89-4831C3DF8889}"/>
              </a:ext>
            </a:extLst>
          </p:cNvPr>
          <p:cNvSpPr/>
          <p:nvPr/>
        </p:nvSpPr>
        <p:spPr>
          <a:xfrm>
            <a:off x="4617809" y="1433055"/>
            <a:ext cx="132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5" name="THdrTxt2">
            <a:extLst>
              <a:ext uri="{FF2B5EF4-FFF2-40B4-BE49-F238E27FC236}">
                <a16:creationId xmlns:a16="http://schemas.microsoft.com/office/drawing/2014/main" id="{3E4AA741-8F0C-F5CF-6D90-E32F53BE434D}"/>
              </a:ext>
            </a:extLst>
          </p:cNvPr>
          <p:cNvSpPr/>
          <p:nvPr/>
        </p:nvSpPr>
        <p:spPr>
          <a:xfrm>
            <a:off x="4617809" y="1433055"/>
            <a:ext cx="132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Instab.
correlaz.</a:t>
            </a:r>
          </a:p>
        </p:txBody>
      </p:sp>
      <p:sp>
        <p:nvSpPr>
          <p:cNvPr id="13" name="THdr3">
            <a:extLst>
              <a:ext uri="{FF2B5EF4-FFF2-40B4-BE49-F238E27FC236}">
                <a16:creationId xmlns:a16="http://schemas.microsoft.com/office/drawing/2014/main" id="{789FADBF-2F84-732C-A4A4-50EE11D0D8B4}"/>
              </a:ext>
            </a:extLst>
          </p:cNvPr>
          <p:cNvSpPr/>
          <p:nvPr/>
        </p:nvSpPr>
        <p:spPr>
          <a:xfrm>
            <a:off x="5937809" y="1433055"/>
            <a:ext cx="132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17" name="THdrTxt3">
            <a:extLst>
              <a:ext uri="{FF2B5EF4-FFF2-40B4-BE49-F238E27FC236}">
                <a16:creationId xmlns:a16="http://schemas.microsoft.com/office/drawing/2014/main" id="{FF012BF9-8255-DFDE-1A32-E466DC6E6929}"/>
              </a:ext>
            </a:extLst>
          </p:cNvPr>
          <p:cNvSpPr/>
          <p:nvPr/>
        </p:nvSpPr>
        <p:spPr>
          <a:xfrm>
            <a:off x="5937809" y="1433055"/>
            <a:ext cx="132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X₁
identificata</a:t>
            </a:r>
          </a:p>
        </p:txBody>
      </p:sp>
      <p:sp>
        <p:nvSpPr>
          <p:cNvPr id="15" name="THdr5">
            <a:extLst>
              <a:ext uri="{FF2B5EF4-FFF2-40B4-BE49-F238E27FC236}">
                <a16:creationId xmlns:a16="http://schemas.microsoft.com/office/drawing/2014/main" id="{21B05542-C226-F29B-022F-080B94BB8B19}"/>
              </a:ext>
            </a:extLst>
          </p:cNvPr>
          <p:cNvSpPr/>
          <p:nvPr/>
        </p:nvSpPr>
        <p:spPr>
          <a:xfrm>
            <a:off x="7255116" y="1433055"/>
            <a:ext cx="900000" cy="560000"/>
          </a:xfrm>
          <a:prstGeom prst="rect">
            <a:avLst/>
          </a:prstGeom>
          <a:solidFill>
            <a:srgbClr val="1B3D7D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1" name="THdrTxt5">
            <a:extLst>
              <a:ext uri="{FF2B5EF4-FFF2-40B4-BE49-F238E27FC236}">
                <a16:creationId xmlns:a16="http://schemas.microsoft.com/office/drawing/2014/main" id="{8A02B9FE-6A9A-BDC0-EC91-630A322A223D}"/>
              </a:ext>
            </a:extLst>
          </p:cNvPr>
          <p:cNvSpPr/>
          <p:nvPr/>
        </p:nvSpPr>
        <p:spPr>
          <a:xfrm>
            <a:off x="7255116" y="1433055"/>
            <a:ext cx="9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Costo</a:t>
            </a:r>
          </a:p>
        </p:txBody>
      </p:sp>
      <p:sp>
        <p:nvSpPr>
          <p:cNvPr id="200" name="TD00">
            <a:extLst>
              <a:ext uri="{FF2B5EF4-FFF2-40B4-BE49-F238E27FC236}">
                <a16:creationId xmlns:a16="http://schemas.microsoft.com/office/drawing/2014/main" id="{CD66C2EF-07B3-4D8B-A52F-EDA1EDC0D894}"/>
              </a:ext>
            </a:extLst>
          </p:cNvPr>
          <p:cNvSpPr/>
          <p:nvPr/>
        </p:nvSpPr>
        <p:spPr>
          <a:xfrm>
            <a:off x="697809" y="1993055"/>
            <a:ext cx="26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1" name="TInd0">
            <a:extLst>
              <a:ext uri="{FF2B5EF4-FFF2-40B4-BE49-F238E27FC236}">
                <a16:creationId xmlns:a16="http://schemas.microsoft.com/office/drawing/2014/main" id="{64BDE302-2A3C-843B-76AC-B83B9232BD21}"/>
              </a:ext>
            </a:extLst>
          </p:cNvPr>
          <p:cNvSpPr/>
          <p:nvPr/>
        </p:nvSpPr>
        <p:spPr>
          <a:xfrm>
            <a:off x="697809" y="1993055"/>
            <a:ext cx="18000" cy="48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02" name="TDTxt00">
            <a:extLst>
              <a:ext uri="{FF2B5EF4-FFF2-40B4-BE49-F238E27FC236}">
                <a16:creationId xmlns:a16="http://schemas.microsoft.com/office/drawing/2014/main" id="{9929BE1C-D1A5-549D-A965-A7D892145BB1}"/>
              </a:ext>
            </a:extLst>
          </p:cNvPr>
          <p:cNvSpPr/>
          <p:nvPr/>
        </p:nvSpPr>
        <p:spPr>
          <a:xfrm>
            <a:off x="737809" y="1993055"/>
            <a:ext cx="256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MDI</a:t>
            </a: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(randomForest)</a:t>
            </a:r>
          </a:p>
        </p:txBody>
      </p:sp>
      <p:sp>
        <p:nvSpPr>
          <p:cNvPr id="2" name="TD01">
            <a:extLst>
              <a:ext uri="{FF2B5EF4-FFF2-40B4-BE49-F238E27FC236}">
                <a16:creationId xmlns:a16="http://schemas.microsoft.com/office/drawing/2014/main" id="{9627FBC3-6D03-11E8-48F7-F3CCC7807357}"/>
              </a:ext>
            </a:extLst>
          </p:cNvPr>
          <p:cNvSpPr/>
          <p:nvPr/>
        </p:nvSpPr>
        <p:spPr>
          <a:xfrm>
            <a:off x="3297809" y="199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3" name="TDTxt01">
            <a:extLst>
              <a:ext uri="{FF2B5EF4-FFF2-40B4-BE49-F238E27FC236}">
                <a16:creationId xmlns:a16="http://schemas.microsoft.com/office/drawing/2014/main" id="{F9A8356C-4764-FCD6-DE06-0410D68C033E}"/>
              </a:ext>
            </a:extLst>
          </p:cNvPr>
          <p:cNvSpPr/>
          <p:nvPr/>
        </p:nvSpPr>
        <p:spPr>
          <a:xfrm>
            <a:off x="3297809" y="199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3" name="TD02">
            <a:extLst>
              <a:ext uri="{FF2B5EF4-FFF2-40B4-BE49-F238E27FC236}">
                <a16:creationId xmlns:a16="http://schemas.microsoft.com/office/drawing/2014/main" id="{4DB4422C-71F0-C476-7A39-3579FFDD72DD}"/>
              </a:ext>
            </a:extLst>
          </p:cNvPr>
          <p:cNvSpPr/>
          <p:nvPr/>
        </p:nvSpPr>
        <p:spPr>
          <a:xfrm>
            <a:off x="4617809" y="199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4" name="TDTxt02">
            <a:extLst>
              <a:ext uri="{FF2B5EF4-FFF2-40B4-BE49-F238E27FC236}">
                <a16:creationId xmlns:a16="http://schemas.microsoft.com/office/drawing/2014/main" id="{5296A3FB-E8A3-B314-02AA-95041F536AE7}"/>
              </a:ext>
            </a:extLst>
          </p:cNvPr>
          <p:cNvSpPr/>
          <p:nvPr/>
        </p:nvSpPr>
        <p:spPr>
          <a:xfrm>
            <a:off x="4617809" y="199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4" name="TD03">
            <a:extLst>
              <a:ext uri="{FF2B5EF4-FFF2-40B4-BE49-F238E27FC236}">
                <a16:creationId xmlns:a16="http://schemas.microsoft.com/office/drawing/2014/main" id="{2F7385EB-026A-9092-1786-CC2CA2CAC69A}"/>
              </a:ext>
            </a:extLst>
          </p:cNvPr>
          <p:cNvSpPr/>
          <p:nvPr/>
        </p:nvSpPr>
        <p:spPr>
          <a:xfrm>
            <a:off x="5937809" y="199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5" name="TDTxt03">
            <a:extLst>
              <a:ext uri="{FF2B5EF4-FFF2-40B4-BE49-F238E27FC236}">
                <a16:creationId xmlns:a16="http://schemas.microsoft.com/office/drawing/2014/main" id="{ADBFC5F9-D3E2-F440-3B0C-C8AA8D8237B2}"/>
              </a:ext>
            </a:extLst>
          </p:cNvPr>
          <p:cNvSpPr/>
          <p:nvPr/>
        </p:nvSpPr>
        <p:spPr>
          <a:xfrm>
            <a:off x="5937809" y="199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Sì (instabile)</a:t>
            </a:r>
          </a:p>
        </p:txBody>
      </p:sp>
      <p:sp>
        <p:nvSpPr>
          <p:cNvPr id="6" name="TD05">
            <a:extLst>
              <a:ext uri="{FF2B5EF4-FFF2-40B4-BE49-F238E27FC236}">
                <a16:creationId xmlns:a16="http://schemas.microsoft.com/office/drawing/2014/main" id="{05521039-BA4A-8704-63AD-4CF48AFF0D4E}"/>
              </a:ext>
            </a:extLst>
          </p:cNvPr>
          <p:cNvSpPr/>
          <p:nvPr/>
        </p:nvSpPr>
        <p:spPr>
          <a:xfrm>
            <a:off x="7255116" y="1993055"/>
            <a:ext cx="9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07" name="TDTxt05">
            <a:extLst>
              <a:ext uri="{FF2B5EF4-FFF2-40B4-BE49-F238E27FC236}">
                <a16:creationId xmlns:a16="http://schemas.microsoft.com/office/drawing/2014/main" id="{A8306669-673B-BC40-9E47-E6092648350A}"/>
              </a:ext>
            </a:extLst>
          </p:cNvPr>
          <p:cNvSpPr/>
          <p:nvPr/>
        </p:nvSpPr>
        <p:spPr>
          <a:xfrm>
            <a:off x="7260978" y="1993055"/>
            <a:ext cx="9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Basso</a:t>
            </a:r>
          </a:p>
        </p:txBody>
      </p:sp>
      <p:sp>
        <p:nvSpPr>
          <p:cNvPr id="220" name="TD10">
            <a:extLst>
              <a:ext uri="{FF2B5EF4-FFF2-40B4-BE49-F238E27FC236}">
                <a16:creationId xmlns:a16="http://schemas.microsoft.com/office/drawing/2014/main" id="{9DE2F950-C117-29C7-A215-03A3E0E05325}"/>
              </a:ext>
            </a:extLst>
          </p:cNvPr>
          <p:cNvSpPr/>
          <p:nvPr/>
        </p:nvSpPr>
        <p:spPr>
          <a:xfrm>
            <a:off x="697809" y="2473055"/>
            <a:ext cx="260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1" name="TInd1">
            <a:extLst>
              <a:ext uri="{FF2B5EF4-FFF2-40B4-BE49-F238E27FC236}">
                <a16:creationId xmlns:a16="http://schemas.microsoft.com/office/drawing/2014/main" id="{42821874-556A-C2FB-83BB-EF2DA8F1B7A6}"/>
              </a:ext>
            </a:extLst>
          </p:cNvPr>
          <p:cNvSpPr/>
          <p:nvPr/>
        </p:nvSpPr>
        <p:spPr>
          <a:xfrm>
            <a:off x="697809" y="2473055"/>
            <a:ext cx="18000" cy="480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22" name="TDTxt10">
            <a:extLst>
              <a:ext uri="{FF2B5EF4-FFF2-40B4-BE49-F238E27FC236}">
                <a16:creationId xmlns:a16="http://schemas.microsoft.com/office/drawing/2014/main" id="{E6E3EA4A-211A-1970-98C1-551F45BE02DD}"/>
              </a:ext>
            </a:extLst>
          </p:cNvPr>
          <p:cNvSpPr/>
          <p:nvPr/>
        </p:nvSpPr>
        <p:spPr>
          <a:xfrm>
            <a:off x="737809" y="2473055"/>
            <a:ext cx="256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Permutation</a:t>
            </a: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/MDA </a:t>
            </a: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(randomForest)</a:t>
            </a:r>
          </a:p>
        </p:txBody>
      </p:sp>
      <p:sp>
        <p:nvSpPr>
          <p:cNvPr id="7" name="TD11">
            <a:extLst>
              <a:ext uri="{FF2B5EF4-FFF2-40B4-BE49-F238E27FC236}">
                <a16:creationId xmlns:a16="http://schemas.microsoft.com/office/drawing/2014/main" id="{D282239C-E14C-165F-E99D-378C1F04CF1E}"/>
              </a:ext>
            </a:extLst>
          </p:cNvPr>
          <p:cNvSpPr/>
          <p:nvPr/>
        </p:nvSpPr>
        <p:spPr>
          <a:xfrm>
            <a:off x="3297809" y="2473055"/>
            <a:ext cx="132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3" name="TDTxt11">
            <a:extLst>
              <a:ext uri="{FF2B5EF4-FFF2-40B4-BE49-F238E27FC236}">
                <a16:creationId xmlns:a16="http://schemas.microsoft.com/office/drawing/2014/main" id="{94625274-6CB7-7313-7C13-ABF96929461B}"/>
              </a:ext>
            </a:extLst>
          </p:cNvPr>
          <p:cNvSpPr/>
          <p:nvPr/>
        </p:nvSpPr>
        <p:spPr>
          <a:xfrm>
            <a:off x="3297809" y="247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Parzialmente</a:t>
            </a:r>
          </a:p>
        </p:txBody>
      </p:sp>
      <p:sp>
        <p:nvSpPr>
          <p:cNvPr id="8" name="TD12">
            <a:extLst>
              <a:ext uri="{FF2B5EF4-FFF2-40B4-BE49-F238E27FC236}">
                <a16:creationId xmlns:a16="http://schemas.microsoft.com/office/drawing/2014/main" id="{C5F17A3B-36DB-1215-3E01-A2910BC906EC}"/>
              </a:ext>
            </a:extLst>
          </p:cNvPr>
          <p:cNvSpPr/>
          <p:nvPr/>
        </p:nvSpPr>
        <p:spPr>
          <a:xfrm>
            <a:off x="4617809" y="2473055"/>
            <a:ext cx="132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4" name="TDTxt12">
            <a:extLst>
              <a:ext uri="{FF2B5EF4-FFF2-40B4-BE49-F238E27FC236}">
                <a16:creationId xmlns:a16="http://schemas.microsoft.com/office/drawing/2014/main" id="{AEB9E801-A304-7467-9555-70D2523EAF35}"/>
              </a:ext>
            </a:extLst>
          </p:cNvPr>
          <p:cNvSpPr/>
          <p:nvPr/>
        </p:nvSpPr>
        <p:spPr>
          <a:xfrm>
            <a:off x="4617809" y="247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9" name="TD13">
            <a:extLst>
              <a:ext uri="{FF2B5EF4-FFF2-40B4-BE49-F238E27FC236}">
                <a16:creationId xmlns:a16="http://schemas.microsoft.com/office/drawing/2014/main" id="{E6F2E142-55B6-EAC1-C311-75191B8256BB}"/>
              </a:ext>
            </a:extLst>
          </p:cNvPr>
          <p:cNvSpPr/>
          <p:nvPr/>
        </p:nvSpPr>
        <p:spPr>
          <a:xfrm>
            <a:off x="5937809" y="2473055"/>
            <a:ext cx="132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5" name="TDTxt13">
            <a:extLst>
              <a:ext uri="{FF2B5EF4-FFF2-40B4-BE49-F238E27FC236}">
                <a16:creationId xmlns:a16="http://schemas.microsoft.com/office/drawing/2014/main" id="{2785159D-CE11-3B39-C9AE-68AAE39768C2}"/>
              </a:ext>
            </a:extLst>
          </p:cNvPr>
          <p:cNvSpPr/>
          <p:nvPr/>
        </p:nvSpPr>
        <p:spPr>
          <a:xfrm>
            <a:off x="5937809" y="247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17" name="TD15">
            <a:extLst>
              <a:ext uri="{FF2B5EF4-FFF2-40B4-BE49-F238E27FC236}">
                <a16:creationId xmlns:a16="http://schemas.microsoft.com/office/drawing/2014/main" id="{BDD30949-C13C-B1B8-C3C1-92CE7C734EE4}"/>
              </a:ext>
            </a:extLst>
          </p:cNvPr>
          <p:cNvSpPr/>
          <p:nvPr/>
        </p:nvSpPr>
        <p:spPr>
          <a:xfrm>
            <a:off x="7255116" y="2473055"/>
            <a:ext cx="900000" cy="480000"/>
          </a:xfrm>
          <a:prstGeom prst="rect">
            <a:avLst/>
          </a:prstGeom>
          <a:solidFill>
            <a:srgbClr val="F7FAFD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27" name="TDTxt15">
            <a:extLst>
              <a:ext uri="{FF2B5EF4-FFF2-40B4-BE49-F238E27FC236}">
                <a16:creationId xmlns:a16="http://schemas.microsoft.com/office/drawing/2014/main" id="{5376C084-A071-6032-0F94-2D40B1E37FA4}"/>
              </a:ext>
            </a:extLst>
          </p:cNvPr>
          <p:cNvSpPr/>
          <p:nvPr/>
        </p:nvSpPr>
        <p:spPr>
          <a:xfrm>
            <a:off x="7260978" y="2473055"/>
            <a:ext cx="9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240" name="TD20">
            <a:extLst>
              <a:ext uri="{FF2B5EF4-FFF2-40B4-BE49-F238E27FC236}">
                <a16:creationId xmlns:a16="http://schemas.microsoft.com/office/drawing/2014/main" id="{80BD4D25-4FA0-B092-2617-832CDC7A0493}"/>
              </a:ext>
            </a:extLst>
          </p:cNvPr>
          <p:cNvSpPr/>
          <p:nvPr/>
        </p:nvSpPr>
        <p:spPr>
          <a:xfrm>
            <a:off x="697809" y="2953055"/>
            <a:ext cx="26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1" name="TInd2">
            <a:extLst>
              <a:ext uri="{FF2B5EF4-FFF2-40B4-BE49-F238E27FC236}">
                <a16:creationId xmlns:a16="http://schemas.microsoft.com/office/drawing/2014/main" id="{BE91AF24-4B1E-534B-9155-7253F47AD476}"/>
              </a:ext>
            </a:extLst>
          </p:cNvPr>
          <p:cNvSpPr/>
          <p:nvPr/>
        </p:nvSpPr>
        <p:spPr>
          <a:xfrm>
            <a:off x="697809" y="2953055"/>
            <a:ext cx="18000" cy="48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42" name="TDTxt20">
            <a:extLst>
              <a:ext uri="{FF2B5EF4-FFF2-40B4-BE49-F238E27FC236}">
                <a16:creationId xmlns:a16="http://schemas.microsoft.com/office/drawing/2014/main" id="{B90FB980-ADD6-B935-27F3-A58B3AB3C89B}"/>
              </a:ext>
            </a:extLst>
          </p:cNvPr>
          <p:cNvSpPr/>
          <p:nvPr/>
        </p:nvSpPr>
        <p:spPr>
          <a:xfrm>
            <a:off x="737809" y="2953055"/>
            <a:ext cx="256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2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Conditional</a:t>
            </a: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200" b="1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Importance</a:t>
            </a:r>
            <a:r>
              <a:rPr lang="it-IT" sz="12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2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(cforest)</a:t>
            </a:r>
          </a:p>
        </p:txBody>
      </p:sp>
      <p:sp>
        <p:nvSpPr>
          <p:cNvPr id="18" name="TD21">
            <a:extLst>
              <a:ext uri="{FF2B5EF4-FFF2-40B4-BE49-F238E27FC236}">
                <a16:creationId xmlns:a16="http://schemas.microsoft.com/office/drawing/2014/main" id="{390F7C94-182B-EFA0-D91F-65054AE1FFDF}"/>
              </a:ext>
            </a:extLst>
          </p:cNvPr>
          <p:cNvSpPr/>
          <p:nvPr/>
        </p:nvSpPr>
        <p:spPr>
          <a:xfrm>
            <a:off x="3297809" y="295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3" name="TDTxt21">
            <a:extLst>
              <a:ext uri="{FF2B5EF4-FFF2-40B4-BE49-F238E27FC236}">
                <a16:creationId xmlns:a16="http://schemas.microsoft.com/office/drawing/2014/main" id="{33E24C13-8939-9445-C841-CDFA7057B49B}"/>
              </a:ext>
            </a:extLst>
          </p:cNvPr>
          <p:cNvSpPr/>
          <p:nvPr/>
        </p:nvSpPr>
        <p:spPr>
          <a:xfrm>
            <a:off x="3297809" y="295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19" name="TD22">
            <a:extLst>
              <a:ext uri="{FF2B5EF4-FFF2-40B4-BE49-F238E27FC236}">
                <a16:creationId xmlns:a16="http://schemas.microsoft.com/office/drawing/2014/main" id="{330BF377-4602-D0E2-AFCB-3D9F13D6AB16}"/>
              </a:ext>
            </a:extLst>
          </p:cNvPr>
          <p:cNvSpPr/>
          <p:nvPr/>
        </p:nvSpPr>
        <p:spPr>
          <a:xfrm>
            <a:off x="4617809" y="295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4" name="TDTxt22">
            <a:extLst>
              <a:ext uri="{FF2B5EF4-FFF2-40B4-BE49-F238E27FC236}">
                <a16:creationId xmlns:a16="http://schemas.microsoft.com/office/drawing/2014/main" id="{B3ACFB99-E065-92F5-CBF1-F9AEF0BED53E}"/>
              </a:ext>
            </a:extLst>
          </p:cNvPr>
          <p:cNvSpPr/>
          <p:nvPr/>
        </p:nvSpPr>
        <p:spPr>
          <a:xfrm>
            <a:off x="4617809" y="295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20" name="TD23">
            <a:extLst>
              <a:ext uri="{FF2B5EF4-FFF2-40B4-BE49-F238E27FC236}">
                <a16:creationId xmlns:a16="http://schemas.microsoft.com/office/drawing/2014/main" id="{8DF27755-EA62-3D4A-492A-A637D73CEB1F}"/>
              </a:ext>
            </a:extLst>
          </p:cNvPr>
          <p:cNvSpPr/>
          <p:nvPr/>
        </p:nvSpPr>
        <p:spPr>
          <a:xfrm>
            <a:off x="5937809" y="2953055"/>
            <a:ext cx="132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5" name="TDTxt23">
            <a:extLst>
              <a:ext uri="{FF2B5EF4-FFF2-40B4-BE49-F238E27FC236}">
                <a16:creationId xmlns:a16="http://schemas.microsoft.com/office/drawing/2014/main" id="{AA0E5C1D-1689-8B2F-9723-C67B26506939}"/>
              </a:ext>
            </a:extLst>
          </p:cNvPr>
          <p:cNvSpPr/>
          <p:nvPr/>
        </p:nvSpPr>
        <p:spPr>
          <a:xfrm>
            <a:off x="5937809" y="2953055"/>
            <a:ext cx="132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Sì</a:t>
            </a:r>
          </a:p>
        </p:txBody>
      </p:sp>
      <p:sp>
        <p:nvSpPr>
          <p:cNvPr id="22" name="TD25">
            <a:extLst>
              <a:ext uri="{FF2B5EF4-FFF2-40B4-BE49-F238E27FC236}">
                <a16:creationId xmlns:a16="http://schemas.microsoft.com/office/drawing/2014/main" id="{D99EC27B-4F5F-09F9-F39F-8033E08E3B4B}"/>
              </a:ext>
            </a:extLst>
          </p:cNvPr>
          <p:cNvSpPr/>
          <p:nvPr/>
        </p:nvSpPr>
        <p:spPr>
          <a:xfrm>
            <a:off x="7255116" y="2953055"/>
            <a:ext cx="900000" cy="480000"/>
          </a:xfrm>
          <a:prstGeom prst="rect">
            <a:avLst/>
          </a:prstGeom>
          <a:solidFill>
            <a:srgbClr val="EBF0F7"/>
          </a:solidFill>
          <a:ln w="6350">
            <a:solidFill>
              <a:srgbClr val="90A4AE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247" name="TDTxt25">
            <a:extLst>
              <a:ext uri="{FF2B5EF4-FFF2-40B4-BE49-F238E27FC236}">
                <a16:creationId xmlns:a16="http://schemas.microsoft.com/office/drawing/2014/main" id="{51A39E12-F36B-0F1D-B608-25DD6A99A971}"/>
              </a:ext>
            </a:extLst>
          </p:cNvPr>
          <p:cNvSpPr/>
          <p:nvPr/>
        </p:nvSpPr>
        <p:spPr>
          <a:xfrm>
            <a:off x="7260978" y="2953055"/>
            <a:ext cx="900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100" b="1" dirty="0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Alto*</a:t>
            </a: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2AE09941-0C8B-EB2A-9739-CD654205BE35}"/>
              </a:ext>
            </a:extLst>
          </p:cNvPr>
          <p:cNvSpPr/>
          <p:nvPr/>
        </p:nvSpPr>
        <p:spPr>
          <a:xfrm>
            <a:off x="1060000" y="90000"/>
            <a:ext cx="7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28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Conclusioni - Riepilogo</a:t>
            </a: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63B0585F-4AAB-A354-FF4A-2B2C7FDDD7C7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11/12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53125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3617397" y="209461"/>
            <a:ext cx="1909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359764" y="1048256"/>
            <a:ext cx="8559999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Slides del corso riguardanti </a:t>
            </a:r>
            <a:r>
              <a:rPr lang="it-IT" sz="2000" i="1" dirty="0">
                <a:ea typeface="Calibri"/>
                <a:cs typeface="Calibri"/>
              </a:rPr>
              <a:t>Random Forest</a:t>
            </a:r>
            <a:r>
              <a:rPr lang="it-IT" sz="2000" dirty="0">
                <a:ea typeface="Calibri"/>
                <a:cs typeface="Calibri"/>
              </a:rPr>
              <a:t> e </a:t>
            </a:r>
            <a:r>
              <a:rPr lang="it-IT" sz="2000" i="1" dirty="0" err="1">
                <a:ea typeface="Calibri"/>
                <a:cs typeface="Calibri"/>
              </a:rPr>
              <a:t>Variable</a:t>
            </a:r>
            <a:r>
              <a:rPr lang="it-IT" sz="2000" i="1" dirty="0">
                <a:ea typeface="Calibri"/>
                <a:cs typeface="Calibri"/>
              </a:rPr>
              <a:t> </a:t>
            </a:r>
            <a:r>
              <a:rPr lang="it-IT" sz="2000" i="1" dirty="0" err="1">
                <a:ea typeface="Calibri"/>
                <a:cs typeface="Calibri"/>
              </a:rPr>
              <a:t>Importance</a:t>
            </a:r>
            <a:endParaRPr lang="it-IT" sz="2000" i="1" dirty="0">
              <a:ea typeface="Calibri"/>
              <a:cs typeface="Calibri"/>
            </a:endParaRPr>
          </a:p>
          <a:p>
            <a:endParaRPr lang="it-IT" sz="2000" i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Strobl, C., Boulesteix, A.-L., </a:t>
            </a:r>
            <a:r>
              <a:rPr lang="it-IT" sz="2000" dirty="0" err="1"/>
              <a:t>Zeileis</a:t>
            </a:r>
            <a:r>
              <a:rPr lang="it-IT" sz="2000" dirty="0"/>
              <a:t>, A., </a:t>
            </a:r>
            <a:r>
              <a:rPr lang="it-IT" sz="2000" dirty="0" err="1"/>
              <a:t>Hothorn</a:t>
            </a:r>
            <a:r>
              <a:rPr lang="it-IT" sz="2000" dirty="0"/>
              <a:t>, T. (2007). </a:t>
            </a:r>
            <a:r>
              <a:rPr lang="it-IT" i="1" dirty="0"/>
              <a:t>Bias in Random Forest </a:t>
            </a:r>
            <a:r>
              <a:rPr lang="it-IT" i="1" dirty="0" err="1"/>
              <a:t>Variable</a:t>
            </a:r>
            <a:r>
              <a:rPr lang="it-IT" i="1" dirty="0"/>
              <a:t> </a:t>
            </a:r>
            <a:r>
              <a:rPr lang="it-IT" i="1" dirty="0" err="1"/>
              <a:t>Importance</a:t>
            </a:r>
            <a:r>
              <a:rPr lang="it-IT" i="1" dirty="0"/>
              <a:t> Measures: </a:t>
            </a:r>
            <a:r>
              <a:rPr lang="it-IT" i="1" dirty="0" err="1"/>
              <a:t>Illustrations</a:t>
            </a:r>
            <a:r>
              <a:rPr lang="it-IT" i="1" dirty="0"/>
              <a:t>, Sources and a Solution. BMC </a:t>
            </a:r>
            <a:r>
              <a:rPr lang="it-IT" i="1" dirty="0" err="1"/>
              <a:t>Bioinformatics</a:t>
            </a:r>
            <a:r>
              <a:rPr lang="it-IT" i="1" dirty="0"/>
              <a:t>, 8, 25.</a:t>
            </a:r>
          </a:p>
          <a:p>
            <a:endParaRPr lang="it-I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Strobl, C., Boulesteix, A.-L., Kneib, T., Augustin, T., </a:t>
            </a:r>
            <a:r>
              <a:rPr lang="it-IT" sz="2000" dirty="0" err="1"/>
              <a:t>Zeileis</a:t>
            </a:r>
            <a:r>
              <a:rPr lang="it-IT" sz="2000" dirty="0"/>
              <a:t>, A. (2008). </a:t>
            </a:r>
            <a:r>
              <a:rPr lang="it-IT" i="1" dirty="0" err="1"/>
              <a:t>Conditional</a:t>
            </a:r>
            <a:r>
              <a:rPr lang="it-IT" i="1" dirty="0"/>
              <a:t> </a:t>
            </a:r>
            <a:r>
              <a:rPr lang="it-IT" i="1" dirty="0" err="1"/>
              <a:t>Variable</a:t>
            </a:r>
            <a:r>
              <a:rPr lang="it-IT" i="1" dirty="0"/>
              <a:t> </a:t>
            </a:r>
            <a:r>
              <a:rPr lang="it-IT" i="1" dirty="0" err="1"/>
              <a:t>Importance</a:t>
            </a:r>
            <a:r>
              <a:rPr lang="it-IT" i="1" dirty="0"/>
              <a:t> for Random </a:t>
            </a:r>
            <a:r>
              <a:rPr lang="it-IT" i="1" dirty="0" err="1"/>
              <a:t>Forests</a:t>
            </a:r>
            <a:r>
              <a:rPr lang="it-IT" i="1" dirty="0"/>
              <a:t>. BMC </a:t>
            </a:r>
            <a:r>
              <a:rPr lang="it-IT" i="1" dirty="0" err="1"/>
              <a:t>Bioinformatics</a:t>
            </a:r>
            <a:r>
              <a:rPr lang="it-IT" i="1" dirty="0"/>
              <a:t>, 9, 307.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>
                <a:hlinkClick r:id="rId5"/>
              </a:rPr>
              <a:t>https://erwanscornet.github.io/talks/mdi.pdf</a:t>
            </a:r>
            <a:r>
              <a:rPr lang="it-IT" i="1" dirty="0"/>
              <a:t> </a:t>
            </a:r>
          </a:p>
          <a:p>
            <a:endParaRPr lang="it-IT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Claude per aiuto sul codice e impaginazione slide</a:t>
            </a:r>
          </a:p>
        </p:txBody>
      </p:sp>
      <p:sp>
        <p:nvSpPr>
          <p:cNvPr id="4" name="Text 29">
            <a:extLst>
              <a:ext uri="{FF2B5EF4-FFF2-40B4-BE49-F238E27FC236}">
                <a16:creationId xmlns:a16="http://schemas.microsoft.com/office/drawing/2014/main" id="{67F0807F-F10C-7EA6-D598-D6DF53E74D33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12/12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D87CF2A8CCE46999F14E89D2397A7" ma:contentTypeVersion="9" ma:contentTypeDescription="Create a new document." ma:contentTypeScope="" ma:versionID="04c6c9a53cca2dc0747056af3e59128d">
  <xsd:schema xmlns:xsd="http://www.w3.org/2001/XMLSchema" xmlns:xs="http://www.w3.org/2001/XMLSchema" xmlns:p="http://schemas.microsoft.com/office/2006/metadata/properties" xmlns:ns3="df5b7411-0bd9-441c-a587-7944a4ab8ce9" targetNamespace="http://schemas.microsoft.com/office/2006/metadata/properties" ma:root="true" ma:fieldsID="a84b1cfebefeb2fc1e8a376aeec60261" ns3:_="">
    <xsd:import namespace="df5b7411-0bd9-441c-a587-7944a4ab8ce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b7411-0bd9-441c-a587-7944a4ab8ce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5b7411-0bd9-441c-a587-7944a4ab8ce9" xsi:nil="true"/>
  </documentManagement>
</p:properties>
</file>

<file path=customXml/itemProps1.xml><?xml version="1.0" encoding="utf-8"?>
<ds:datastoreItem xmlns:ds="http://schemas.openxmlformats.org/officeDocument/2006/customXml" ds:itemID="{86BD5B09-5F77-4A89-B4D1-4081243486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5b7411-0bd9-441c-a587-7944a4ab8c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6E7083-04CE-4148-8822-E3F79A2926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AD13D0-A941-4301-90CA-BF751F48A029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f5b7411-0bd9-441c-a587-7944a4ab8ce9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2454</TotalTime>
  <Words>1255</Words>
  <Application>Microsoft Office PowerPoint</Application>
  <PresentationFormat>Presentazione su schermo (16:9)</PresentationFormat>
  <Paragraphs>163</Paragraphs>
  <Slides>12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Google Sans Text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Lorenzo Maria Pennelli</cp:lastModifiedBy>
  <cp:revision>601</cp:revision>
  <dcterms:created xsi:type="dcterms:W3CDTF">2026-03-12T12:19:20Z</dcterms:created>
  <dcterms:modified xsi:type="dcterms:W3CDTF">2026-05-24T17:56:55Z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0x010100FFCD87CF2A8CCE46999F14E89D2397A7</vt:lpwstr>
  </property>
</Properties>
</file>