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63" r:id="rId3"/>
    <p:sldId id="261" r:id="rId4"/>
    <p:sldId id="262" r:id="rId5"/>
    <p:sldId id="265" r:id="rId6"/>
    <p:sldId id="266" r:id="rId7"/>
    <p:sldId id="267" r:id="rId8"/>
    <p:sldId id="268" r:id="rId9"/>
    <p:sldId id="269" r:id="rId10"/>
    <p:sldId id="270" r:id="rId11"/>
    <p:sldId id="271" r:id="rId12"/>
    <p:sldId id="272" r:id="rId13"/>
    <p:sldId id="273" r:id="rId14"/>
    <p:sldId id="274" r:id="rId1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418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E9639D4-E3E2-4D34-9284-5A2195B3D0D7}" styleName="Stile chiaro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7DF18680-E054-41AD-8BC1-D1AEF772440D}" styleName="Stile medio 2 - Colore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E8034E78-7F5D-4C2E-B375-FC64B27BC917}" styleName="Stile scuro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B301B821-A1FF-4177-AEE7-76D212191A09}" styleName="Stile medio 1 - Color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5" d="100"/>
          <a:sy n="145" d="100"/>
        </p:scale>
        <p:origin x="114" y="12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818419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1BDAFF-9147-3222-A8D2-B624AEC201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171F9F-C0B8-FE2F-BDE4-DD8B7B1FC2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1592640-DBDB-9788-4226-909E5DA724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83B803-BBED-13E0-BE91-D5D475D352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442337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2D3646-88D6-537C-A36D-DC0D7C4B26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7C287E-350B-8FF5-77D7-84CA4F989B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F928A3-B79B-0C88-0CAD-1F54E0EA05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08426C-F6AC-4BBF-7B5A-969C5F9FDD1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2893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F39474-57FB-CBA8-B393-2AB92D5F6A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A09A78-12DD-C145-5E26-6F832B111F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94638C-C925-803E-2C29-A6B6E2D4F0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B3C6E3-DB8E-0578-A6FA-2FB4425AB29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58169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389120" y="0"/>
            <a:ext cx="4754880" cy="5143500"/>
          </a:xfrm>
          <a:prstGeom prst="rect">
            <a:avLst/>
          </a:prstGeom>
          <a:solidFill>
            <a:srgbClr val="004180"/>
          </a:solidFill>
          <a:ln w="12700">
            <a:solidFill>
              <a:srgbClr val="1B3D7D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Shape 1"/>
          <p:cNvSpPr/>
          <p:nvPr/>
        </p:nvSpPr>
        <p:spPr>
          <a:xfrm>
            <a:off x="1118792" y="-8620"/>
            <a:ext cx="5404508" cy="5142426"/>
          </a:xfrm>
          <a:prstGeom prst="parallelogram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" name="Text 2"/>
          <p:cNvSpPr/>
          <p:nvPr/>
        </p:nvSpPr>
        <p:spPr>
          <a:xfrm>
            <a:off x="411480" y="369481"/>
            <a:ext cx="5738391" cy="182694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r>
              <a:rPr lang="en-US" sz="3600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Variable Importance</a:t>
            </a:r>
            <a:endParaRPr lang="en-US" sz="3600" b="1" dirty="0">
              <a:latin typeface="Calibri"/>
              <a:ea typeface="Calibri"/>
              <a:cs typeface="Calibri"/>
            </a:endParaRPr>
          </a:p>
        </p:txBody>
      </p:sp>
      <p:sp>
        <p:nvSpPr>
          <p:cNvPr id="5" name="Text 3"/>
          <p:cNvSpPr/>
          <p:nvPr/>
        </p:nvSpPr>
        <p:spPr>
          <a:xfrm>
            <a:off x="411480" y="260604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AUTORI:</a:t>
            </a:r>
            <a:endParaRPr lang="en-US" sz="1600">
              <a:latin typeface="Calibri"/>
              <a:ea typeface="Calibri"/>
              <a:cs typeface="Calibri"/>
            </a:endParaRPr>
          </a:p>
        </p:txBody>
      </p:sp>
      <p:sp>
        <p:nvSpPr>
          <p:cNvPr id="6" name="Text 4"/>
          <p:cNvSpPr/>
          <p:nvPr/>
        </p:nvSpPr>
        <p:spPr>
          <a:xfrm>
            <a:off x="411480" y="288036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Francesco Faillace</a:t>
            </a:r>
            <a:endParaRPr lang="en-US" sz="1400" dirty="0">
              <a:latin typeface="Calibri"/>
              <a:ea typeface="Calibri"/>
              <a:cs typeface="Calibri"/>
            </a:endParaRPr>
          </a:p>
        </p:txBody>
      </p:sp>
      <p:pic>
        <p:nvPicPr>
          <p:cNvPr id="14" name="Immagine 13">
            <a:extLst>
              <a:ext uri="{FF2B5EF4-FFF2-40B4-BE49-F238E27FC236}">
                <a16:creationId xmlns:a16="http://schemas.microsoft.com/office/drawing/2014/main" id="{3878346B-309A-6DA9-57CB-83A68DCF70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5543" y="2410097"/>
            <a:ext cx="2131695" cy="2537460"/>
          </a:xfrm>
          <a:prstGeom prst="rect">
            <a:avLst/>
          </a:prstGeom>
          <a:ln>
            <a:solidFill>
              <a:srgbClr val="004180"/>
            </a:solidFill>
          </a:ln>
        </p:spPr>
      </p:pic>
      <p:sp>
        <p:nvSpPr>
          <p:cNvPr id="15" name="Text 4">
            <a:extLst>
              <a:ext uri="{FF2B5EF4-FFF2-40B4-BE49-F238E27FC236}">
                <a16:creationId xmlns:a16="http://schemas.microsoft.com/office/drawing/2014/main" id="{9E5F7317-9BEE-D425-1B51-65793C82F008}"/>
              </a:ext>
            </a:extLst>
          </p:cNvPr>
          <p:cNvSpPr/>
          <p:nvPr/>
        </p:nvSpPr>
        <p:spPr>
          <a:xfrm>
            <a:off x="411480" y="311196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Lorenzo Maria </a:t>
            </a:r>
            <a:r>
              <a:rPr lang="en-US" sz="1400" i="1" dirty="0" err="1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Pennelli</a:t>
            </a:r>
            <a:endParaRPr lang="en-US" sz="1400">
              <a:latin typeface="Calibri"/>
              <a:ea typeface="Calibri"/>
              <a:cs typeface="Calibri"/>
            </a:endParaRPr>
          </a:p>
        </p:txBody>
      </p:sp>
      <p:sp>
        <p:nvSpPr>
          <p:cNvPr id="16" name="Text 4">
            <a:extLst>
              <a:ext uri="{FF2B5EF4-FFF2-40B4-BE49-F238E27FC236}">
                <a16:creationId xmlns:a16="http://schemas.microsoft.com/office/drawing/2014/main" id="{465E81B1-F718-DAAD-4211-40D5EFC3C85A}"/>
              </a:ext>
            </a:extLst>
          </p:cNvPr>
          <p:cNvSpPr/>
          <p:nvPr/>
        </p:nvSpPr>
        <p:spPr>
          <a:xfrm>
            <a:off x="411480" y="3346704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Eros </a:t>
            </a:r>
            <a:r>
              <a:rPr lang="en-US" sz="1400" i="1" dirty="0" err="1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Pinzani</a:t>
            </a:r>
            <a:endParaRPr lang="en-US" sz="1200" dirty="0" err="1">
              <a:latin typeface="Calibri"/>
              <a:ea typeface="Calibri"/>
              <a:cs typeface="Calibri"/>
            </a:endParaRPr>
          </a:p>
        </p:txBody>
      </p:sp>
      <p:sp>
        <p:nvSpPr>
          <p:cNvPr id="7" name="Rettangolo 6">
            <a:extLst>
              <a:ext uri="{FF2B5EF4-FFF2-40B4-BE49-F238E27FC236}">
                <a16:creationId xmlns:a16="http://schemas.microsoft.com/office/drawing/2014/main" id="{8D73311F-F98D-ED10-423A-03480A52E9CB}"/>
              </a:ext>
            </a:extLst>
          </p:cNvPr>
          <p:cNvSpPr/>
          <p:nvPr/>
        </p:nvSpPr>
        <p:spPr>
          <a:xfrm>
            <a:off x="506734" y="1011094"/>
            <a:ext cx="3829292" cy="45719"/>
          </a:xfrm>
          <a:prstGeom prst="rect">
            <a:avLst/>
          </a:prstGeom>
          <a:solidFill>
            <a:srgbClr val="00418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CBD989F4-7EEE-8B97-F7D7-EDF85754A840}"/>
              </a:ext>
            </a:extLst>
          </p:cNvPr>
          <p:cNvSpPr txBox="1"/>
          <p:nvPr/>
        </p:nvSpPr>
        <p:spPr>
          <a:xfrm>
            <a:off x="411480" y="1038359"/>
            <a:ext cx="392454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>
                <a:solidFill>
                  <a:srgbClr val="004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Instabilità</a:t>
            </a:r>
            <a:r>
              <a:rPr lang="en-US" sz="1600" dirty="0">
                <a:solidFill>
                  <a:srgbClr val="004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Bias </a:t>
            </a:r>
            <a:r>
              <a:rPr lang="en-US" sz="1600" dirty="0" err="1">
                <a:solidFill>
                  <a:srgbClr val="004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nella</a:t>
            </a:r>
            <a:r>
              <a:rPr lang="en-US" sz="1600" dirty="0">
                <a:solidFill>
                  <a:srgbClr val="004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004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Selezione</a:t>
            </a:r>
            <a:r>
              <a:rPr lang="en-US" sz="1600" dirty="0">
                <a:solidFill>
                  <a:srgbClr val="004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 </a:t>
            </a:r>
            <a:r>
              <a:rPr lang="en-US" sz="1600" dirty="0" err="1">
                <a:solidFill>
                  <a:srgbClr val="004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Variabili</a:t>
            </a:r>
            <a:endParaRPr lang="en-US" sz="1600" dirty="0">
              <a:solidFill>
                <a:srgbClr val="004180"/>
              </a:solidFill>
            </a:endParaRPr>
          </a:p>
          <a:p>
            <a:r>
              <a:rPr lang="en-US" sz="1600" dirty="0">
                <a:solidFill>
                  <a:srgbClr val="004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Random Forest</a:t>
            </a:r>
            <a:endParaRPr lang="en-US" sz="1600" dirty="0">
              <a:solidFill>
                <a:srgbClr val="004180"/>
              </a:solidFill>
            </a:endParaRPr>
          </a:p>
          <a:p>
            <a:endParaRPr lang="it-IT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Logo"/>
          <p:cNvPicPr>
            <a:picLocks noChangeAspect="1"/>
          </p:cNvPicPr>
          <p:nvPr/>
        </p:nvPicPr>
        <p:blipFill>
          <a:blip r:embed="rId3"/>
          <a:srcRect l="-1348" t="25421" r="-1064" b="-929"/>
          <a:stretch>
            <a:fillRect/>
          </a:stretch>
        </p:blipFill>
        <p:spPr>
          <a:xfrm>
            <a:off x="181758" y="2826"/>
            <a:ext cx="800187" cy="670190"/>
          </a:xfrm>
          <a:prstGeom prst="rect">
            <a:avLst/>
          </a:prstGeom>
        </p:spPr>
      </p:pic>
      <p:sp>
        <p:nvSpPr>
          <p:cNvPr id="91" name="Sep"/>
          <p:cNvSpPr/>
          <p:nvPr/>
        </p:nvSpPr>
        <p:spPr>
          <a:xfrm>
            <a:off x="182000" y="700000"/>
            <a:ext cx="8780000" cy="22000"/>
          </a:xfrm>
          <a:prstGeom prst="rect">
            <a:avLst/>
          </a:prstGeom>
          <a:solidFill>
            <a:srgbClr val="00418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92" name="Title"/>
          <p:cNvSpPr/>
          <p:nvPr/>
        </p:nvSpPr>
        <p:spPr>
          <a:xfrm>
            <a:off x="1060000" y="90000"/>
            <a:ext cx="7940000" cy="5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2800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Contesto e motivazione</a:t>
            </a:r>
          </a:p>
        </p:txBody>
      </p:sp>
      <p:sp>
        <p:nvSpPr>
          <p:cNvPr id="10" name="ProbBg0"/>
          <p:cNvSpPr/>
          <p:nvPr/>
        </p:nvSpPr>
        <p:spPr>
          <a:xfrm>
            <a:off x="182000" y="820000"/>
            <a:ext cx="4100000" cy="1025000"/>
          </a:xfrm>
          <a:prstGeom prst="rect">
            <a:avLst/>
          </a:prstGeom>
          <a:solidFill>
            <a:srgbClr val="F7FAFD"/>
          </a:solidFill>
          <a:ln w="19050">
            <a:solidFill>
              <a:srgbClr val="1B3D7D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11" name="ProbBar0"/>
          <p:cNvSpPr/>
          <p:nvPr/>
        </p:nvSpPr>
        <p:spPr>
          <a:xfrm>
            <a:off x="182000" y="820000"/>
            <a:ext cx="18000" cy="1025000"/>
          </a:xfrm>
          <a:prstGeom prst="rect">
            <a:avLst/>
          </a:prstGeom>
          <a:solidFill>
            <a:srgbClr val="1B3D7D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2" name="ProbLbl0"/>
          <p:cNvSpPr/>
          <p:nvPr/>
        </p:nvSpPr>
        <p:spPr>
          <a:xfrm>
            <a:off x="222000" y="820000"/>
            <a:ext cx="4060000" cy="41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500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Il problema applicativo</a:t>
            </a:r>
          </a:p>
        </p:txBody>
      </p:sp>
      <p:sp>
        <p:nvSpPr>
          <p:cNvPr id="13" name="ProbTxt0"/>
          <p:cNvSpPr/>
          <p:nvPr/>
        </p:nvSpPr>
        <p:spPr>
          <a:xfrm>
            <a:off x="222000" y="1230000"/>
            <a:ext cx="4060000" cy="615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/>
          <a:lstStyle/>
          <a:p>
            <a:pPr algn="l">
              <a:buNone/>
            </a:pPr>
            <a:r>
              <a:rPr lang="it-IT" sz="120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Dataset medico: 10.000 geni, poche decine di pazienti. Quale gene conta davvero?</a:t>
            </a:r>
          </a:p>
        </p:txBody>
      </p:sp>
      <p:sp>
        <p:nvSpPr>
          <p:cNvPr id="16" name="ProbBg1"/>
          <p:cNvSpPr/>
          <p:nvPr/>
        </p:nvSpPr>
        <p:spPr>
          <a:xfrm>
            <a:off x="182000" y="1895000"/>
            <a:ext cx="4100000" cy="1025000"/>
          </a:xfrm>
          <a:prstGeom prst="rect">
            <a:avLst/>
          </a:prstGeom>
          <a:solidFill>
            <a:srgbClr val="F7FAFD"/>
          </a:solidFill>
          <a:ln w="19050">
            <a:solidFill>
              <a:srgbClr val="C62828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17" name="ProbBar1"/>
          <p:cNvSpPr/>
          <p:nvPr/>
        </p:nvSpPr>
        <p:spPr>
          <a:xfrm>
            <a:off x="182000" y="1895000"/>
            <a:ext cx="18000" cy="1025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8" name="ProbLbl1"/>
          <p:cNvSpPr/>
          <p:nvPr/>
        </p:nvSpPr>
        <p:spPr>
          <a:xfrm>
            <a:off x="222000" y="1895000"/>
            <a:ext cx="4060000" cy="41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500" b="1" dirty="0">
                <a:solidFill>
                  <a:srgbClr val="C62828"/>
                </a:solidFill>
                <a:latin typeface="Calibri"/>
                <a:ea typeface="Calibri"/>
                <a:cs typeface="Calibri"/>
              </a:rPr>
              <a:t>Bias da cardinalità</a:t>
            </a:r>
          </a:p>
        </p:txBody>
      </p:sp>
      <p:sp>
        <p:nvSpPr>
          <p:cNvPr id="19" name="ProbTxt1"/>
          <p:cNvSpPr/>
          <p:nvPr/>
        </p:nvSpPr>
        <p:spPr>
          <a:xfrm>
            <a:off x="222000" y="2305000"/>
            <a:ext cx="4060000" cy="615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/>
          <a:lstStyle/>
          <a:p>
            <a:pPr algn="l">
              <a:buNone/>
            </a:pPr>
            <a:r>
              <a:rPr lang="it-IT" sz="120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MDI sovrastima variabili continue rispetto a binarie, anche se entrambe sono puro rumore.</a:t>
            </a:r>
          </a:p>
        </p:txBody>
      </p:sp>
      <p:sp>
        <p:nvSpPr>
          <p:cNvPr id="22" name="ProbBg2"/>
          <p:cNvSpPr/>
          <p:nvPr/>
        </p:nvSpPr>
        <p:spPr>
          <a:xfrm>
            <a:off x="182000" y="2970000"/>
            <a:ext cx="4100000" cy="1025000"/>
          </a:xfrm>
          <a:prstGeom prst="rect">
            <a:avLst/>
          </a:prstGeom>
          <a:solidFill>
            <a:srgbClr val="F7FAFD"/>
          </a:solidFill>
          <a:ln w="19050">
            <a:solidFill>
              <a:srgbClr val="C62828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23" name="ProbBar2"/>
          <p:cNvSpPr/>
          <p:nvPr/>
        </p:nvSpPr>
        <p:spPr>
          <a:xfrm>
            <a:off x="182000" y="2970000"/>
            <a:ext cx="18000" cy="1025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24" name="ProbLbl2"/>
          <p:cNvSpPr/>
          <p:nvPr/>
        </p:nvSpPr>
        <p:spPr>
          <a:xfrm>
            <a:off x="222000" y="2970000"/>
            <a:ext cx="4060000" cy="41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500" b="1" dirty="0">
                <a:solidFill>
                  <a:srgbClr val="C62828"/>
                </a:solidFill>
                <a:latin typeface="Calibri"/>
                <a:ea typeface="Calibri"/>
                <a:cs typeface="Calibri"/>
              </a:rPr>
              <a:t>Instabilità</a:t>
            </a:r>
          </a:p>
        </p:txBody>
      </p:sp>
      <p:sp>
        <p:nvSpPr>
          <p:cNvPr id="25" name="ProbTxt2"/>
          <p:cNvSpPr/>
          <p:nvPr/>
        </p:nvSpPr>
        <p:spPr>
          <a:xfrm>
            <a:off x="222000" y="3380000"/>
            <a:ext cx="4060000" cy="615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/>
          <a:lstStyle/>
          <a:p>
            <a:pPr algn="l">
              <a:buNone/>
            </a:pPr>
            <a:r>
              <a:rPr lang="it-IT" sz="120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Con predittori correlati, la classifica cambia ad ogni esecuzione del modello.</a:t>
            </a:r>
          </a:p>
        </p:txBody>
      </p:sp>
      <p:sp>
        <p:nvSpPr>
          <p:cNvPr id="28" name="ProbBg3"/>
          <p:cNvSpPr/>
          <p:nvPr/>
        </p:nvSpPr>
        <p:spPr>
          <a:xfrm>
            <a:off x="182000" y="4045000"/>
            <a:ext cx="4100000" cy="1025000"/>
          </a:xfrm>
          <a:prstGeom prst="rect">
            <a:avLst/>
          </a:prstGeom>
          <a:solidFill>
            <a:srgbClr val="F7FAFD"/>
          </a:solidFill>
          <a:ln w="19050">
            <a:solidFill>
              <a:srgbClr val="E65100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29" name="ProbBar3"/>
          <p:cNvSpPr/>
          <p:nvPr/>
        </p:nvSpPr>
        <p:spPr>
          <a:xfrm>
            <a:off x="182000" y="4045000"/>
            <a:ext cx="18000" cy="10250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30" name="ProbLbl3"/>
          <p:cNvSpPr/>
          <p:nvPr/>
        </p:nvSpPr>
        <p:spPr>
          <a:xfrm>
            <a:off x="222000" y="4045000"/>
            <a:ext cx="4060000" cy="41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500" b="1" dirty="0">
                <a:solidFill>
                  <a:srgbClr val="E65100"/>
                </a:solidFill>
                <a:latin typeface="Calibri"/>
                <a:ea typeface="Calibri"/>
                <a:cs typeface="Calibri"/>
              </a:rPr>
              <a:t>Alta dimensionalità</a:t>
            </a:r>
          </a:p>
        </p:txBody>
      </p:sp>
      <p:sp>
        <p:nvSpPr>
          <p:cNvPr id="31" name="ProbTxt3"/>
          <p:cNvSpPr/>
          <p:nvPr/>
        </p:nvSpPr>
        <p:spPr>
          <a:xfrm>
            <a:off x="222000" y="4455000"/>
            <a:ext cx="4060000" cy="615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/>
          <a:lstStyle/>
          <a:p>
            <a:pPr algn="l">
              <a:buNone/>
            </a:pPr>
            <a:r>
              <a:rPr lang="it-IT" sz="120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Con p ≫ n (tipico in genomica) l'instabilità peggiora drasticamente.</a:t>
            </a:r>
          </a:p>
        </p:txBody>
      </p:sp>
      <p:sp>
        <p:nvSpPr>
          <p:cNvPr id="60" name="Stat60"/>
          <p:cNvSpPr/>
          <p:nvPr/>
        </p:nvSpPr>
        <p:spPr>
          <a:xfrm>
            <a:off x="4462000" y="820000"/>
            <a:ext cx="4500000" cy="1220000"/>
          </a:xfrm>
          <a:prstGeom prst="rect">
            <a:avLst/>
          </a:prstGeom>
          <a:solidFill>
            <a:srgbClr val="1B3D7D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61" name="StatNum60"/>
          <p:cNvSpPr/>
          <p:nvPr/>
        </p:nvSpPr>
        <p:spPr>
          <a:xfrm>
            <a:off x="4462000" y="820000"/>
            <a:ext cx="4500000" cy="707600"/>
          </a:xfrm>
          <a:prstGeom prst="rect">
            <a:avLst/>
          </a:prstGeom>
          <a:noFill/>
          <a:ln>
            <a:noFill/>
          </a:ln>
        </p:spPr>
        <p:txBody>
          <a:bodyPr wrap="square" lIns="60960" tIns="45720" rIns="60960" bIns="0" rtlCol="0" anchor="b"/>
          <a:lstStyle/>
          <a:p>
            <a:pPr algn="l">
              <a:buNone/>
            </a:pPr>
            <a:r>
              <a:rPr lang="it-IT" sz="48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10 000+</a:t>
            </a:r>
          </a:p>
        </p:txBody>
      </p:sp>
      <p:sp>
        <p:nvSpPr>
          <p:cNvPr id="62" name="StatLbl60"/>
          <p:cNvSpPr/>
          <p:nvPr/>
        </p:nvSpPr>
        <p:spPr>
          <a:xfrm>
            <a:off x="4462000" y="1527600"/>
            <a:ext cx="4500000" cy="512400"/>
          </a:xfrm>
          <a:prstGeom prst="rect">
            <a:avLst/>
          </a:prstGeom>
          <a:noFill/>
          <a:ln>
            <a:noFill/>
          </a:ln>
        </p:spPr>
        <p:txBody>
          <a:bodyPr wrap="square" lIns="60960" tIns="45720" rIns="60960" bIns="45720" rtlCol="0" anchor="t"/>
          <a:lstStyle/>
          <a:p>
            <a:pPr algn="l">
              <a:buNone/>
            </a:pPr>
            <a:r>
              <a:rPr lang="it-IT" sz="140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geni in un dataset genomico tipico</a:t>
            </a:r>
          </a:p>
        </p:txBody>
      </p:sp>
      <p:sp>
        <p:nvSpPr>
          <p:cNvPr id="65" name="Stat65"/>
          <p:cNvSpPr/>
          <p:nvPr/>
        </p:nvSpPr>
        <p:spPr>
          <a:xfrm>
            <a:off x="4462000" y="2100000"/>
            <a:ext cx="4500000" cy="1220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66" name="StatNum65"/>
          <p:cNvSpPr/>
          <p:nvPr/>
        </p:nvSpPr>
        <p:spPr>
          <a:xfrm>
            <a:off x="4462000" y="2100000"/>
            <a:ext cx="4500000" cy="707600"/>
          </a:xfrm>
          <a:prstGeom prst="rect">
            <a:avLst/>
          </a:prstGeom>
          <a:noFill/>
          <a:ln>
            <a:noFill/>
          </a:ln>
        </p:spPr>
        <p:txBody>
          <a:bodyPr wrap="square" lIns="60960" tIns="45720" rIns="60960" bIns="0" rtlCol="0" anchor="b"/>
          <a:lstStyle/>
          <a:p>
            <a:pPr algn="l">
              <a:buNone/>
            </a:pPr>
            <a:r>
              <a:rPr lang="it-IT" sz="48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~100</a:t>
            </a:r>
          </a:p>
        </p:txBody>
      </p:sp>
      <p:sp>
        <p:nvSpPr>
          <p:cNvPr id="67" name="StatLbl65"/>
          <p:cNvSpPr/>
          <p:nvPr/>
        </p:nvSpPr>
        <p:spPr>
          <a:xfrm>
            <a:off x="4462000" y="2807600"/>
            <a:ext cx="4500000" cy="512400"/>
          </a:xfrm>
          <a:prstGeom prst="rect">
            <a:avLst/>
          </a:prstGeom>
          <a:noFill/>
          <a:ln>
            <a:noFill/>
          </a:ln>
        </p:spPr>
        <p:txBody>
          <a:bodyPr wrap="square" lIns="60960" tIns="45720" rIns="60960" bIns="45720" rtlCol="0" anchor="t"/>
          <a:lstStyle/>
          <a:p>
            <a:pPr algn="l">
              <a:buNone/>
            </a:pPr>
            <a:r>
              <a:rPr lang="it-IT" sz="140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pazienti disponibili (p ≫ n)</a:t>
            </a:r>
          </a:p>
        </p:txBody>
      </p:sp>
      <p:sp>
        <p:nvSpPr>
          <p:cNvPr id="70" name="Stat70"/>
          <p:cNvSpPr/>
          <p:nvPr/>
        </p:nvSpPr>
        <p:spPr>
          <a:xfrm>
            <a:off x="4462000" y="3380000"/>
            <a:ext cx="4500000" cy="12200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71" name="StatNum70"/>
          <p:cNvSpPr/>
          <p:nvPr/>
        </p:nvSpPr>
        <p:spPr>
          <a:xfrm>
            <a:off x="4462000" y="3380000"/>
            <a:ext cx="4500000" cy="707600"/>
          </a:xfrm>
          <a:prstGeom prst="rect">
            <a:avLst/>
          </a:prstGeom>
          <a:noFill/>
          <a:ln>
            <a:noFill/>
          </a:ln>
        </p:spPr>
        <p:txBody>
          <a:bodyPr wrap="square" lIns="60960" tIns="45720" rIns="60960" bIns="0" rtlCol="0" anchor="b"/>
          <a:lstStyle/>
          <a:p>
            <a:pPr algn="l">
              <a:buNone/>
            </a:pPr>
            <a:r>
              <a:rPr lang="it-IT" sz="48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  <p:sp>
        <p:nvSpPr>
          <p:cNvPr id="72" name="StatLbl70"/>
          <p:cNvSpPr/>
          <p:nvPr/>
        </p:nvSpPr>
        <p:spPr>
          <a:xfrm>
            <a:off x="4462000" y="4087600"/>
            <a:ext cx="4500000" cy="512400"/>
          </a:xfrm>
          <a:prstGeom prst="rect">
            <a:avLst/>
          </a:prstGeom>
          <a:noFill/>
          <a:ln>
            <a:noFill/>
          </a:ln>
        </p:spPr>
        <p:txBody>
          <a:bodyPr wrap="square" lIns="60960" tIns="45720" rIns="60960" bIns="45720" rtlCol="0" anchor="t"/>
          <a:lstStyle/>
          <a:p>
            <a:pPr algn="l">
              <a:buNone/>
            </a:pPr>
            <a:r>
              <a:rPr lang="it-IT" sz="140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geni che contano davvero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Logo"/>
          <p:cNvPicPr>
            <a:picLocks noChangeAspect="1"/>
          </p:cNvPicPr>
          <p:nvPr/>
        </p:nvPicPr>
        <p:blipFill>
          <a:blip r:embed="rId3"/>
          <a:srcRect l="-1348" t="25421" r="-1064" b="-929"/>
          <a:stretch>
            <a:fillRect/>
          </a:stretch>
        </p:blipFill>
        <p:spPr>
          <a:xfrm>
            <a:off x="181758" y="2826"/>
            <a:ext cx="800187" cy="670190"/>
          </a:xfrm>
          <a:prstGeom prst="rect">
            <a:avLst/>
          </a:prstGeom>
        </p:spPr>
      </p:pic>
      <p:sp>
        <p:nvSpPr>
          <p:cNvPr id="91" name="Sep"/>
          <p:cNvSpPr/>
          <p:nvPr/>
        </p:nvSpPr>
        <p:spPr>
          <a:xfrm>
            <a:off x="182000" y="700000"/>
            <a:ext cx="8780000" cy="22000"/>
          </a:xfrm>
          <a:prstGeom prst="rect">
            <a:avLst/>
          </a:prstGeom>
          <a:solidFill>
            <a:srgbClr val="00418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92" name="Title"/>
          <p:cNvSpPr/>
          <p:nvPr/>
        </p:nvSpPr>
        <p:spPr>
          <a:xfrm>
            <a:off x="1060000" y="90000"/>
            <a:ext cx="7940000" cy="5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2800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Variable Importance: le due misure classiche</a:t>
            </a:r>
          </a:p>
        </p:txBody>
      </p:sp>
      <p:sp>
        <p:nvSpPr>
          <p:cNvPr id="10" name="MDIBg"/>
          <p:cNvSpPr/>
          <p:nvPr/>
        </p:nvSpPr>
        <p:spPr>
          <a:xfrm>
            <a:off x="182000" y="820000"/>
            <a:ext cx="4330000" cy="4220000"/>
          </a:xfrm>
          <a:prstGeom prst="rect">
            <a:avLst/>
          </a:prstGeom>
          <a:solidFill>
            <a:srgbClr val="F7FAFD"/>
          </a:solidFill>
          <a:ln w="12700">
            <a:solidFill>
              <a:srgbClr val="1B3D7D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11" name="MDIHdr"/>
          <p:cNvSpPr/>
          <p:nvPr/>
        </p:nvSpPr>
        <p:spPr>
          <a:xfrm>
            <a:off x="182000" y="820000"/>
            <a:ext cx="4330000" cy="500000"/>
          </a:xfrm>
          <a:prstGeom prst="rect">
            <a:avLst/>
          </a:prstGeom>
          <a:solidFill>
            <a:srgbClr val="1B3D7D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2" name="MDIHdrTxt"/>
          <p:cNvSpPr/>
          <p:nvPr/>
        </p:nvSpPr>
        <p:spPr>
          <a:xfrm>
            <a:off x="182000" y="820000"/>
            <a:ext cx="4330000" cy="5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7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MDI — Mean Decrease Impurity</a:t>
            </a:r>
          </a:p>
          <a:p>
            <a:pPr algn="l">
              <a:buNone/>
            </a:pPr>
            <a:r>
              <a:rPr lang="it-IT" sz="1200" dirty="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aka Gini Importance</a:t>
            </a:r>
          </a:p>
        </p:txBody>
      </p:sp>
      <p:sp>
        <p:nvSpPr>
          <p:cNvPr id="13" name="MDIBody"/>
          <p:cNvSpPr/>
          <p:nvPr/>
        </p:nvSpPr>
        <p:spPr>
          <a:xfrm>
            <a:off x="182000" y="1320000"/>
            <a:ext cx="4330000" cy="3720000"/>
          </a:xfrm>
          <a:prstGeom prst="rect">
            <a:avLst/>
          </a:prstGeom>
          <a:noFill/>
          <a:ln>
            <a:noFill/>
          </a:ln>
        </p:spPr>
        <p:txBody>
          <a:bodyPr wrap="square" lIns="120000" tIns="91440" rIns="91440" bIns="45720" rtlCol="0" anchor="t"/>
          <a:lstStyle/>
          <a:p>
            <a:pPr algn="l">
              <a:buNone/>
            </a:pPr>
            <a:r>
              <a:rPr lang="it-IT" sz="130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Media pesata della riduzione di impurità nei nodi che usano Xⱼ, su tutti gli alberi.</a:t>
            </a:r>
          </a:p>
          <a:p>
            <a:pPr algn="l">
              <a:buNone/>
            </a:pPr>
            <a:endParaRPr lang="it-IT" sz="1300" dirty="0">
              <a:solidFill>
                <a:srgbClr val="1A1A1A"/>
              </a:solidFill>
              <a:latin typeface="Calibri"/>
              <a:ea typeface="Calibri"/>
              <a:cs typeface="Calibri"/>
            </a:endParaRPr>
          </a:p>
          <a:p>
            <a:pPr algn="l">
              <a:buNone/>
            </a:pPr>
            <a:r>
              <a:rPr lang="it-IT" sz="1300" b="1" dirty="0">
                <a:solidFill>
                  <a:srgbClr val="2E7D32"/>
                </a:solidFill>
                <a:latin typeface="Calibri"/>
                <a:ea typeface="Calibri"/>
                <a:cs typeface="Calibri"/>
              </a:rPr>
              <a:t>✓  Costo zero: calcolata durante il training</a:t>
            </a:r>
          </a:p>
          <a:p>
            <a:pPr algn="l">
              <a:buNone/>
            </a:pPr>
            <a:r>
              <a:rPr lang="it-IT" sz="1300" b="1" dirty="0">
                <a:solidFill>
                  <a:srgbClr val="C62828"/>
                </a:solidFill>
                <a:latin typeface="Calibri"/>
                <a:ea typeface="Calibri"/>
                <a:cs typeface="Calibri"/>
              </a:rPr>
              <a:t>✗  Bias strutturale verso alta cardinalità</a:t>
            </a:r>
          </a:p>
          <a:p>
            <a:pPr algn="l">
              <a:buNone/>
            </a:pPr>
            <a:endParaRPr lang="it-IT" sz="1300" b="1" dirty="0">
              <a:solidFill>
                <a:srgbClr val="C62828"/>
              </a:solidFill>
              <a:latin typeface="Calibri"/>
              <a:ea typeface="Calibri"/>
              <a:cs typeface="Calibri"/>
            </a:endParaRPr>
          </a:p>
          <a:p>
            <a:pPr algn="l">
              <a:buNone/>
            </a:pPr>
            <a:r>
              <a:rPr lang="it-IT" sz="1200" i="1" dirty="0">
                <a:solidFill>
                  <a:srgbClr val="546E7A"/>
                </a:solidFill>
                <a:latin typeface="Calibri"/>
                <a:ea typeface="Calibri"/>
                <a:cs typeface="Calibri"/>
              </a:rPr>
              <a:t>E[MDI(Xⱼ)] &gt; 0  anche se  Xⱼ ⊥ Y</a:t>
            </a:r>
          </a:p>
          <a:p>
            <a:pPr algn="l">
              <a:buNone/>
            </a:pPr>
            <a:r>
              <a:rPr lang="it-IT" sz="1100" i="1" dirty="0">
                <a:solidFill>
                  <a:srgbClr val="546E7A"/>
                </a:solidFill>
                <a:latin typeface="Calibri"/>
                <a:ea typeface="Calibri"/>
                <a:cs typeface="Calibri"/>
              </a:rPr>
              <a:t>Strobl et al., 2007</a:t>
            </a:r>
          </a:p>
        </p:txBody>
      </p:sp>
      <p:sp>
        <p:nvSpPr>
          <p:cNvPr id="20" name="MDABg"/>
          <p:cNvSpPr/>
          <p:nvPr/>
        </p:nvSpPr>
        <p:spPr>
          <a:xfrm>
            <a:off x="4632000" y="820000"/>
            <a:ext cx="4330000" cy="4220000"/>
          </a:xfrm>
          <a:prstGeom prst="rect">
            <a:avLst/>
          </a:prstGeom>
          <a:solidFill>
            <a:srgbClr val="F7FAFD"/>
          </a:solidFill>
          <a:ln w="12700">
            <a:solidFill>
              <a:srgbClr val="2A9D8F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21" name="MDAHdr"/>
          <p:cNvSpPr/>
          <p:nvPr/>
        </p:nvSpPr>
        <p:spPr>
          <a:xfrm>
            <a:off x="4632000" y="820000"/>
            <a:ext cx="4330000" cy="5000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22" name="MDAHdrTxt"/>
          <p:cNvSpPr/>
          <p:nvPr/>
        </p:nvSpPr>
        <p:spPr>
          <a:xfrm>
            <a:off x="4632000" y="820000"/>
            <a:ext cx="4330000" cy="5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7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MDA — Mean Decrease Accuracy</a:t>
            </a:r>
          </a:p>
          <a:p>
            <a:pPr algn="l">
              <a:buNone/>
            </a:pPr>
            <a:r>
              <a:rPr lang="it-IT" sz="1200" dirty="0">
                <a:solidFill>
                  <a:srgbClr val="C8F0EC"/>
                </a:solidFill>
                <a:latin typeface="Calibri"/>
                <a:ea typeface="Calibri"/>
                <a:cs typeface="Calibri"/>
              </a:rPr>
              <a:t>aka Permutation Importance  (Breiman, 2001)</a:t>
            </a:r>
          </a:p>
        </p:txBody>
      </p:sp>
      <p:sp>
        <p:nvSpPr>
          <p:cNvPr id="23" name="MDABody"/>
          <p:cNvSpPr/>
          <p:nvPr/>
        </p:nvSpPr>
        <p:spPr>
          <a:xfrm>
            <a:off x="4632000" y="1320000"/>
            <a:ext cx="4330000" cy="3720000"/>
          </a:xfrm>
          <a:prstGeom prst="rect">
            <a:avLst/>
          </a:prstGeom>
          <a:noFill/>
          <a:ln>
            <a:noFill/>
          </a:ln>
        </p:spPr>
        <p:txBody>
          <a:bodyPr wrap="square" lIns="120000" tIns="91440" rIns="91440" bIns="45720" rtlCol="0" anchor="t"/>
          <a:lstStyle/>
          <a:p>
            <a:pPr algn="l">
              <a:buNone/>
            </a:pPr>
            <a:r>
              <a:rPr lang="it-IT" sz="130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Per ogni Xⱼ: rimescola i valori nelle OOB, distruggi l'informazione, misura quanto peggiora l'errore.</a:t>
            </a:r>
          </a:p>
          <a:p>
            <a:pPr algn="l">
              <a:buNone/>
            </a:pPr>
            <a:endParaRPr lang="it-IT" sz="1300" dirty="0">
              <a:solidFill>
                <a:srgbClr val="1A1A1A"/>
              </a:solidFill>
              <a:latin typeface="Calibri"/>
              <a:ea typeface="Calibri"/>
              <a:cs typeface="Calibri"/>
            </a:endParaRPr>
          </a:p>
          <a:p>
            <a:pPr algn="l">
              <a:buNone/>
            </a:pPr>
            <a:r>
              <a:rPr lang="it-IT" sz="1300" b="1" dirty="0">
                <a:solidFill>
                  <a:srgbClr val="2E7D32"/>
                </a:solidFill>
                <a:latin typeface="Calibri"/>
                <a:ea typeface="Calibri"/>
                <a:cs typeface="Calibri"/>
              </a:rPr>
              <a:t>✓  Meno distorta della MDI</a:t>
            </a:r>
          </a:p>
          <a:p>
            <a:pPr algn="l">
              <a:buNone/>
            </a:pPr>
            <a:r>
              <a:rPr lang="it-IT" sz="1300" b="1" dirty="0">
                <a:solidFill>
                  <a:srgbClr val="C62828"/>
                </a:solidFill>
                <a:latin typeface="Calibri"/>
                <a:ea typeface="Calibri"/>
                <a:cs typeface="Calibri"/>
              </a:rPr>
              <a:t>✗  Riduce ma non elimina il bias da cardinalità</a:t>
            </a:r>
          </a:p>
          <a:p>
            <a:pPr algn="l">
              <a:buNone/>
            </a:pPr>
            <a:endParaRPr lang="it-IT" sz="1300" b="1" dirty="0">
              <a:solidFill>
                <a:srgbClr val="C62828"/>
              </a:solidFill>
              <a:latin typeface="Calibri"/>
              <a:ea typeface="Calibri"/>
              <a:cs typeface="Calibri"/>
            </a:endParaRPr>
          </a:p>
          <a:p>
            <a:pPr algn="l">
              <a:buNone/>
            </a:pPr>
            <a:r>
              <a:rPr lang="it-IT" sz="1200" i="1" dirty="0">
                <a:solidFill>
                  <a:srgbClr val="546E7A"/>
                </a:solidFill>
                <a:latin typeface="Calibri"/>
                <a:ea typeface="Calibri"/>
                <a:cs typeface="Calibri"/>
              </a:rPr>
              <a:t>Se Xⱼ è irrilevante  →  MDA(Xⱼ) ≈ 0</a:t>
            </a:r>
          </a:p>
          <a:p>
            <a:pPr algn="l">
              <a:buNone/>
            </a:pPr>
            <a:r>
              <a:rPr lang="it-IT" sz="1200" i="1" dirty="0">
                <a:solidFill>
                  <a:srgbClr val="546E7A"/>
                </a:solidFill>
                <a:latin typeface="Calibri"/>
                <a:ea typeface="Calibri"/>
                <a:cs typeface="Calibri"/>
              </a:rPr>
              <a:t>Se Xⱼ è informativa  →  MDA(Xⱼ) alto</a:t>
            </a:r>
          </a:p>
          <a:p>
            <a:pPr algn="l">
              <a:buNone/>
            </a:pPr>
            <a:endParaRPr lang="it-IT" sz="1200" i="1" dirty="0">
              <a:solidFill>
                <a:srgbClr val="546E7A"/>
              </a:solidFill>
              <a:latin typeface="Calibri"/>
              <a:ea typeface="Calibri"/>
              <a:cs typeface="Calibri"/>
            </a:endParaRPr>
          </a:p>
          <a:p>
            <a:pPr algn="l">
              <a:buNone/>
            </a:pPr>
            <a:r>
              <a:rPr lang="it-IT" sz="1200" dirty="0">
                <a:solidFill>
                  <a:srgbClr val="E65100"/>
                </a:solidFill>
                <a:latin typeface="Calibri"/>
                <a:ea typeface="Calibri"/>
                <a:cs typeface="Calibri"/>
              </a:rPr>
              <a:t>In teoria — in pratica rimane distorta.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Logo"/>
          <p:cNvPicPr>
            <a:picLocks noChangeAspect="1"/>
          </p:cNvPicPr>
          <p:nvPr/>
        </p:nvPicPr>
        <p:blipFill>
          <a:blip r:embed="rId3"/>
          <a:srcRect l="-1348" t="25421" r="-1064" b="-929"/>
          <a:stretch>
            <a:fillRect/>
          </a:stretch>
        </p:blipFill>
        <p:spPr>
          <a:xfrm>
            <a:off x="181758" y="2826"/>
            <a:ext cx="800187" cy="670190"/>
          </a:xfrm>
          <a:prstGeom prst="rect">
            <a:avLst/>
          </a:prstGeom>
        </p:spPr>
      </p:pic>
      <p:sp>
        <p:nvSpPr>
          <p:cNvPr id="91" name="Sep"/>
          <p:cNvSpPr/>
          <p:nvPr/>
        </p:nvSpPr>
        <p:spPr>
          <a:xfrm>
            <a:off x="182000" y="700000"/>
            <a:ext cx="8780000" cy="22000"/>
          </a:xfrm>
          <a:prstGeom prst="rect">
            <a:avLst/>
          </a:prstGeom>
          <a:solidFill>
            <a:srgbClr val="00418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92" name="Title"/>
          <p:cNvSpPr/>
          <p:nvPr/>
        </p:nvSpPr>
        <p:spPr>
          <a:xfrm>
            <a:off x="1060000" y="90000"/>
            <a:ext cx="7940000" cy="5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2800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Il bias della MDI: perché favorisce alta cardinalità</a:t>
            </a:r>
          </a:p>
        </p:txBody>
      </p:sp>
      <p:sp>
        <p:nvSpPr>
          <p:cNvPr id="10" name="BiasBg0"/>
          <p:cNvSpPr/>
          <p:nvPr/>
        </p:nvSpPr>
        <p:spPr>
          <a:xfrm>
            <a:off x="182000" y="840000"/>
            <a:ext cx="8780000" cy="1680000"/>
          </a:xfrm>
          <a:prstGeom prst="rect">
            <a:avLst/>
          </a:prstGeom>
          <a:solidFill>
            <a:srgbClr val="F7FAFD"/>
          </a:solidFill>
          <a:ln w="12700">
            <a:solidFill>
              <a:srgbClr val="1B3D7D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11" name="BiasStrip0"/>
          <p:cNvSpPr/>
          <p:nvPr/>
        </p:nvSpPr>
        <p:spPr>
          <a:xfrm>
            <a:off x="182000" y="840000"/>
            <a:ext cx="480000" cy="1680000"/>
          </a:xfrm>
          <a:prstGeom prst="rect">
            <a:avLst/>
          </a:prstGeom>
          <a:solidFill>
            <a:srgbClr val="1B3D7D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2" name="BiasNum0"/>
          <p:cNvSpPr/>
          <p:nvPr/>
        </p:nvSpPr>
        <p:spPr>
          <a:xfrm>
            <a:off x="182000" y="840000"/>
            <a:ext cx="480000" cy="16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54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13" name="BiasTitle0"/>
          <p:cNvSpPr/>
          <p:nvPr/>
        </p:nvSpPr>
        <p:spPr>
          <a:xfrm>
            <a:off x="702000" y="840000"/>
            <a:ext cx="826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600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Più valori → più opportunità di sembrare utile per caso</a:t>
            </a:r>
          </a:p>
        </p:txBody>
      </p:sp>
      <p:sp>
        <p:nvSpPr>
          <p:cNvPr id="14" name="BiasBody0"/>
          <p:cNvSpPr/>
          <p:nvPr/>
        </p:nvSpPr>
        <p:spPr>
          <a:xfrm>
            <a:off x="702000" y="1320000"/>
            <a:ext cx="8260000" cy="12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/>
          <a:lstStyle/>
          <a:p>
            <a:pPr algn="l">
              <a:buNone/>
            </a:pPr>
            <a:r>
              <a:rPr lang="it-IT" sz="130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Una variabile continua può essere tagliata in centinaia di soglie. Anche se è puro rumore,</a:t>
            </a:r>
          </a:p>
          <a:p>
            <a:pPr algn="l">
              <a:buNone/>
            </a:pPr>
            <a:r>
              <a:rPr lang="it-IT" sz="130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il massimo su K tentativi cresce con K — anche se ogni tentativo ha guadagno atteso zero.</a:t>
            </a:r>
          </a:p>
          <a:p>
            <a:pPr algn="l">
              <a:buNone/>
            </a:pPr>
            <a:r>
              <a:rPr lang="it-IT" sz="130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Una variabile binaria ha 1 soglia possibile. Una continua ne ha potenzialmente centinaia.</a:t>
            </a:r>
          </a:p>
        </p:txBody>
      </p:sp>
      <p:sp>
        <p:nvSpPr>
          <p:cNvPr id="18" name="BiasBg1"/>
          <p:cNvSpPr/>
          <p:nvPr/>
        </p:nvSpPr>
        <p:spPr>
          <a:xfrm>
            <a:off x="182000" y="2600000"/>
            <a:ext cx="8780000" cy="1680000"/>
          </a:xfrm>
          <a:prstGeom prst="rect">
            <a:avLst/>
          </a:prstGeom>
          <a:solidFill>
            <a:srgbClr val="F7FAFD"/>
          </a:solidFill>
          <a:ln w="12700">
            <a:solidFill>
              <a:srgbClr val="C62828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19" name="BiasStrip1"/>
          <p:cNvSpPr/>
          <p:nvPr/>
        </p:nvSpPr>
        <p:spPr>
          <a:xfrm>
            <a:off x="182000" y="2600000"/>
            <a:ext cx="480000" cy="1680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20" name="BiasNum1"/>
          <p:cNvSpPr/>
          <p:nvPr/>
        </p:nvSpPr>
        <p:spPr>
          <a:xfrm>
            <a:off x="182000" y="2600000"/>
            <a:ext cx="480000" cy="16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54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21" name="BiasTitle1"/>
          <p:cNvSpPr/>
          <p:nvPr/>
        </p:nvSpPr>
        <p:spPr>
          <a:xfrm>
            <a:off x="702000" y="2600000"/>
            <a:ext cx="826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600" b="1" dirty="0">
                <a:solidFill>
                  <a:srgbClr val="C62828"/>
                </a:solidFill>
                <a:latin typeface="Calibri"/>
                <a:ea typeface="Calibri"/>
                <a:cs typeface="Calibri"/>
              </a:rPr>
              <a:t>La selezione casuale delle variabili amplifica il problema</a:t>
            </a:r>
          </a:p>
        </p:txBody>
      </p:sp>
      <p:sp>
        <p:nvSpPr>
          <p:cNvPr id="22" name="BiasBody1"/>
          <p:cNvSpPr/>
          <p:nvPr/>
        </p:nvSpPr>
        <p:spPr>
          <a:xfrm>
            <a:off x="702000" y="3080000"/>
            <a:ext cx="8260000" cy="12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/>
          <a:lstStyle/>
          <a:p>
            <a:pPr algn="l">
              <a:buNone/>
            </a:pPr>
            <a:r>
              <a:rPr lang="it-IT" sz="130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Ad ogni split si considerano solo m = ⌊√p⌋ variabili. Una variabile ad alta cardinalità</a:t>
            </a:r>
          </a:p>
          <a:p>
            <a:pPr algn="l">
              <a:buNone/>
            </a:pPr>
            <a:r>
              <a:rPr lang="it-IT" sz="130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ha più probabilità di risultare la ‘migliore’ nel sottoinsieme estratto, per puro caso</a:t>
            </a:r>
          </a:p>
          <a:p>
            <a:pPr algn="l">
              <a:buNone/>
            </a:pPr>
            <a:r>
              <a:rPr lang="it-IT" sz="130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— anche senza alcun segnale reale.</a:t>
            </a:r>
          </a:p>
        </p:txBody>
      </p:sp>
      <p:sp>
        <p:nvSpPr>
          <p:cNvPr id="50" name="ConsBg"/>
          <p:cNvSpPr/>
          <p:nvPr/>
        </p:nvSpPr>
        <p:spPr>
          <a:xfrm>
            <a:off x="182000" y="4310000"/>
            <a:ext cx="8780000" cy="673500"/>
          </a:xfrm>
          <a:prstGeom prst="rect">
            <a:avLst/>
          </a:prstGeom>
          <a:solidFill>
            <a:srgbClr val="C62828"/>
          </a:solidFill>
          <a:ln w="9525">
            <a:solidFill>
              <a:srgbClr val="C62828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51" name="ConsTxt"/>
          <p:cNvSpPr/>
          <p:nvPr/>
        </p:nvSpPr>
        <p:spPr>
          <a:xfrm>
            <a:off x="242000" y="4310000"/>
            <a:ext cx="8660000" cy="6735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4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Conseguenza (Strobl et al., 2007):</a:t>
            </a:r>
          </a:p>
          <a:p>
            <a:pPr algn="l">
              <a:buNone/>
            </a:pPr>
            <a:r>
              <a:rPr lang="it-IT" sz="130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E[MDI(Xⱼ)] &gt; 0  anche se  Xⱼ ⊥ Y  —  il bias cresce al crescere dei valori distinti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Logo"/>
          <p:cNvPicPr>
            <a:picLocks noChangeAspect="1"/>
          </p:cNvPicPr>
          <p:nvPr/>
        </p:nvPicPr>
        <p:blipFill>
          <a:blip r:embed="rId2"/>
          <a:srcRect l="-1348" t="25421" r="-1064" b="-929"/>
          <a:stretch>
            <a:fillRect/>
          </a:stretch>
        </p:blipFill>
        <p:spPr>
          <a:xfrm>
            <a:off x="181758" y="2826"/>
            <a:ext cx="800187" cy="670190"/>
          </a:xfrm>
          <a:prstGeom prst="rect">
            <a:avLst/>
          </a:prstGeom>
        </p:spPr>
      </p:pic>
      <p:sp>
        <p:nvSpPr>
          <p:cNvPr id="91" name="Sep"/>
          <p:cNvSpPr/>
          <p:nvPr/>
        </p:nvSpPr>
        <p:spPr>
          <a:xfrm>
            <a:off x="182000" y="700000"/>
            <a:ext cx="8780000" cy="22000"/>
          </a:xfrm>
          <a:prstGeom prst="rect">
            <a:avLst/>
          </a:prstGeom>
          <a:solidFill>
            <a:srgbClr val="00418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92" name="Title"/>
          <p:cNvSpPr/>
          <p:nvPr/>
        </p:nvSpPr>
        <p:spPr>
          <a:xfrm>
            <a:off x="1060000" y="90000"/>
            <a:ext cx="7940000" cy="5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2800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Esp. 1 — Bias MDI verso variabili ad alta cardinalità</a:t>
            </a:r>
          </a:p>
        </p:txBody>
      </p:sp>
      <p:sp>
        <p:nvSpPr>
          <p:cNvPr id="10" name="SetupBg"/>
          <p:cNvSpPr/>
          <p:nvPr/>
        </p:nvSpPr>
        <p:spPr>
          <a:xfrm>
            <a:off x="182000" y="810000"/>
            <a:ext cx="8780000" cy="380000"/>
          </a:xfrm>
          <a:prstGeom prst="rect">
            <a:avLst/>
          </a:prstGeom>
          <a:solidFill>
            <a:srgbClr val="EBF0F7"/>
          </a:solidFill>
          <a:ln w="9525">
            <a:solidFill>
              <a:srgbClr val="1B3D7D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11" name="SetupTxt"/>
          <p:cNvSpPr/>
          <p:nvPr/>
        </p:nvSpPr>
        <p:spPr>
          <a:xfrm>
            <a:off x="242000" y="810000"/>
            <a:ext cx="866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400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Setup:</a:t>
            </a:r>
          </a:p>
          <a:p>
            <a:pPr algn="l">
              <a:buNone/>
            </a:pPr>
            <a:r>
              <a:rPr lang="it-IT" sz="130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n=600, Y = rumore puro, 4 predittori tutti rumore con cardinalità crescente:</a:t>
            </a:r>
          </a:p>
        </p:txBody>
      </p:sp>
      <p:sp>
        <p:nvSpPr>
          <p:cNvPr id="20" name="VC0"/>
          <p:cNvSpPr/>
          <p:nvPr/>
        </p:nvSpPr>
        <p:spPr>
          <a:xfrm>
            <a:off x="182000" y="1260000"/>
            <a:ext cx="2135000" cy="600000"/>
          </a:xfrm>
          <a:prstGeom prst="rect">
            <a:avLst/>
          </a:prstGeom>
          <a:solidFill>
            <a:srgbClr val="1B3D7D"/>
          </a:solidFill>
          <a:ln w="12700">
            <a:solidFill>
              <a:srgbClr val="1B3D7D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21" name="VCTxt0"/>
          <p:cNvSpPr/>
          <p:nvPr/>
        </p:nvSpPr>
        <p:spPr>
          <a:xfrm>
            <a:off x="182000" y="1260000"/>
            <a:ext cx="2135000" cy="6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6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X bin</a:t>
            </a:r>
          </a:p>
          <a:p>
            <a:pPr algn="l">
              <a:buNone/>
            </a:pPr>
            <a:r>
              <a:rPr lang="it-IT" sz="1200" dirty="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(2 cat)</a:t>
            </a:r>
          </a:p>
        </p:txBody>
      </p:sp>
      <p:sp>
        <p:nvSpPr>
          <p:cNvPr id="22" name="Arr0"/>
          <p:cNvSpPr/>
          <p:nvPr/>
        </p:nvSpPr>
        <p:spPr>
          <a:xfrm>
            <a:off x="2327000" y="1260000"/>
            <a:ext cx="60000" cy="6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800" b="1" dirty="0">
                <a:solidFill>
                  <a:srgbClr val="546E7A"/>
                </a:solidFill>
                <a:latin typeface="Calibri"/>
                <a:ea typeface="Calibri"/>
                <a:cs typeface="Calibri"/>
              </a:rPr>
              <a:t>→</a:t>
            </a:r>
          </a:p>
        </p:txBody>
      </p:sp>
      <p:sp>
        <p:nvSpPr>
          <p:cNvPr id="25" name="VC1"/>
          <p:cNvSpPr/>
          <p:nvPr/>
        </p:nvSpPr>
        <p:spPr>
          <a:xfrm>
            <a:off x="2397000" y="1260000"/>
            <a:ext cx="2135000" cy="60000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26" name="VCTxt1"/>
          <p:cNvSpPr/>
          <p:nvPr/>
        </p:nvSpPr>
        <p:spPr>
          <a:xfrm>
            <a:off x="2397000" y="1260000"/>
            <a:ext cx="2135000" cy="6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6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X cat5</a:t>
            </a:r>
          </a:p>
          <a:p>
            <a:pPr algn="l">
              <a:buNone/>
            </a:pPr>
            <a:r>
              <a:rPr lang="it-IT" sz="120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(5 cat)</a:t>
            </a:r>
          </a:p>
        </p:txBody>
      </p:sp>
      <p:sp>
        <p:nvSpPr>
          <p:cNvPr id="27" name="Arr1"/>
          <p:cNvSpPr/>
          <p:nvPr/>
        </p:nvSpPr>
        <p:spPr>
          <a:xfrm>
            <a:off x="4542000" y="1260000"/>
            <a:ext cx="60000" cy="6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800" b="1" dirty="0">
                <a:solidFill>
                  <a:srgbClr val="546E7A"/>
                </a:solidFill>
                <a:latin typeface="Calibri"/>
                <a:ea typeface="Calibri"/>
                <a:cs typeface="Calibri"/>
              </a:rPr>
              <a:t>→</a:t>
            </a:r>
          </a:p>
        </p:txBody>
      </p:sp>
      <p:sp>
        <p:nvSpPr>
          <p:cNvPr id="30" name="VC2"/>
          <p:cNvSpPr/>
          <p:nvPr/>
        </p:nvSpPr>
        <p:spPr>
          <a:xfrm>
            <a:off x="4612000" y="1260000"/>
            <a:ext cx="2135000" cy="600000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31" name="VCTxt2"/>
          <p:cNvSpPr/>
          <p:nvPr/>
        </p:nvSpPr>
        <p:spPr>
          <a:xfrm>
            <a:off x="4612000" y="1260000"/>
            <a:ext cx="2135000" cy="6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6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X cat15</a:t>
            </a:r>
          </a:p>
          <a:p>
            <a:pPr algn="l">
              <a:buNone/>
            </a:pPr>
            <a:r>
              <a:rPr lang="it-IT" sz="120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(15 cat)</a:t>
            </a:r>
          </a:p>
        </p:txBody>
      </p:sp>
      <p:sp>
        <p:nvSpPr>
          <p:cNvPr id="32" name="Arr2"/>
          <p:cNvSpPr/>
          <p:nvPr/>
        </p:nvSpPr>
        <p:spPr>
          <a:xfrm>
            <a:off x="6757000" y="1260000"/>
            <a:ext cx="60000" cy="6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800" b="1" dirty="0">
                <a:solidFill>
                  <a:srgbClr val="546E7A"/>
                </a:solidFill>
                <a:latin typeface="Calibri"/>
                <a:ea typeface="Calibri"/>
                <a:cs typeface="Calibri"/>
              </a:rPr>
              <a:t>→</a:t>
            </a:r>
          </a:p>
        </p:txBody>
      </p:sp>
      <p:sp>
        <p:nvSpPr>
          <p:cNvPr id="35" name="VC3"/>
          <p:cNvSpPr/>
          <p:nvPr/>
        </p:nvSpPr>
        <p:spPr>
          <a:xfrm>
            <a:off x="6827000" y="1260000"/>
            <a:ext cx="2135000" cy="600000"/>
          </a:xfrm>
          <a:prstGeom prst="rect">
            <a:avLst/>
          </a:prstGeom>
          <a:solidFill>
            <a:srgbClr val="C62828"/>
          </a:solidFill>
          <a:ln w="12700">
            <a:solidFill>
              <a:srgbClr val="C62828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36" name="VCTxt3"/>
          <p:cNvSpPr/>
          <p:nvPr/>
        </p:nvSpPr>
        <p:spPr>
          <a:xfrm>
            <a:off x="6827000" y="1260000"/>
            <a:ext cx="2135000" cy="6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6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X cont</a:t>
            </a:r>
          </a:p>
          <a:p>
            <a:pPr algn="l">
              <a:buNone/>
            </a:pPr>
            <a:r>
              <a:rPr lang="it-IT" sz="120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(continua)</a:t>
            </a:r>
          </a:p>
        </p:txBody>
      </p:sp>
      <p:sp>
        <p:nvSpPr>
          <p:cNvPr id="70" name="CapBg"/>
          <p:cNvSpPr/>
          <p:nvPr/>
        </p:nvSpPr>
        <p:spPr>
          <a:xfrm>
            <a:off x="182000" y="4733500"/>
            <a:ext cx="8780000" cy="300000"/>
          </a:xfrm>
          <a:prstGeom prst="rect">
            <a:avLst/>
          </a:prstGeom>
          <a:solidFill>
            <a:srgbClr val="EBF0F7"/>
          </a:solidFill>
          <a:ln w="9525">
            <a:solidFill>
              <a:srgbClr val="90A4AE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71" name="CapTxt"/>
          <p:cNvSpPr/>
          <p:nvPr/>
        </p:nvSpPr>
        <p:spPr>
          <a:xfrm>
            <a:off x="242000" y="4733500"/>
            <a:ext cx="866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200" dirty="0">
                <a:solidFill>
                  <a:srgbClr val="546E7A"/>
                </a:solidFill>
                <a:latin typeface="Calibri"/>
                <a:ea typeface="Calibri"/>
                <a:cs typeface="Calibri"/>
              </a:rPr>
              <a:t>MDI: da 6 (binaria) a 67 (continua) con Y rumore puro.  Permutation: meno distorta, ma non immune.</a:t>
            </a: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9E0437F1-C154-1B8D-2892-15BA4A71B0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5235" y="1902570"/>
            <a:ext cx="7073529" cy="283093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Logo"/>
          <p:cNvPicPr>
            <a:picLocks noChangeAspect="1"/>
          </p:cNvPicPr>
          <p:nvPr/>
        </p:nvPicPr>
        <p:blipFill>
          <a:blip r:embed="rId2"/>
          <a:srcRect l="-1348" t="25421" r="-1064" b="-929"/>
          <a:stretch>
            <a:fillRect/>
          </a:stretch>
        </p:blipFill>
        <p:spPr>
          <a:xfrm>
            <a:off x="181758" y="2826"/>
            <a:ext cx="800187" cy="670190"/>
          </a:xfrm>
          <a:prstGeom prst="rect">
            <a:avLst/>
          </a:prstGeom>
        </p:spPr>
      </p:pic>
      <p:sp>
        <p:nvSpPr>
          <p:cNvPr id="91" name="Sep"/>
          <p:cNvSpPr/>
          <p:nvPr/>
        </p:nvSpPr>
        <p:spPr>
          <a:xfrm>
            <a:off x="182000" y="700000"/>
            <a:ext cx="8780000" cy="22000"/>
          </a:xfrm>
          <a:prstGeom prst="rect">
            <a:avLst/>
          </a:prstGeom>
          <a:solidFill>
            <a:srgbClr val="00418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92" name="Title"/>
          <p:cNvSpPr/>
          <p:nvPr/>
        </p:nvSpPr>
        <p:spPr>
          <a:xfrm>
            <a:off x="1060000" y="90000"/>
            <a:ext cx="7940000" cy="5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2800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Il problema della correlazione e l’instabilità</a:t>
            </a:r>
          </a:p>
        </p:txBody>
      </p:sp>
      <p:sp>
        <p:nvSpPr>
          <p:cNvPr id="10" name="QBg"/>
          <p:cNvSpPr/>
          <p:nvPr/>
        </p:nvSpPr>
        <p:spPr>
          <a:xfrm>
            <a:off x="182000" y="820000"/>
            <a:ext cx="8780000" cy="360000"/>
          </a:xfrm>
          <a:prstGeom prst="rect">
            <a:avLst/>
          </a:prstGeom>
          <a:solidFill>
            <a:srgbClr val="1B3D7D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1" name="QTxt"/>
          <p:cNvSpPr/>
          <p:nvPr/>
        </p:nvSpPr>
        <p:spPr>
          <a:xfrm>
            <a:off x="242000" y="820000"/>
            <a:ext cx="8660000" cy="36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8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Cosa succede quando due predittori sono fortemente correlati?</a:t>
            </a:r>
          </a:p>
        </p:txBody>
      </p:sp>
      <p:sp>
        <p:nvSpPr>
          <p:cNvPr id="20" name="CBg0"/>
          <p:cNvSpPr/>
          <p:nvPr/>
        </p:nvSpPr>
        <p:spPr>
          <a:xfrm>
            <a:off x="182000" y="1250000"/>
            <a:ext cx="2886666" cy="820000"/>
          </a:xfrm>
          <a:prstGeom prst="rect">
            <a:avLst/>
          </a:prstGeom>
          <a:solidFill>
            <a:srgbClr val="F7FAFD"/>
          </a:solidFill>
          <a:ln w="9525">
            <a:solidFill>
              <a:srgbClr val="C62828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21" name="CBar0"/>
          <p:cNvSpPr/>
          <p:nvPr/>
        </p:nvSpPr>
        <p:spPr>
          <a:xfrm>
            <a:off x="182000" y="1250000"/>
            <a:ext cx="2886666" cy="18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22" name="CTxt0"/>
          <p:cNvSpPr/>
          <p:nvPr/>
        </p:nvSpPr>
        <p:spPr>
          <a:xfrm>
            <a:off x="222000" y="1300000"/>
            <a:ext cx="2806666" cy="77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/>
          <a:lstStyle/>
          <a:p>
            <a:pPr algn="l">
              <a:buNone/>
            </a:pPr>
            <a:r>
              <a:rPr lang="it-IT" sz="130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Entrambe le variabili funzionano quasi ugualmente bene per uno split</a:t>
            </a:r>
          </a:p>
        </p:txBody>
      </p:sp>
      <p:sp>
        <p:nvSpPr>
          <p:cNvPr id="24" name="CBg1"/>
          <p:cNvSpPr/>
          <p:nvPr/>
        </p:nvSpPr>
        <p:spPr>
          <a:xfrm>
            <a:off x="3128666" y="1250000"/>
            <a:ext cx="2886666" cy="820000"/>
          </a:xfrm>
          <a:prstGeom prst="rect">
            <a:avLst/>
          </a:prstGeom>
          <a:solidFill>
            <a:srgbClr val="F7FAFD"/>
          </a:solidFill>
          <a:ln w="9525">
            <a:solidFill>
              <a:srgbClr val="C62828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25" name="CBar1"/>
          <p:cNvSpPr/>
          <p:nvPr/>
        </p:nvSpPr>
        <p:spPr>
          <a:xfrm>
            <a:off x="3128666" y="1250000"/>
            <a:ext cx="2886666" cy="18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26" name="CTxt1"/>
          <p:cNvSpPr/>
          <p:nvPr/>
        </p:nvSpPr>
        <p:spPr>
          <a:xfrm>
            <a:off x="3168666" y="1300000"/>
            <a:ext cx="2806666" cy="77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/>
          <a:lstStyle/>
          <a:p>
            <a:pPr algn="l">
              <a:buNone/>
            </a:pPr>
            <a:r>
              <a:rPr lang="it-IT" sz="130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Quale ‘vince’ dipende dal bootstrap e dal sottoinsieme casuale estratto</a:t>
            </a:r>
          </a:p>
        </p:txBody>
      </p:sp>
      <p:sp>
        <p:nvSpPr>
          <p:cNvPr id="28" name="CBg2"/>
          <p:cNvSpPr/>
          <p:nvPr/>
        </p:nvSpPr>
        <p:spPr>
          <a:xfrm>
            <a:off x="6075332" y="1250000"/>
            <a:ext cx="2886666" cy="820000"/>
          </a:xfrm>
          <a:prstGeom prst="rect">
            <a:avLst/>
          </a:prstGeom>
          <a:solidFill>
            <a:srgbClr val="F7FAFD"/>
          </a:solidFill>
          <a:ln w="9525">
            <a:solidFill>
              <a:srgbClr val="C62828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29" name="CBar2"/>
          <p:cNvSpPr/>
          <p:nvPr/>
        </p:nvSpPr>
        <p:spPr>
          <a:xfrm>
            <a:off x="6075332" y="1250000"/>
            <a:ext cx="2886666" cy="18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30" name="CTxt2"/>
          <p:cNvSpPr/>
          <p:nvPr/>
        </p:nvSpPr>
        <p:spPr>
          <a:xfrm>
            <a:off x="6115332" y="1300000"/>
            <a:ext cx="2806666" cy="77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/>
          <a:lstStyle/>
          <a:p>
            <a:pPr algn="l">
              <a:buNone/>
            </a:pPr>
            <a:r>
              <a:rPr lang="it-IT" sz="130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L’importanza viene distribuita arbitrariamente — e cambia ad ogni run</a:t>
            </a:r>
          </a:p>
        </p:txBody>
      </p:sp>
      <p:sp>
        <p:nvSpPr>
          <p:cNvPr id="40" name="PCBg"/>
          <p:cNvSpPr/>
          <p:nvPr/>
        </p:nvSpPr>
        <p:spPr>
          <a:xfrm>
            <a:off x="182000" y="2150000"/>
            <a:ext cx="8780000" cy="500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41" name="PCTxt"/>
          <p:cNvSpPr/>
          <p:nvPr/>
        </p:nvSpPr>
        <p:spPr>
          <a:xfrm>
            <a:off x="242000" y="2150000"/>
            <a:ext cx="8660000" cy="5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30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Conseguenza pratica: correndo lo stesso RF due volte sugli stessi dati, la classifica</a:t>
            </a:r>
          </a:p>
          <a:p>
            <a:pPr algn="l">
              <a:buNone/>
            </a:pPr>
            <a:r>
              <a:rPr lang="it-IT" sz="130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può cambiare sostanzialmente. Il ‘gene più importante’ di oggi potrebbe non comparire domani.</a:t>
            </a:r>
          </a:p>
        </p:txBody>
      </p:sp>
      <p:sp>
        <p:nvSpPr>
          <p:cNvPr id="50" name="SuBg"/>
          <p:cNvSpPr/>
          <p:nvPr/>
        </p:nvSpPr>
        <p:spPr>
          <a:xfrm>
            <a:off x="182000" y="2730000"/>
            <a:ext cx="8780000" cy="2253500"/>
          </a:xfrm>
          <a:prstGeom prst="rect">
            <a:avLst/>
          </a:prstGeom>
          <a:solidFill>
            <a:srgbClr val="EBF0F7"/>
          </a:solidFill>
          <a:ln w="9525">
            <a:solidFill>
              <a:srgbClr val="1B3D7D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51" name="SuTxt"/>
          <p:cNvSpPr/>
          <p:nvPr/>
        </p:nvSpPr>
        <p:spPr>
          <a:xfrm>
            <a:off x="242000" y="2730000"/>
            <a:ext cx="8660000" cy="22535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300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Setup Esp. 2:</a:t>
            </a:r>
          </a:p>
          <a:p>
            <a:pPr algn="l">
              <a:buNone/>
            </a:pPr>
            <a:r>
              <a:rPr lang="it-IT" sz="120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p=12 predittori  ·  struttura AR(1) con ρ=0.95  ·  solo X₁ è causale (β₁=0.8)  ·  n=150  ·  30 run con semi diversi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Logo"/>
          <p:cNvPicPr>
            <a:picLocks noChangeAspect="1"/>
          </p:cNvPicPr>
          <p:nvPr/>
        </p:nvPicPr>
        <p:blipFill>
          <a:blip r:embed="rId2"/>
          <a:srcRect l="-1348" t="25421" r="-1064" b="-929"/>
          <a:stretch>
            <a:fillRect/>
          </a:stretch>
        </p:blipFill>
        <p:spPr>
          <a:xfrm>
            <a:off x="181758" y="2826"/>
            <a:ext cx="800187" cy="670190"/>
          </a:xfrm>
          <a:prstGeom prst="rect">
            <a:avLst/>
          </a:prstGeom>
        </p:spPr>
      </p:pic>
      <p:sp>
        <p:nvSpPr>
          <p:cNvPr id="91" name="Sep"/>
          <p:cNvSpPr/>
          <p:nvPr/>
        </p:nvSpPr>
        <p:spPr>
          <a:xfrm>
            <a:off x="182000" y="700000"/>
            <a:ext cx="8780000" cy="22000"/>
          </a:xfrm>
          <a:prstGeom prst="rect">
            <a:avLst/>
          </a:prstGeom>
          <a:solidFill>
            <a:srgbClr val="00418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92" name="Title"/>
          <p:cNvSpPr/>
          <p:nvPr/>
        </p:nvSpPr>
        <p:spPr>
          <a:xfrm>
            <a:off x="1060000" y="90000"/>
            <a:ext cx="7940000" cy="5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2800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Esp. 2 — Instabilità dei ranghi MDI su 30 run</a:t>
            </a:r>
          </a:p>
        </p:txBody>
      </p:sp>
      <p:sp>
        <p:nvSpPr>
          <p:cNvPr id="20" name="StBg"/>
          <p:cNvSpPr/>
          <p:nvPr/>
        </p:nvSpPr>
        <p:spPr>
          <a:xfrm>
            <a:off x="182000" y="3200000"/>
            <a:ext cx="4350000" cy="1783500"/>
          </a:xfrm>
          <a:prstGeom prst="rect">
            <a:avLst/>
          </a:prstGeom>
          <a:solidFill>
            <a:srgbClr val="EBF0F7"/>
          </a:solidFill>
          <a:ln w="12700">
            <a:solidFill>
              <a:srgbClr val="2E7D32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21" name="StBar"/>
          <p:cNvSpPr/>
          <p:nvPr/>
        </p:nvSpPr>
        <p:spPr>
          <a:xfrm>
            <a:off x="182000" y="3200000"/>
            <a:ext cx="4350000" cy="18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22" name="StTxt"/>
          <p:cNvSpPr/>
          <p:nvPr/>
        </p:nvSpPr>
        <p:spPr>
          <a:xfrm>
            <a:off x="222000" y="3250000"/>
            <a:ext cx="4270000" cy="17335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/>
          <a:lstStyle/>
          <a:p>
            <a:pPr algn="l">
              <a:buNone/>
            </a:pPr>
            <a:r>
              <a:rPr lang="it-IT" sz="1500" b="1" dirty="0">
                <a:solidFill>
                  <a:srgbClr val="2E7D32"/>
                </a:solidFill>
                <a:latin typeface="Calibri"/>
                <a:ea typeface="Calibri"/>
                <a:cs typeface="Calibri"/>
              </a:rPr>
              <a:t>X₁ e X₂ stabili (SD ≈ 0)</a:t>
            </a:r>
          </a:p>
          <a:p>
            <a:pPr algn="l">
              <a:buNone/>
            </a:pPr>
            <a:endParaRPr lang="it-IT" sz="1500" b="1" dirty="0">
              <a:solidFill>
                <a:srgbClr val="2E7D32"/>
              </a:solidFill>
              <a:latin typeface="Calibri"/>
              <a:ea typeface="Calibri"/>
              <a:cs typeface="Calibri"/>
            </a:endParaRPr>
          </a:p>
          <a:p>
            <a:pPr algn="l">
              <a:buNone/>
            </a:pPr>
            <a:r>
              <a:rPr lang="it-IT" sz="120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Ma X₂ stabilmente al 2° posto non è un successo:</a:t>
            </a:r>
          </a:p>
          <a:p>
            <a:pPr algn="l">
              <a:buNone/>
            </a:pPr>
            <a:r>
              <a:rPr lang="it-IT" sz="120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un analista includerebbe sempre un predittore non causale.</a:t>
            </a:r>
          </a:p>
        </p:txBody>
      </p:sp>
      <p:sp>
        <p:nvSpPr>
          <p:cNvPr id="30" name="ChBg"/>
          <p:cNvSpPr/>
          <p:nvPr/>
        </p:nvSpPr>
        <p:spPr>
          <a:xfrm>
            <a:off x="4612000" y="3200000"/>
            <a:ext cx="4350000" cy="1783500"/>
          </a:xfrm>
          <a:prstGeom prst="rect">
            <a:avLst/>
          </a:prstGeom>
          <a:solidFill>
            <a:srgbClr val="EBF0F7"/>
          </a:solidFill>
          <a:ln w="12700">
            <a:solidFill>
              <a:srgbClr val="C62828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31" name="ChBar"/>
          <p:cNvSpPr/>
          <p:nvPr/>
        </p:nvSpPr>
        <p:spPr>
          <a:xfrm>
            <a:off x="4612000" y="3200000"/>
            <a:ext cx="4350000" cy="18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32" name="ChTxt"/>
          <p:cNvSpPr/>
          <p:nvPr/>
        </p:nvSpPr>
        <p:spPr>
          <a:xfrm>
            <a:off x="4652000" y="3250000"/>
            <a:ext cx="4270000" cy="17335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/>
          <a:lstStyle/>
          <a:p>
            <a:pPr algn="l">
              <a:buNone/>
            </a:pPr>
            <a:r>
              <a:rPr lang="it-IT" sz="1500" b="1" dirty="0">
                <a:solidFill>
                  <a:srgbClr val="C62828"/>
                </a:solidFill>
                <a:latin typeface="Calibri"/>
                <a:ea typeface="Calibri"/>
                <a:cs typeface="Calibri"/>
              </a:rPr>
              <a:t>X₃–X₁₂ caotiche (SD elevata)</a:t>
            </a:r>
          </a:p>
          <a:p>
            <a:pPr algn="l">
              <a:buNone/>
            </a:pPr>
            <a:endParaRPr lang="it-IT" sz="1500" b="1" dirty="0">
              <a:solidFill>
                <a:srgbClr val="C62828"/>
              </a:solidFill>
              <a:latin typeface="Calibri"/>
              <a:ea typeface="Calibri"/>
              <a:cs typeface="Calibri"/>
            </a:endParaRPr>
          </a:p>
          <a:p>
            <a:pPr algn="l">
              <a:buNone/>
            </a:pPr>
            <a:r>
              <a:rPr lang="it-IT" sz="120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Selezionando le top-5, si includono variabili rumore diverse ad ogni run.</a:t>
            </a:r>
          </a:p>
          <a:p>
            <a:pPr algn="l">
              <a:buNone/>
            </a:pPr>
            <a:r>
              <a:rPr lang="it-IT" sz="1200" dirty="0">
                <a:solidFill>
                  <a:srgbClr val="C62828"/>
                </a:solidFill>
                <a:latin typeface="Calibri"/>
                <a:ea typeface="Calibri"/>
                <a:cs typeface="Calibri"/>
              </a:rPr>
              <a:t>Non errori casuali: errori sistematici diversi ogni volta.</a:t>
            </a: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128105DB-8453-025C-C375-C029957D69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9706" y="780881"/>
            <a:ext cx="5044587" cy="237823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Logo"/>
          <p:cNvPicPr>
            <a:picLocks noChangeAspect="1"/>
          </p:cNvPicPr>
          <p:nvPr/>
        </p:nvPicPr>
        <p:blipFill>
          <a:blip r:embed="rId2"/>
          <a:srcRect l="-1348" t="25421" r="-1064" b="-929"/>
          <a:stretch>
            <a:fillRect/>
          </a:stretch>
        </p:blipFill>
        <p:spPr>
          <a:xfrm>
            <a:off x="181758" y="2826"/>
            <a:ext cx="800187" cy="670190"/>
          </a:xfrm>
          <a:prstGeom prst="rect">
            <a:avLst/>
          </a:prstGeom>
        </p:spPr>
      </p:pic>
      <p:sp>
        <p:nvSpPr>
          <p:cNvPr id="91" name="Sep"/>
          <p:cNvSpPr/>
          <p:nvPr/>
        </p:nvSpPr>
        <p:spPr>
          <a:xfrm>
            <a:off x="182000" y="700000"/>
            <a:ext cx="8780000" cy="22000"/>
          </a:xfrm>
          <a:prstGeom prst="rect">
            <a:avLst/>
          </a:prstGeom>
          <a:solidFill>
            <a:srgbClr val="00418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92" name="Title"/>
          <p:cNvSpPr/>
          <p:nvPr/>
        </p:nvSpPr>
        <p:spPr>
          <a:xfrm>
            <a:off x="1060000" y="90000"/>
            <a:ext cx="7940000" cy="5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2800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Le soluzioni: Conditional Importance e Stability Selection</a:t>
            </a:r>
          </a:p>
        </p:txBody>
      </p:sp>
      <p:sp>
        <p:nvSpPr>
          <p:cNvPr id="10" name="CIBg"/>
          <p:cNvSpPr/>
          <p:nvPr/>
        </p:nvSpPr>
        <p:spPr>
          <a:xfrm>
            <a:off x="182000" y="820000"/>
            <a:ext cx="4330000" cy="4250000"/>
          </a:xfrm>
          <a:prstGeom prst="rect">
            <a:avLst/>
          </a:prstGeom>
          <a:solidFill>
            <a:srgbClr val="F7FAFD"/>
          </a:solidFill>
          <a:ln w="12700">
            <a:solidFill>
              <a:srgbClr val="2A9D8F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11" name="CIHdr"/>
          <p:cNvSpPr/>
          <p:nvPr/>
        </p:nvSpPr>
        <p:spPr>
          <a:xfrm>
            <a:off x="182000" y="820000"/>
            <a:ext cx="4330000" cy="5200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2" name="CIHdrTxt"/>
          <p:cNvSpPr/>
          <p:nvPr/>
        </p:nvSpPr>
        <p:spPr>
          <a:xfrm>
            <a:off x="182000" y="820000"/>
            <a:ext cx="433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6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Conditional Permutation Importance</a:t>
            </a:r>
          </a:p>
          <a:p>
            <a:pPr algn="l">
              <a:buNone/>
            </a:pPr>
            <a:r>
              <a:rPr lang="it-IT" sz="1200" dirty="0">
                <a:solidFill>
                  <a:srgbClr val="C8F0EC"/>
                </a:solidFill>
                <a:latin typeface="Calibri"/>
                <a:ea typeface="Calibri"/>
                <a:cs typeface="Calibri"/>
              </a:rPr>
              <a:t>Strobl et al., 2008  ·  cforest (R)</a:t>
            </a:r>
          </a:p>
        </p:txBody>
      </p:sp>
      <p:sp>
        <p:nvSpPr>
          <p:cNvPr id="13" name="CIBody"/>
          <p:cNvSpPr/>
          <p:nvPr/>
        </p:nvSpPr>
        <p:spPr>
          <a:xfrm>
            <a:off x="182000" y="1340000"/>
            <a:ext cx="4330000" cy="3730000"/>
          </a:xfrm>
          <a:prstGeom prst="rect">
            <a:avLst/>
          </a:prstGeom>
          <a:noFill/>
          <a:ln>
            <a:noFill/>
          </a:ln>
        </p:spPr>
        <p:txBody>
          <a:bodyPr wrap="square" lIns="120000" tIns="91440" rIns="91440" bIns="45720" rtlCol="0" anchor="t"/>
          <a:lstStyle/>
          <a:p>
            <a:pPr algn="l">
              <a:buNone/>
            </a:pPr>
            <a:r>
              <a:rPr lang="it-IT" sz="1400" b="1" dirty="0">
                <a:solidFill>
                  <a:srgbClr val="2A9D8F"/>
                </a:solidFill>
                <a:latin typeface="Calibri"/>
                <a:ea typeface="Calibri"/>
                <a:cs typeface="Calibri"/>
              </a:rPr>
              <a:t>Idea:</a:t>
            </a:r>
          </a:p>
          <a:p>
            <a:pPr algn="l">
              <a:buNone/>
            </a:pPr>
            <a:r>
              <a:rPr lang="it-IT" sz="130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Permuta Xⱼ solo all’interno di gruppi di osservazioni con valori simili per le variabili correlate.</a:t>
            </a:r>
          </a:p>
          <a:p>
            <a:pPr algn="l">
              <a:buNone/>
            </a:pPr>
            <a:endParaRPr lang="it-IT" sz="1300" dirty="0">
              <a:solidFill>
                <a:srgbClr val="1A1A1A"/>
              </a:solidFill>
              <a:latin typeface="Calibri"/>
              <a:ea typeface="Calibri"/>
              <a:cs typeface="Calibri"/>
            </a:endParaRPr>
          </a:p>
          <a:p>
            <a:pPr algn="l">
              <a:buNone/>
            </a:pPr>
            <a:r>
              <a:rPr lang="it-IT" sz="130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In questo modo l’importanza riflette il contributo unico di Xⱼ, al netto delle correlate.</a:t>
            </a:r>
          </a:p>
          <a:p>
            <a:pPr algn="l">
              <a:buNone/>
            </a:pPr>
            <a:endParaRPr lang="it-IT" sz="1300" dirty="0">
              <a:solidFill>
                <a:srgbClr val="1A1A1A"/>
              </a:solidFill>
              <a:latin typeface="Calibri"/>
              <a:ea typeface="Calibri"/>
              <a:cs typeface="Calibri"/>
            </a:endParaRPr>
          </a:p>
          <a:p>
            <a:pPr algn="l">
              <a:buNone/>
            </a:pPr>
            <a:r>
              <a:rPr lang="it-IT" sz="1300" b="1" dirty="0">
                <a:solidFill>
                  <a:srgbClr val="2E7D32"/>
                </a:solidFill>
                <a:latin typeface="Calibri"/>
                <a:ea typeface="Calibri"/>
                <a:cs typeface="Calibri"/>
              </a:rPr>
              <a:t>✓  Elimina il bias da cardinalità a livello di splitting</a:t>
            </a:r>
          </a:p>
          <a:p>
            <a:pPr algn="l">
              <a:buNone/>
            </a:pPr>
            <a:endParaRPr lang="it-IT" sz="1300" b="1" dirty="0">
              <a:solidFill>
                <a:srgbClr val="2E7D32"/>
              </a:solidFill>
              <a:latin typeface="Calibri"/>
              <a:ea typeface="Calibri"/>
              <a:cs typeface="Calibri"/>
            </a:endParaRPr>
          </a:p>
          <a:p>
            <a:pPr algn="l">
              <a:buNone/>
            </a:pPr>
            <a:r>
              <a:rPr lang="it-IT" sz="1200" b="1" dirty="0">
                <a:solidFill>
                  <a:srgbClr val="E65100"/>
                </a:solidFill>
                <a:latin typeface="Calibri"/>
                <a:ea typeface="Calibri"/>
                <a:cs typeface="Calibri"/>
              </a:rPr>
              <a:t>Nota:</a:t>
            </a:r>
          </a:p>
          <a:p>
            <a:pPr algn="l">
              <a:buNone/>
            </a:pPr>
            <a:r>
              <a:rPr lang="it-IT" sz="1200" dirty="0">
                <a:solidFill>
                  <a:srgbClr val="546E7A"/>
                </a:solidFill>
                <a:latin typeface="Calibri"/>
                <a:ea typeface="Calibri"/>
                <a:cs typeface="Calibri"/>
              </a:rPr>
              <a:t>cforest usa conditional inference trees (non CART) — confronto tra modelli diversi.</a:t>
            </a:r>
          </a:p>
        </p:txBody>
      </p:sp>
      <p:sp>
        <p:nvSpPr>
          <p:cNvPr id="20" name="SSBg"/>
          <p:cNvSpPr/>
          <p:nvPr/>
        </p:nvSpPr>
        <p:spPr>
          <a:xfrm>
            <a:off x="4632000" y="820000"/>
            <a:ext cx="4330000" cy="4250000"/>
          </a:xfrm>
          <a:prstGeom prst="rect">
            <a:avLst/>
          </a:prstGeom>
          <a:solidFill>
            <a:srgbClr val="F7FAFD"/>
          </a:solidFill>
          <a:ln w="12700">
            <a:solidFill>
              <a:srgbClr val="1B3D7D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21" name="SSHdr"/>
          <p:cNvSpPr/>
          <p:nvPr/>
        </p:nvSpPr>
        <p:spPr>
          <a:xfrm>
            <a:off x="4632000" y="820000"/>
            <a:ext cx="4330000" cy="520000"/>
          </a:xfrm>
          <a:prstGeom prst="rect">
            <a:avLst/>
          </a:prstGeom>
          <a:solidFill>
            <a:srgbClr val="1B3D7D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22" name="SSHdrTxt"/>
          <p:cNvSpPr/>
          <p:nvPr/>
        </p:nvSpPr>
        <p:spPr>
          <a:xfrm>
            <a:off x="4632000" y="820000"/>
            <a:ext cx="433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6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Stability Selection</a:t>
            </a:r>
          </a:p>
          <a:p>
            <a:pPr algn="l">
              <a:buNone/>
            </a:pPr>
            <a:r>
              <a:rPr lang="it-IT" sz="1200" dirty="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Meinshausen &amp; Bühlmann, 2010  ·  stabs (R)</a:t>
            </a:r>
          </a:p>
        </p:txBody>
      </p:sp>
      <p:sp>
        <p:nvSpPr>
          <p:cNvPr id="23" name="SSBody"/>
          <p:cNvSpPr/>
          <p:nvPr/>
        </p:nvSpPr>
        <p:spPr>
          <a:xfrm>
            <a:off x="4632000" y="1340000"/>
            <a:ext cx="4330000" cy="3730000"/>
          </a:xfrm>
          <a:prstGeom prst="rect">
            <a:avLst/>
          </a:prstGeom>
          <a:noFill/>
          <a:ln>
            <a:noFill/>
          </a:ln>
        </p:spPr>
        <p:txBody>
          <a:bodyPr wrap="square" lIns="120000" tIns="91440" rIns="91440" bIns="45720" rtlCol="0" anchor="t"/>
          <a:lstStyle/>
          <a:p>
            <a:pPr algn="l">
              <a:buNone/>
            </a:pPr>
            <a:r>
              <a:rPr lang="it-IT" sz="1400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Algoritmo:</a:t>
            </a:r>
          </a:p>
          <a:p>
            <a:pPr algn="l">
              <a:buNone/>
            </a:pPr>
            <a:r>
              <a:rPr lang="it-IT" sz="130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1.  Genera B=100 sotto-campioni di dimensione n/2</a:t>
            </a:r>
          </a:p>
          <a:p>
            <a:pPr algn="l">
              <a:buNone/>
            </a:pPr>
            <a:r>
              <a:rPr lang="it-IT" sz="130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2.  Su ciascuno: stima percorso LASSO, registra variabili selezionate</a:t>
            </a:r>
          </a:p>
          <a:p>
            <a:pPr algn="l">
              <a:buNone/>
            </a:pPr>
            <a:r>
              <a:rPr lang="it-IT" sz="130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3.  Π̂ⱼ = frazione di sotto-campioni in cui Xⱼ è selezionata</a:t>
            </a:r>
          </a:p>
          <a:p>
            <a:pPr algn="l">
              <a:buNone/>
            </a:pPr>
            <a:r>
              <a:rPr lang="it-IT" sz="130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4.  Dichiara importante solo chi supera πₜℎᵣ = 0.75</a:t>
            </a:r>
          </a:p>
          <a:p>
            <a:pPr algn="l">
              <a:buNone/>
            </a:pPr>
            <a:endParaRPr lang="it-IT" sz="1300" dirty="0">
              <a:solidFill>
                <a:srgbClr val="1A1A1A"/>
              </a:solidFill>
              <a:latin typeface="Calibri"/>
              <a:ea typeface="Calibri"/>
              <a:cs typeface="Calibri"/>
            </a:endParaRPr>
          </a:p>
          <a:p>
            <a:pPr algn="l">
              <a:buNone/>
            </a:pPr>
            <a:r>
              <a:rPr lang="it-IT" sz="1300" b="1" dirty="0">
                <a:solidFill>
                  <a:srgbClr val="2E7D32"/>
                </a:solidFill>
                <a:latin typeface="Calibri"/>
                <a:ea typeface="Calibri"/>
                <a:cs typeface="Calibri"/>
              </a:rPr>
              <a:t>✓  L’unico metodo con garanzia formale sui falsi positivi (PFER)</a:t>
            </a:r>
          </a:p>
          <a:p>
            <a:pPr algn="l">
              <a:buNone/>
            </a:pPr>
            <a:r>
              <a:rPr lang="it-IT" sz="1200" dirty="0">
                <a:solidFill>
                  <a:srgbClr val="2E7D32"/>
                </a:solidFill>
                <a:latin typeface="Calibri"/>
                <a:ea typeface="Calibri"/>
                <a:cs typeface="Calibri"/>
              </a:rPr>
              <a:t>    Essenziale in contesti clinici e regolatori.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Logo"/>
          <p:cNvPicPr>
            <a:picLocks noChangeAspect="1"/>
          </p:cNvPicPr>
          <p:nvPr/>
        </p:nvPicPr>
        <p:blipFill>
          <a:blip r:embed="rId2"/>
          <a:srcRect l="-1348" t="25421" r="-1064" b="-929"/>
          <a:stretch>
            <a:fillRect/>
          </a:stretch>
        </p:blipFill>
        <p:spPr>
          <a:xfrm>
            <a:off x="181758" y="2826"/>
            <a:ext cx="800187" cy="670190"/>
          </a:xfrm>
          <a:prstGeom prst="rect">
            <a:avLst/>
          </a:prstGeom>
        </p:spPr>
      </p:pic>
      <p:sp>
        <p:nvSpPr>
          <p:cNvPr id="91" name="Sep"/>
          <p:cNvSpPr/>
          <p:nvPr/>
        </p:nvSpPr>
        <p:spPr>
          <a:xfrm>
            <a:off x="182000" y="700000"/>
            <a:ext cx="8780000" cy="22000"/>
          </a:xfrm>
          <a:prstGeom prst="rect">
            <a:avLst/>
          </a:prstGeom>
          <a:solidFill>
            <a:srgbClr val="00418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92" name="Title"/>
          <p:cNvSpPr/>
          <p:nvPr/>
        </p:nvSpPr>
        <p:spPr>
          <a:xfrm>
            <a:off x="1060000" y="90000"/>
            <a:ext cx="7940000" cy="5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2800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Esp. 3 — MDI vs Permutation vs Conditional Importance</a:t>
            </a:r>
          </a:p>
        </p:txBody>
      </p:sp>
      <p:sp>
        <p:nvSpPr>
          <p:cNvPr id="10" name="SetBg"/>
          <p:cNvSpPr/>
          <p:nvPr/>
        </p:nvSpPr>
        <p:spPr>
          <a:xfrm>
            <a:off x="182000" y="800000"/>
            <a:ext cx="8780000" cy="300000"/>
          </a:xfrm>
          <a:prstGeom prst="rect">
            <a:avLst/>
          </a:prstGeom>
          <a:solidFill>
            <a:srgbClr val="EBF0F7"/>
          </a:solidFill>
          <a:ln w="9525">
            <a:solidFill>
              <a:srgbClr val="90A4AE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11" name="SetTxt"/>
          <p:cNvSpPr/>
          <p:nvPr/>
        </p:nvSpPr>
        <p:spPr>
          <a:xfrm>
            <a:off x="242000" y="800000"/>
            <a:ext cx="866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300" dirty="0">
                <a:solidFill>
                  <a:srgbClr val="546E7A"/>
                </a:solidFill>
                <a:latin typeface="Calibri"/>
                <a:ea typeface="Calibri"/>
                <a:cs typeface="Calibri"/>
              </a:rPr>
              <a:t>Stessi dati AR(1) (ρ=0.95) — solo X₁ è causale. Importanze normalizzate [0,1].</a:t>
            </a:r>
          </a:p>
        </p:txBody>
      </p:sp>
      <p:sp>
        <p:nvSpPr>
          <p:cNvPr id="30" name="MBg0"/>
          <p:cNvSpPr/>
          <p:nvPr/>
        </p:nvSpPr>
        <p:spPr>
          <a:xfrm>
            <a:off x="688296" y="1379207"/>
            <a:ext cx="1876832" cy="1081566"/>
          </a:xfrm>
          <a:prstGeom prst="rect">
            <a:avLst/>
          </a:prstGeom>
          <a:solidFill>
            <a:srgbClr val="F7FAFD"/>
          </a:solidFill>
          <a:ln w="12700">
            <a:solidFill>
              <a:srgbClr val="C62828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31" name="MBar0"/>
          <p:cNvSpPr/>
          <p:nvPr/>
        </p:nvSpPr>
        <p:spPr>
          <a:xfrm>
            <a:off x="688296" y="1379206"/>
            <a:ext cx="1876832" cy="45719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32" name="MHdr0"/>
          <p:cNvSpPr/>
          <p:nvPr/>
        </p:nvSpPr>
        <p:spPr>
          <a:xfrm>
            <a:off x="728296" y="1409207"/>
            <a:ext cx="1824818" cy="263235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/>
          <a:lstStyle/>
          <a:p>
            <a:pPr algn="l">
              <a:buNone/>
            </a:pPr>
            <a:r>
              <a:rPr lang="it-IT" sz="1500" b="1" dirty="0">
                <a:solidFill>
                  <a:srgbClr val="C62828"/>
                </a:solidFill>
                <a:latin typeface="Calibri"/>
                <a:ea typeface="Calibri"/>
                <a:cs typeface="Calibri"/>
              </a:rPr>
              <a:t>MDI</a:t>
            </a:r>
          </a:p>
        </p:txBody>
      </p:sp>
      <p:sp>
        <p:nvSpPr>
          <p:cNvPr id="33" name="MTxt0"/>
          <p:cNvSpPr/>
          <p:nvPr/>
        </p:nvSpPr>
        <p:spPr>
          <a:xfrm>
            <a:off x="654129" y="1664468"/>
            <a:ext cx="1824818" cy="772265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/>
          <a:lstStyle/>
          <a:p>
            <a:pPr algn="l">
              <a:buNone/>
            </a:pPr>
            <a:r>
              <a:rPr lang="it-IT" sz="120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Distribuisce importanza su X₂ (≈0.6) e X₃–X₄ (≈0.3). Profilo ‘sfumato’.</a:t>
            </a:r>
          </a:p>
        </p:txBody>
      </p:sp>
      <p:sp>
        <p:nvSpPr>
          <p:cNvPr id="34" name="MBg1"/>
          <p:cNvSpPr/>
          <p:nvPr/>
        </p:nvSpPr>
        <p:spPr>
          <a:xfrm>
            <a:off x="676282" y="2618129"/>
            <a:ext cx="1876832" cy="1081566"/>
          </a:xfrm>
          <a:prstGeom prst="rect">
            <a:avLst/>
          </a:prstGeom>
          <a:solidFill>
            <a:srgbClr val="F7FAFD"/>
          </a:solidFill>
          <a:ln w="12700">
            <a:solidFill>
              <a:srgbClr val="E65100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35" name="MBar1"/>
          <p:cNvSpPr/>
          <p:nvPr/>
        </p:nvSpPr>
        <p:spPr>
          <a:xfrm>
            <a:off x="676282" y="2618128"/>
            <a:ext cx="1876832" cy="45719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36" name="MHdr1"/>
          <p:cNvSpPr/>
          <p:nvPr/>
        </p:nvSpPr>
        <p:spPr>
          <a:xfrm>
            <a:off x="716282" y="2648129"/>
            <a:ext cx="1824818" cy="263235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/>
          <a:lstStyle/>
          <a:p>
            <a:pPr algn="l">
              <a:buNone/>
            </a:pPr>
            <a:r>
              <a:rPr lang="it-IT" sz="1500" b="1" dirty="0">
                <a:solidFill>
                  <a:srgbClr val="E65100"/>
                </a:solidFill>
                <a:latin typeface="Calibri"/>
                <a:ea typeface="Calibri"/>
                <a:cs typeface="Calibri"/>
              </a:rPr>
              <a:t>Permutation</a:t>
            </a:r>
          </a:p>
        </p:txBody>
      </p:sp>
      <p:sp>
        <p:nvSpPr>
          <p:cNvPr id="37" name="MTxt1"/>
          <p:cNvSpPr/>
          <p:nvPr/>
        </p:nvSpPr>
        <p:spPr>
          <a:xfrm>
            <a:off x="654129" y="2863284"/>
            <a:ext cx="1824818" cy="772265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/>
          <a:lstStyle/>
          <a:p>
            <a:pPr algn="l">
              <a:buNone/>
            </a:pPr>
            <a:r>
              <a:rPr lang="it-IT" sz="120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Simile a MDI nelle prime posizioni, importanza residua su molte variabili lontane.</a:t>
            </a:r>
          </a:p>
        </p:txBody>
      </p:sp>
      <p:sp>
        <p:nvSpPr>
          <p:cNvPr id="38" name="MBg2"/>
          <p:cNvSpPr/>
          <p:nvPr/>
        </p:nvSpPr>
        <p:spPr>
          <a:xfrm>
            <a:off x="683735" y="3846461"/>
            <a:ext cx="1876832" cy="1081566"/>
          </a:xfrm>
          <a:prstGeom prst="rect">
            <a:avLst/>
          </a:prstGeom>
          <a:solidFill>
            <a:srgbClr val="F7FAFD"/>
          </a:solidFill>
          <a:ln w="12700">
            <a:solidFill>
              <a:srgbClr val="2E7D32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39" name="MBar2"/>
          <p:cNvSpPr/>
          <p:nvPr/>
        </p:nvSpPr>
        <p:spPr>
          <a:xfrm>
            <a:off x="664268" y="3846460"/>
            <a:ext cx="1876832" cy="45719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40" name="MHdr2"/>
          <p:cNvSpPr/>
          <p:nvPr/>
        </p:nvSpPr>
        <p:spPr>
          <a:xfrm>
            <a:off x="704268" y="3876461"/>
            <a:ext cx="1824818" cy="263235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/>
          <a:lstStyle/>
          <a:p>
            <a:pPr algn="l">
              <a:buNone/>
            </a:pPr>
            <a:r>
              <a:rPr lang="it-IT" sz="1500" b="1" dirty="0">
                <a:solidFill>
                  <a:srgbClr val="2E7D32"/>
                </a:solidFill>
                <a:latin typeface="Calibri"/>
                <a:ea typeface="Calibri"/>
                <a:cs typeface="Calibri"/>
              </a:rPr>
              <a:t>Conditional</a:t>
            </a:r>
          </a:p>
        </p:txBody>
      </p:sp>
      <p:sp>
        <p:nvSpPr>
          <p:cNvPr id="41" name="MTxt2"/>
          <p:cNvSpPr/>
          <p:nvPr/>
        </p:nvSpPr>
        <p:spPr>
          <a:xfrm>
            <a:off x="654129" y="4093978"/>
            <a:ext cx="1824818" cy="772265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/>
          <a:lstStyle/>
          <a:p>
            <a:pPr algn="l">
              <a:buNone/>
            </a:pPr>
            <a:r>
              <a:rPr lang="it-IT" sz="120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Concentra ≈0.95 su X₁. X₂ scende a ≈0.35. Tutto il resto vicino a zero. ✓</a:t>
            </a: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0BB09AE0-75C6-4D2C-AB45-106997B415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1493" y="1190827"/>
            <a:ext cx="5090334" cy="385760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Logo"/>
          <p:cNvPicPr>
            <a:picLocks noChangeAspect="1"/>
          </p:cNvPicPr>
          <p:nvPr/>
        </p:nvPicPr>
        <p:blipFill>
          <a:blip r:embed="rId2"/>
          <a:srcRect l="-1348" t="25421" r="-1064" b="-929"/>
          <a:stretch>
            <a:fillRect/>
          </a:stretch>
        </p:blipFill>
        <p:spPr>
          <a:xfrm>
            <a:off x="181758" y="2826"/>
            <a:ext cx="800187" cy="670190"/>
          </a:xfrm>
          <a:prstGeom prst="rect">
            <a:avLst/>
          </a:prstGeom>
        </p:spPr>
      </p:pic>
      <p:sp>
        <p:nvSpPr>
          <p:cNvPr id="91" name="Sep"/>
          <p:cNvSpPr/>
          <p:nvPr/>
        </p:nvSpPr>
        <p:spPr>
          <a:xfrm>
            <a:off x="182000" y="700000"/>
            <a:ext cx="8780000" cy="22000"/>
          </a:xfrm>
          <a:prstGeom prst="rect">
            <a:avLst/>
          </a:prstGeom>
          <a:solidFill>
            <a:srgbClr val="00418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92" name="Title"/>
          <p:cNvSpPr/>
          <p:nvPr/>
        </p:nvSpPr>
        <p:spPr>
          <a:xfrm>
            <a:off x="1060000" y="90000"/>
            <a:ext cx="7940000" cy="5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2800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Esp. 4 — Stability Selection con LASSO</a:t>
            </a:r>
          </a:p>
        </p:txBody>
      </p:sp>
      <p:sp>
        <p:nvSpPr>
          <p:cNvPr id="10" name="SetBg"/>
          <p:cNvSpPr/>
          <p:nvPr/>
        </p:nvSpPr>
        <p:spPr>
          <a:xfrm>
            <a:off x="182000" y="810000"/>
            <a:ext cx="8780000" cy="300000"/>
          </a:xfrm>
          <a:prstGeom prst="rect">
            <a:avLst/>
          </a:prstGeom>
          <a:solidFill>
            <a:srgbClr val="EBF0F7"/>
          </a:solidFill>
          <a:ln w="9525">
            <a:solidFill>
              <a:srgbClr val="90A4AE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11" name="SetTxt"/>
          <p:cNvSpPr/>
          <p:nvPr/>
        </p:nvSpPr>
        <p:spPr>
          <a:xfrm>
            <a:off x="242000" y="810000"/>
            <a:ext cx="866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200" dirty="0">
                <a:solidFill>
                  <a:srgbClr val="546E7A"/>
                </a:solidFill>
                <a:latin typeface="Calibri"/>
                <a:ea typeface="Calibri"/>
                <a:cs typeface="Calibri"/>
              </a:rPr>
              <a:t>Stessi dati AR(1)  ·  B=100 sotto-campioni  ·  πₜℎᵣ=0.75  ·  PFER=1 (Shah &amp; Samworth, 2013)</a:t>
            </a:r>
          </a:p>
        </p:txBody>
      </p:sp>
      <p:sp>
        <p:nvSpPr>
          <p:cNvPr id="30" name="Stat30"/>
          <p:cNvSpPr/>
          <p:nvPr/>
        </p:nvSpPr>
        <p:spPr>
          <a:xfrm>
            <a:off x="5702000" y="1170000"/>
            <a:ext cx="3260000" cy="186675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31" name="StatNum30"/>
          <p:cNvSpPr/>
          <p:nvPr/>
        </p:nvSpPr>
        <p:spPr>
          <a:xfrm>
            <a:off x="5702000" y="1170000"/>
            <a:ext cx="3260000" cy="1082715"/>
          </a:xfrm>
          <a:prstGeom prst="rect">
            <a:avLst/>
          </a:prstGeom>
          <a:noFill/>
          <a:ln>
            <a:noFill/>
          </a:ln>
        </p:spPr>
        <p:txBody>
          <a:bodyPr wrap="square" lIns="60960" tIns="45720" rIns="60960" bIns="0" rtlCol="0" anchor="b"/>
          <a:lstStyle/>
          <a:p>
            <a:pPr algn="l">
              <a:buNone/>
            </a:pPr>
            <a:r>
              <a:rPr lang="it-IT" sz="54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97%</a:t>
            </a:r>
          </a:p>
        </p:txBody>
      </p:sp>
      <p:sp>
        <p:nvSpPr>
          <p:cNvPr id="32" name="StatLbl30"/>
          <p:cNvSpPr/>
          <p:nvPr/>
        </p:nvSpPr>
        <p:spPr>
          <a:xfrm>
            <a:off x="5702000" y="2252715"/>
            <a:ext cx="3260000" cy="784035"/>
          </a:xfrm>
          <a:prstGeom prst="rect">
            <a:avLst/>
          </a:prstGeom>
          <a:noFill/>
          <a:ln>
            <a:noFill/>
          </a:ln>
        </p:spPr>
        <p:txBody>
          <a:bodyPr wrap="square" lIns="60960" tIns="45720" rIns="60960" bIns="45720" rtlCol="0" anchor="t"/>
          <a:lstStyle/>
          <a:p>
            <a:pPr algn="l">
              <a:buNone/>
            </a:pPr>
            <a:r>
              <a:rPr lang="it-IT" sz="120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prob. selezione di X₁
(la variabile causale)</a:t>
            </a:r>
          </a:p>
        </p:txBody>
      </p:sp>
      <p:sp>
        <p:nvSpPr>
          <p:cNvPr id="35" name="Stat35"/>
          <p:cNvSpPr/>
          <p:nvPr/>
        </p:nvSpPr>
        <p:spPr>
          <a:xfrm>
            <a:off x="5702000" y="3116750"/>
            <a:ext cx="3260000" cy="186675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36" name="StatNum35"/>
          <p:cNvSpPr/>
          <p:nvPr/>
        </p:nvSpPr>
        <p:spPr>
          <a:xfrm>
            <a:off x="5702000" y="3116750"/>
            <a:ext cx="3260000" cy="1082715"/>
          </a:xfrm>
          <a:prstGeom prst="rect">
            <a:avLst/>
          </a:prstGeom>
          <a:noFill/>
          <a:ln>
            <a:noFill/>
          </a:ln>
        </p:spPr>
        <p:txBody>
          <a:bodyPr wrap="square" lIns="60960" tIns="45720" rIns="60960" bIns="0" rtlCol="0" anchor="b"/>
          <a:lstStyle/>
          <a:p>
            <a:pPr algn="l">
              <a:buNone/>
            </a:pPr>
            <a:r>
              <a:rPr lang="it-IT" sz="36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&lt; 35%</a:t>
            </a:r>
          </a:p>
        </p:txBody>
      </p:sp>
      <p:sp>
        <p:nvSpPr>
          <p:cNvPr id="37" name="StatLbl35"/>
          <p:cNvSpPr/>
          <p:nvPr/>
        </p:nvSpPr>
        <p:spPr>
          <a:xfrm>
            <a:off x="5702000" y="4199465"/>
            <a:ext cx="3260000" cy="784035"/>
          </a:xfrm>
          <a:prstGeom prst="rect">
            <a:avLst/>
          </a:prstGeom>
          <a:noFill/>
          <a:ln>
            <a:noFill/>
          </a:ln>
        </p:spPr>
        <p:txBody>
          <a:bodyPr wrap="square" lIns="60960" tIns="45720" rIns="60960" bIns="45720" rtlCol="0" anchor="t"/>
          <a:lstStyle/>
          <a:p>
            <a:pPr algn="l">
              <a:buNone/>
            </a:pPr>
            <a:r>
              <a:rPr lang="it-IT" sz="120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tutte le variabili non causali</a:t>
            </a: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EF3FB708-1415-0093-E52E-7178F4317A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173141"/>
            <a:ext cx="5627657" cy="212496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Logo"/>
          <p:cNvPicPr>
            <a:picLocks noChangeAspect="1"/>
          </p:cNvPicPr>
          <p:nvPr/>
        </p:nvPicPr>
        <p:blipFill>
          <a:blip r:embed="rId2"/>
          <a:srcRect l="-1348" t="25421" r="-1064" b="-929"/>
          <a:stretch>
            <a:fillRect/>
          </a:stretch>
        </p:blipFill>
        <p:spPr>
          <a:xfrm>
            <a:off x="181758" y="2826"/>
            <a:ext cx="800187" cy="670190"/>
          </a:xfrm>
          <a:prstGeom prst="rect">
            <a:avLst/>
          </a:prstGeom>
        </p:spPr>
      </p:pic>
      <p:sp>
        <p:nvSpPr>
          <p:cNvPr id="91" name="Sep"/>
          <p:cNvSpPr/>
          <p:nvPr/>
        </p:nvSpPr>
        <p:spPr>
          <a:xfrm>
            <a:off x="182000" y="700000"/>
            <a:ext cx="8780000" cy="22000"/>
          </a:xfrm>
          <a:prstGeom prst="rect">
            <a:avLst/>
          </a:prstGeom>
          <a:solidFill>
            <a:srgbClr val="00418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92" name="Title"/>
          <p:cNvSpPr/>
          <p:nvPr/>
        </p:nvSpPr>
        <p:spPr>
          <a:xfrm>
            <a:off x="1060000" y="90000"/>
            <a:ext cx="7940000" cy="5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2800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Esp. 5 — Precision e Recall su 40 run indipendenti</a:t>
            </a:r>
          </a:p>
        </p:txBody>
      </p:sp>
      <p:sp>
        <p:nvSpPr>
          <p:cNvPr id="10" name="SetBg"/>
          <p:cNvSpPr/>
          <p:nvPr/>
        </p:nvSpPr>
        <p:spPr>
          <a:xfrm>
            <a:off x="182000" y="810000"/>
            <a:ext cx="8780000" cy="300000"/>
          </a:xfrm>
          <a:prstGeom prst="rect">
            <a:avLst/>
          </a:prstGeom>
          <a:solidFill>
            <a:srgbClr val="EBF0F7"/>
          </a:solidFill>
          <a:ln w="9525">
            <a:solidFill>
              <a:srgbClr val="90A4AE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11" name="SetTxt"/>
          <p:cNvSpPr/>
          <p:nvPr/>
        </p:nvSpPr>
        <p:spPr>
          <a:xfrm>
            <a:off x="242000" y="810000"/>
            <a:ext cx="866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200" dirty="0">
                <a:solidFill>
                  <a:srgbClr val="546E7A"/>
                </a:solidFill>
                <a:latin typeface="Calibri"/>
                <a:ea typeface="Calibri"/>
                <a:cs typeface="Calibri"/>
              </a:rPr>
              <a:t>p=30 predittori, 3 causali  ·  ρᵢⁿₜᵣₐ=0.80, ρᵢⁿₜᵉᵣ=0.30  ·  β=1  ·  n=100</a:t>
            </a:r>
          </a:p>
        </p:txBody>
      </p:sp>
      <p:sp>
        <p:nvSpPr>
          <p:cNvPr id="30" name="M1Bg"/>
          <p:cNvSpPr/>
          <p:nvPr/>
        </p:nvSpPr>
        <p:spPr>
          <a:xfrm>
            <a:off x="242000" y="1674518"/>
            <a:ext cx="3738451" cy="1249000"/>
          </a:xfrm>
          <a:prstGeom prst="rect">
            <a:avLst/>
          </a:prstGeom>
          <a:solidFill>
            <a:srgbClr val="F7FAFD"/>
          </a:solidFill>
          <a:ln w="12700">
            <a:solidFill>
              <a:srgbClr val="C62828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31" name="M1Bar"/>
          <p:cNvSpPr/>
          <p:nvPr/>
        </p:nvSpPr>
        <p:spPr>
          <a:xfrm>
            <a:off x="242000" y="1674517"/>
            <a:ext cx="3738451" cy="45719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32" name="M1Hdr"/>
          <p:cNvSpPr/>
          <p:nvPr/>
        </p:nvSpPr>
        <p:spPr>
          <a:xfrm>
            <a:off x="282000" y="1714518"/>
            <a:ext cx="3669698" cy="309501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/>
          <a:lstStyle/>
          <a:p>
            <a:pPr algn="l">
              <a:buNone/>
            </a:pPr>
            <a:r>
              <a:rPr lang="it-IT" sz="1500" b="1" dirty="0">
                <a:solidFill>
                  <a:srgbClr val="C62828"/>
                </a:solidFill>
                <a:latin typeface="Calibri"/>
                <a:ea typeface="Calibri"/>
                <a:cs typeface="Calibri"/>
              </a:rPr>
              <a:t>MDI — SD = 0</a:t>
            </a:r>
          </a:p>
        </p:txBody>
      </p:sp>
      <p:sp>
        <p:nvSpPr>
          <p:cNvPr id="33" name="M1Txt"/>
          <p:cNvSpPr/>
          <p:nvPr/>
        </p:nvSpPr>
        <p:spPr>
          <a:xfrm>
            <a:off x="282000" y="2114518"/>
            <a:ext cx="3669698" cy="86619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/>
          <a:lstStyle/>
          <a:p>
            <a:pPr algn="l">
              <a:buNone/>
            </a:pPr>
            <a:r>
              <a:rPr lang="it-IT" sz="120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Non è instabile: è sistematicamente bloccata sulla selezione sbagliata.</a:t>
            </a:r>
          </a:p>
          <a:p>
            <a:pPr algn="l">
              <a:buNone/>
            </a:pPr>
            <a:r>
              <a:rPr lang="it-IT" sz="1200" b="1" dirty="0">
                <a:solidFill>
                  <a:srgbClr val="C62828"/>
                </a:solidFill>
                <a:latin typeface="Calibri"/>
                <a:ea typeface="Calibri"/>
                <a:cs typeface="Calibri"/>
              </a:rPr>
              <a:t>Bias sistematico, non casuale.</a:t>
            </a:r>
          </a:p>
        </p:txBody>
      </p:sp>
      <p:sp>
        <p:nvSpPr>
          <p:cNvPr id="40" name="M2Bg"/>
          <p:cNvSpPr/>
          <p:nvPr/>
        </p:nvSpPr>
        <p:spPr>
          <a:xfrm>
            <a:off x="182000" y="3377547"/>
            <a:ext cx="3738451" cy="1249000"/>
          </a:xfrm>
          <a:prstGeom prst="rect">
            <a:avLst/>
          </a:prstGeom>
          <a:solidFill>
            <a:srgbClr val="F7FAFD"/>
          </a:solidFill>
          <a:ln w="12700">
            <a:solidFill>
              <a:srgbClr val="2A9D8F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41" name="M2Bar"/>
          <p:cNvSpPr/>
          <p:nvPr/>
        </p:nvSpPr>
        <p:spPr>
          <a:xfrm>
            <a:off x="182000" y="3377546"/>
            <a:ext cx="3738451" cy="45719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42" name="M2Hdr"/>
          <p:cNvSpPr/>
          <p:nvPr/>
        </p:nvSpPr>
        <p:spPr>
          <a:xfrm>
            <a:off x="222000" y="3417547"/>
            <a:ext cx="3669698" cy="309501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/>
          <a:lstStyle/>
          <a:p>
            <a:pPr algn="l">
              <a:buNone/>
            </a:pPr>
            <a:r>
              <a:rPr lang="it-IT" sz="1500" b="1" dirty="0">
                <a:solidFill>
                  <a:srgbClr val="2A9D8F"/>
                </a:solidFill>
                <a:latin typeface="Calibri"/>
                <a:ea typeface="Calibri"/>
                <a:cs typeface="Calibri"/>
              </a:rPr>
              <a:t>Permutation — mediana ~75%</a:t>
            </a:r>
          </a:p>
        </p:txBody>
      </p:sp>
      <p:sp>
        <p:nvSpPr>
          <p:cNvPr id="43" name="M2Txt"/>
          <p:cNvSpPr/>
          <p:nvPr/>
        </p:nvSpPr>
        <p:spPr>
          <a:xfrm>
            <a:off x="222000" y="3817547"/>
            <a:ext cx="3669698" cy="86619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/>
          <a:lstStyle/>
          <a:p>
            <a:pPr algn="l">
              <a:buNone/>
            </a:pPr>
            <a:r>
              <a:rPr lang="it-IT" sz="120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Meno distorta: in molti run trova tutte e 3 le causali (100%).</a:t>
            </a:r>
          </a:p>
          <a:p>
            <a:pPr algn="l">
              <a:buNone/>
            </a:pPr>
            <a:r>
              <a:rPr lang="it-IT" sz="120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Con variabilità residua (SD=0.146).</a:t>
            </a: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F67D5439-7D5F-E038-7ED1-CB69EAEB7A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75687" y="2024019"/>
            <a:ext cx="5068313" cy="228602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Logo"/>
          <p:cNvPicPr>
            <a:picLocks noChangeAspect="1"/>
          </p:cNvPicPr>
          <p:nvPr/>
        </p:nvPicPr>
        <p:blipFill>
          <a:blip r:embed="rId2"/>
          <a:srcRect l="-1348" t="25421" r="-1064" b="-929"/>
          <a:stretch>
            <a:fillRect/>
          </a:stretch>
        </p:blipFill>
        <p:spPr>
          <a:xfrm>
            <a:off x="181758" y="2826"/>
            <a:ext cx="800187" cy="670190"/>
          </a:xfrm>
          <a:prstGeom prst="rect">
            <a:avLst/>
          </a:prstGeom>
        </p:spPr>
      </p:pic>
      <p:sp>
        <p:nvSpPr>
          <p:cNvPr id="91" name="Sep"/>
          <p:cNvSpPr/>
          <p:nvPr/>
        </p:nvSpPr>
        <p:spPr>
          <a:xfrm>
            <a:off x="182000" y="700000"/>
            <a:ext cx="8780000" cy="22000"/>
          </a:xfrm>
          <a:prstGeom prst="rect">
            <a:avLst/>
          </a:prstGeom>
          <a:solidFill>
            <a:srgbClr val="00418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92" name="Title"/>
          <p:cNvSpPr/>
          <p:nvPr/>
        </p:nvSpPr>
        <p:spPr>
          <a:xfrm>
            <a:off x="1060000" y="90000"/>
            <a:ext cx="7940000" cy="5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2800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Esp. 7 — Effetto del rapporto n/p sulla selezione</a:t>
            </a:r>
          </a:p>
        </p:txBody>
      </p:sp>
      <p:sp>
        <p:nvSpPr>
          <p:cNvPr id="10" name="SetBg"/>
          <p:cNvSpPr/>
          <p:nvPr/>
        </p:nvSpPr>
        <p:spPr>
          <a:xfrm>
            <a:off x="182000" y="810000"/>
            <a:ext cx="8780000" cy="300000"/>
          </a:xfrm>
          <a:prstGeom prst="rect">
            <a:avLst/>
          </a:prstGeom>
          <a:solidFill>
            <a:srgbClr val="EBF0F7"/>
          </a:solidFill>
          <a:ln w="9525">
            <a:solidFill>
              <a:srgbClr val="90A4AE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11" name="SetTxt"/>
          <p:cNvSpPr/>
          <p:nvPr/>
        </p:nvSpPr>
        <p:spPr>
          <a:xfrm>
            <a:off x="242000" y="810000"/>
            <a:ext cx="866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200" dirty="0">
                <a:solidFill>
                  <a:srgbClr val="546E7A"/>
                </a:solidFill>
                <a:latin typeface="Calibri"/>
                <a:ea typeface="Calibri"/>
                <a:cs typeface="Calibri"/>
              </a:rPr>
              <a:t>p=15  ·  AR(1) ρ=0.70  ·  3 causali  ·  β=2  ·  n da 50 a 1500  ·  50 run ciascuno</a:t>
            </a:r>
          </a:p>
        </p:txBody>
      </p:sp>
      <p:sp>
        <p:nvSpPr>
          <p:cNvPr id="30" name="Stat30"/>
          <p:cNvSpPr/>
          <p:nvPr/>
        </p:nvSpPr>
        <p:spPr>
          <a:xfrm>
            <a:off x="5702000" y="1170000"/>
            <a:ext cx="3260000" cy="1217833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31" name="StatNum30"/>
          <p:cNvSpPr/>
          <p:nvPr/>
        </p:nvSpPr>
        <p:spPr>
          <a:xfrm>
            <a:off x="5702000" y="1170000"/>
            <a:ext cx="3260000" cy="706343"/>
          </a:xfrm>
          <a:prstGeom prst="rect">
            <a:avLst/>
          </a:prstGeom>
          <a:noFill/>
          <a:ln>
            <a:noFill/>
          </a:ln>
        </p:spPr>
        <p:txBody>
          <a:bodyPr wrap="square" lIns="60960" tIns="45720" rIns="60960" bIns="0" rtlCol="0" anchor="b"/>
          <a:lstStyle/>
          <a:p>
            <a:pPr algn="l">
              <a:buNone/>
            </a:pPr>
            <a:r>
              <a:rPr lang="it-IT" sz="32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 pp</a:t>
            </a:r>
          </a:p>
        </p:txBody>
      </p:sp>
      <p:sp>
        <p:nvSpPr>
          <p:cNvPr id="32" name="StatLbl30"/>
          <p:cNvSpPr/>
          <p:nvPr/>
        </p:nvSpPr>
        <p:spPr>
          <a:xfrm>
            <a:off x="5702000" y="1876343"/>
            <a:ext cx="3260000" cy="511489"/>
          </a:xfrm>
          <a:prstGeom prst="rect">
            <a:avLst/>
          </a:prstGeom>
          <a:noFill/>
          <a:ln>
            <a:noFill/>
          </a:ln>
        </p:spPr>
        <p:txBody>
          <a:bodyPr wrap="square" lIns="60960" tIns="45720" rIns="60960" bIns="45720" rtlCol="0" anchor="t"/>
          <a:lstStyle/>
          <a:p>
            <a:pPr algn="l">
              <a:buNone/>
            </a:pPr>
            <a:r>
              <a:rPr lang="it-IT" sz="120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divario a n=50
(MDI ~63%, Perm ~80%)</a:t>
            </a:r>
          </a:p>
        </p:txBody>
      </p:sp>
      <p:sp>
        <p:nvSpPr>
          <p:cNvPr id="35" name="Stat35"/>
          <p:cNvSpPr/>
          <p:nvPr/>
        </p:nvSpPr>
        <p:spPr>
          <a:xfrm>
            <a:off x="5702000" y="2467833"/>
            <a:ext cx="3260000" cy="1217833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36" name="StatNum35"/>
          <p:cNvSpPr/>
          <p:nvPr/>
        </p:nvSpPr>
        <p:spPr>
          <a:xfrm>
            <a:off x="5702000" y="2467833"/>
            <a:ext cx="3260000" cy="706343"/>
          </a:xfrm>
          <a:prstGeom prst="rect">
            <a:avLst/>
          </a:prstGeom>
          <a:noFill/>
          <a:ln>
            <a:noFill/>
          </a:ln>
        </p:spPr>
        <p:txBody>
          <a:bodyPr wrap="square" lIns="60960" tIns="45720" rIns="60960" bIns="0" rtlCol="0" anchor="b"/>
          <a:lstStyle/>
          <a:p>
            <a:pPr algn="l">
              <a:buNone/>
            </a:pPr>
            <a:r>
              <a:rPr lang="it-IT" sz="32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n=100</a:t>
            </a:r>
          </a:p>
        </p:txBody>
      </p:sp>
      <p:sp>
        <p:nvSpPr>
          <p:cNvPr id="37" name="StatLbl35"/>
          <p:cNvSpPr/>
          <p:nvPr/>
        </p:nvSpPr>
        <p:spPr>
          <a:xfrm>
            <a:off x="5702000" y="3174176"/>
            <a:ext cx="3260000" cy="511489"/>
          </a:xfrm>
          <a:prstGeom prst="rect">
            <a:avLst/>
          </a:prstGeom>
          <a:noFill/>
          <a:ln>
            <a:noFill/>
          </a:ln>
        </p:spPr>
        <p:txBody>
          <a:bodyPr wrap="square" lIns="60960" tIns="45720" rIns="60960" bIns="45720" rtlCol="0" anchor="t"/>
          <a:lstStyle/>
          <a:p>
            <a:pPr algn="l">
              <a:buNone/>
            </a:pPr>
            <a:r>
              <a:rPr lang="it-IT" sz="120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Permutation già
al 100% di precision</a:t>
            </a:r>
          </a:p>
        </p:txBody>
      </p:sp>
      <p:sp>
        <p:nvSpPr>
          <p:cNvPr id="40" name="Stat40"/>
          <p:cNvSpPr/>
          <p:nvPr/>
        </p:nvSpPr>
        <p:spPr>
          <a:xfrm>
            <a:off x="5702000" y="3765666"/>
            <a:ext cx="3260000" cy="1217833"/>
          </a:xfrm>
          <a:prstGeom prst="rect">
            <a:avLst/>
          </a:prstGeom>
          <a:solidFill>
            <a:srgbClr val="1B3D7D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41" name="StatNum40"/>
          <p:cNvSpPr/>
          <p:nvPr/>
        </p:nvSpPr>
        <p:spPr>
          <a:xfrm>
            <a:off x="5702000" y="3765666"/>
            <a:ext cx="3260000" cy="706343"/>
          </a:xfrm>
          <a:prstGeom prst="rect">
            <a:avLst/>
          </a:prstGeom>
          <a:noFill/>
          <a:ln>
            <a:noFill/>
          </a:ln>
        </p:spPr>
        <p:txBody>
          <a:bodyPr wrap="square" lIns="60960" tIns="45720" rIns="60960" bIns="0" rtlCol="0" anchor="b"/>
          <a:lstStyle/>
          <a:p>
            <a:pPr algn="l">
              <a:buNone/>
            </a:pPr>
            <a:r>
              <a:rPr lang="it-IT" sz="32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n=200</a:t>
            </a:r>
          </a:p>
        </p:txBody>
      </p:sp>
      <p:sp>
        <p:nvSpPr>
          <p:cNvPr id="42" name="StatLbl40"/>
          <p:cNvSpPr/>
          <p:nvPr/>
        </p:nvSpPr>
        <p:spPr>
          <a:xfrm>
            <a:off x="5702000" y="4472009"/>
            <a:ext cx="3260000" cy="511489"/>
          </a:xfrm>
          <a:prstGeom prst="rect">
            <a:avLst/>
          </a:prstGeom>
          <a:noFill/>
          <a:ln>
            <a:noFill/>
          </a:ln>
        </p:spPr>
        <p:txBody>
          <a:bodyPr wrap="square" lIns="60960" tIns="45720" rIns="60960" bIns="45720" rtlCol="0" anchor="t"/>
          <a:lstStyle/>
          <a:p>
            <a:pPr algn="l">
              <a:buNone/>
            </a:pPr>
            <a:r>
              <a:rPr lang="it-IT" sz="120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MDI raggiunge
stabilità</a:t>
            </a: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A3C571A2-7CCF-F4B5-EEEC-2B692FDA55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925429"/>
            <a:ext cx="5678823" cy="2497493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Logo"/>
          <p:cNvPicPr>
            <a:picLocks noChangeAspect="1"/>
          </p:cNvPicPr>
          <p:nvPr/>
        </p:nvPicPr>
        <p:blipFill>
          <a:blip r:embed="rId2"/>
          <a:srcRect l="-1348" t="25421" r="-1064" b="-929"/>
          <a:stretch>
            <a:fillRect/>
          </a:stretch>
        </p:blipFill>
        <p:spPr>
          <a:xfrm>
            <a:off x="181758" y="2826"/>
            <a:ext cx="800187" cy="670190"/>
          </a:xfrm>
          <a:prstGeom prst="rect">
            <a:avLst/>
          </a:prstGeom>
        </p:spPr>
      </p:pic>
      <p:sp>
        <p:nvSpPr>
          <p:cNvPr id="91" name="Sep"/>
          <p:cNvSpPr/>
          <p:nvPr/>
        </p:nvSpPr>
        <p:spPr>
          <a:xfrm>
            <a:off x="182000" y="700000"/>
            <a:ext cx="8780000" cy="22000"/>
          </a:xfrm>
          <a:prstGeom prst="rect">
            <a:avLst/>
          </a:prstGeom>
          <a:solidFill>
            <a:srgbClr val="00418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92" name="Title"/>
          <p:cNvSpPr/>
          <p:nvPr/>
        </p:nvSpPr>
        <p:spPr>
          <a:xfrm>
            <a:off x="1060000" y="90000"/>
            <a:ext cx="7940000" cy="5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2800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Riepilogo e confronto sintetico</a:t>
            </a:r>
          </a:p>
        </p:txBody>
      </p:sp>
      <p:sp>
        <p:nvSpPr>
          <p:cNvPr id="10" name="THdr0"/>
          <p:cNvSpPr/>
          <p:nvPr/>
        </p:nvSpPr>
        <p:spPr>
          <a:xfrm>
            <a:off x="182000" y="800000"/>
            <a:ext cx="2600000" cy="560000"/>
          </a:xfrm>
          <a:prstGeom prst="rect">
            <a:avLst/>
          </a:prstGeom>
          <a:solidFill>
            <a:srgbClr val="1B3D7D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11" name="THdrTxt0"/>
          <p:cNvSpPr/>
          <p:nvPr/>
        </p:nvSpPr>
        <p:spPr>
          <a:xfrm>
            <a:off x="182000" y="800000"/>
            <a:ext cx="260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2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Metodo</a:t>
            </a:r>
          </a:p>
        </p:txBody>
      </p:sp>
      <p:sp>
        <p:nvSpPr>
          <p:cNvPr id="11" name="THdr1"/>
          <p:cNvSpPr/>
          <p:nvPr/>
        </p:nvSpPr>
        <p:spPr>
          <a:xfrm>
            <a:off x="2782000" y="800000"/>
            <a:ext cx="1320000" cy="560000"/>
          </a:xfrm>
          <a:prstGeom prst="rect">
            <a:avLst/>
          </a:prstGeom>
          <a:solidFill>
            <a:srgbClr val="1B3D7D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13" name="THdrTxt1"/>
          <p:cNvSpPr/>
          <p:nvPr/>
        </p:nvSpPr>
        <p:spPr>
          <a:xfrm>
            <a:off x="2782000" y="800000"/>
            <a:ext cx="132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2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Bias
cardinalità</a:t>
            </a:r>
          </a:p>
        </p:txBody>
      </p:sp>
      <p:sp>
        <p:nvSpPr>
          <p:cNvPr id="12" name="THdr2"/>
          <p:cNvSpPr/>
          <p:nvPr/>
        </p:nvSpPr>
        <p:spPr>
          <a:xfrm>
            <a:off x="4102000" y="800000"/>
            <a:ext cx="1320000" cy="560000"/>
          </a:xfrm>
          <a:prstGeom prst="rect">
            <a:avLst/>
          </a:prstGeom>
          <a:solidFill>
            <a:srgbClr val="1B3D7D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15" name="THdrTxt2"/>
          <p:cNvSpPr/>
          <p:nvPr/>
        </p:nvSpPr>
        <p:spPr>
          <a:xfrm>
            <a:off x="4102000" y="800000"/>
            <a:ext cx="132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2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Instab.
correlaz.</a:t>
            </a:r>
          </a:p>
        </p:txBody>
      </p:sp>
      <p:sp>
        <p:nvSpPr>
          <p:cNvPr id="13" name="THdr3"/>
          <p:cNvSpPr/>
          <p:nvPr/>
        </p:nvSpPr>
        <p:spPr>
          <a:xfrm>
            <a:off x="5422000" y="800000"/>
            <a:ext cx="1320000" cy="560000"/>
          </a:xfrm>
          <a:prstGeom prst="rect">
            <a:avLst/>
          </a:prstGeom>
          <a:solidFill>
            <a:srgbClr val="1B3D7D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17" name="THdrTxt3"/>
          <p:cNvSpPr/>
          <p:nvPr/>
        </p:nvSpPr>
        <p:spPr>
          <a:xfrm>
            <a:off x="5422000" y="800000"/>
            <a:ext cx="132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2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X₁
identificata</a:t>
            </a:r>
          </a:p>
        </p:txBody>
      </p:sp>
      <p:sp>
        <p:nvSpPr>
          <p:cNvPr id="14" name="THdr4"/>
          <p:cNvSpPr/>
          <p:nvPr/>
        </p:nvSpPr>
        <p:spPr>
          <a:xfrm>
            <a:off x="6742000" y="800000"/>
            <a:ext cx="900000" cy="560000"/>
          </a:xfrm>
          <a:prstGeom prst="rect">
            <a:avLst/>
          </a:prstGeom>
          <a:solidFill>
            <a:srgbClr val="1B3D7D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19" name="THdrTxt4"/>
          <p:cNvSpPr/>
          <p:nvPr/>
        </p:nvSpPr>
        <p:spPr>
          <a:xfrm>
            <a:off x="6742000" y="800000"/>
            <a:ext cx="90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2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Garanzia
FP</a:t>
            </a:r>
          </a:p>
        </p:txBody>
      </p:sp>
      <p:sp>
        <p:nvSpPr>
          <p:cNvPr id="15" name="THdr5"/>
          <p:cNvSpPr/>
          <p:nvPr/>
        </p:nvSpPr>
        <p:spPr>
          <a:xfrm>
            <a:off x="7642000" y="800000"/>
            <a:ext cx="900000" cy="560000"/>
          </a:xfrm>
          <a:prstGeom prst="rect">
            <a:avLst/>
          </a:prstGeom>
          <a:solidFill>
            <a:srgbClr val="1B3D7D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21" name="THdrTxt5"/>
          <p:cNvSpPr/>
          <p:nvPr/>
        </p:nvSpPr>
        <p:spPr>
          <a:xfrm>
            <a:off x="7642000" y="800000"/>
            <a:ext cx="90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2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Costo</a:t>
            </a:r>
          </a:p>
        </p:txBody>
      </p:sp>
      <p:sp>
        <p:nvSpPr>
          <p:cNvPr id="200" name="TD00"/>
          <p:cNvSpPr/>
          <p:nvPr/>
        </p:nvSpPr>
        <p:spPr>
          <a:xfrm>
            <a:off x="182000" y="1360000"/>
            <a:ext cx="2600000" cy="480000"/>
          </a:xfrm>
          <a:prstGeom prst="rect">
            <a:avLst/>
          </a:prstGeom>
          <a:solidFill>
            <a:srgbClr val="EBF0F7"/>
          </a:solidFill>
          <a:ln w="6350">
            <a:solidFill>
              <a:srgbClr val="90A4AE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201" name="TInd0"/>
          <p:cNvSpPr/>
          <p:nvPr/>
        </p:nvSpPr>
        <p:spPr>
          <a:xfrm>
            <a:off x="182000" y="1360000"/>
            <a:ext cx="18000" cy="480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202" name="TDTxt00"/>
          <p:cNvSpPr/>
          <p:nvPr/>
        </p:nvSpPr>
        <p:spPr>
          <a:xfrm>
            <a:off x="222000" y="1360000"/>
            <a:ext cx="256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10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MDI (randomForest)</a:t>
            </a:r>
          </a:p>
        </p:txBody>
      </p:sp>
      <p:sp>
        <p:nvSpPr>
          <p:cNvPr id="2" name="TD01"/>
          <p:cNvSpPr/>
          <p:nvPr/>
        </p:nvSpPr>
        <p:spPr>
          <a:xfrm>
            <a:off x="2782000" y="1360000"/>
            <a:ext cx="1320000" cy="480000"/>
          </a:xfrm>
          <a:prstGeom prst="rect">
            <a:avLst/>
          </a:prstGeom>
          <a:solidFill>
            <a:srgbClr val="EBF0F7"/>
          </a:solidFill>
          <a:ln w="6350">
            <a:solidFill>
              <a:srgbClr val="90A4AE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203" name="TDTxt01"/>
          <p:cNvSpPr/>
          <p:nvPr/>
        </p:nvSpPr>
        <p:spPr>
          <a:xfrm>
            <a:off x="2782000" y="1360000"/>
            <a:ext cx="132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100" b="1" dirty="0">
                <a:solidFill>
                  <a:srgbClr val="C62828"/>
                </a:solidFill>
                <a:latin typeface="Calibri"/>
                <a:ea typeface="Calibri"/>
                <a:cs typeface="Calibri"/>
              </a:rPr>
              <a:t>Sì</a:t>
            </a:r>
          </a:p>
        </p:txBody>
      </p:sp>
      <p:sp>
        <p:nvSpPr>
          <p:cNvPr id="3" name="TD02"/>
          <p:cNvSpPr/>
          <p:nvPr/>
        </p:nvSpPr>
        <p:spPr>
          <a:xfrm>
            <a:off x="4102000" y="1360000"/>
            <a:ext cx="1320000" cy="480000"/>
          </a:xfrm>
          <a:prstGeom prst="rect">
            <a:avLst/>
          </a:prstGeom>
          <a:solidFill>
            <a:srgbClr val="EBF0F7"/>
          </a:solidFill>
          <a:ln w="6350">
            <a:solidFill>
              <a:srgbClr val="90A4AE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204" name="TDTxt02"/>
          <p:cNvSpPr/>
          <p:nvPr/>
        </p:nvSpPr>
        <p:spPr>
          <a:xfrm>
            <a:off x="4102000" y="1360000"/>
            <a:ext cx="132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100" b="1" dirty="0">
                <a:solidFill>
                  <a:srgbClr val="C62828"/>
                </a:solidFill>
                <a:latin typeface="Calibri"/>
                <a:ea typeface="Calibri"/>
                <a:cs typeface="Calibri"/>
              </a:rPr>
              <a:t>Sì</a:t>
            </a:r>
          </a:p>
        </p:txBody>
      </p:sp>
      <p:sp>
        <p:nvSpPr>
          <p:cNvPr id="4" name="TD03"/>
          <p:cNvSpPr/>
          <p:nvPr/>
        </p:nvSpPr>
        <p:spPr>
          <a:xfrm>
            <a:off x="5422000" y="1360000"/>
            <a:ext cx="1320000" cy="480000"/>
          </a:xfrm>
          <a:prstGeom prst="rect">
            <a:avLst/>
          </a:prstGeom>
          <a:solidFill>
            <a:srgbClr val="EBF0F7"/>
          </a:solidFill>
          <a:ln w="6350">
            <a:solidFill>
              <a:srgbClr val="90A4AE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205" name="TDTxt03"/>
          <p:cNvSpPr/>
          <p:nvPr/>
        </p:nvSpPr>
        <p:spPr>
          <a:xfrm>
            <a:off x="5422000" y="1360000"/>
            <a:ext cx="132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100" b="1" dirty="0">
                <a:solidFill>
                  <a:srgbClr val="C62828"/>
                </a:solidFill>
                <a:latin typeface="Calibri"/>
                <a:ea typeface="Calibri"/>
                <a:cs typeface="Calibri"/>
              </a:rPr>
              <a:t>Sì (instabile)</a:t>
            </a:r>
          </a:p>
        </p:txBody>
      </p:sp>
      <p:sp>
        <p:nvSpPr>
          <p:cNvPr id="5" name="TD04"/>
          <p:cNvSpPr/>
          <p:nvPr/>
        </p:nvSpPr>
        <p:spPr>
          <a:xfrm>
            <a:off x="6742000" y="1360000"/>
            <a:ext cx="900000" cy="480000"/>
          </a:xfrm>
          <a:prstGeom prst="rect">
            <a:avLst/>
          </a:prstGeom>
          <a:solidFill>
            <a:srgbClr val="EBF0F7"/>
          </a:solidFill>
          <a:ln w="6350">
            <a:solidFill>
              <a:srgbClr val="90A4AE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206" name="TDTxt04"/>
          <p:cNvSpPr/>
          <p:nvPr/>
        </p:nvSpPr>
        <p:spPr>
          <a:xfrm>
            <a:off x="6742000" y="1360000"/>
            <a:ext cx="90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100" b="1" dirty="0">
                <a:solidFill>
                  <a:srgbClr val="C62828"/>
                </a:solidFill>
                <a:latin typeface="Calibri"/>
                <a:ea typeface="Calibri"/>
                <a:cs typeface="Calibri"/>
              </a:rPr>
              <a:t>No</a:t>
            </a:r>
          </a:p>
        </p:txBody>
      </p:sp>
      <p:sp>
        <p:nvSpPr>
          <p:cNvPr id="6" name="TD05"/>
          <p:cNvSpPr/>
          <p:nvPr/>
        </p:nvSpPr>
        <p:spPr>
          <a:xfrm>
            <a:off x="7642000" y="1360000"/>
            <a:ext cx="900000" cy="480000"/>
          </a:xfrm>
          <a:prstGeom prst="rect">
            <a:avLst/>
          </a:prstGeom>
          <a:solidFill>
            <a:srgbClr val="EBF0F7"/>
          </a:solidFill>
          <a:ln w="6350">
            <a:solidFill>
              <a:srgbClr val="90A4AE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207" name="TDTxt05"/>
          <p:cNvSpPr/>
          <p:nvPr/>
        </p:nvSpPr>
        <p:spPr>
          <a:xfrm>
            <a:off x="7642000" y="1360000"/>
            <a:ext cx="90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100" b="1" dirty="0">
                <a:solidFill>
                  <a:srgbClr val="C62828"/>
                </a:solidFill>
                <a:latin typeface="Calibri"/>
                <a:ea typeface="Calibri"/>
                <a:cs typeface="Calibri"/>
              </a:rPr>
              <a:t>Basso</a:t>
            </a:r>
          </a:p>
        </p:txBody>
      </p:sp>
      <p:sp>
        <p:nvSpPr>
          <p:cNvPr id="220" name="TD10"/>
          <p:cNvSpPr/>
          <p:nvPr/>
        </p:nvSpPr>
        <p:spPr>
          <a:xfrm>
            <a:off x="182000" y="1840000"/>
            <a:ext cx="2600000" cy="480000"/>
          </a:xfrm>
          <a:prstGeom prst="rect">
            <a:avLst/>
          </a:prstGeom>
          <a:solidFill>
            <a:srgbClr val="F7FAFD"/>
          </a:solidFill>
          <a:ln w="6350">
            <a:solidFill>
              <a:srgbClr val="90A4AE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221" name="TInd1"/>
          <p:cNvSpPr/>
          <p:nvPr/>
        </p:nvSpPr>
        <p:spPr>
          <a:xfrm>
            <a:off x="182000" y="1840000"/>
            <a:ext cx="18000" cy="4800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222" name="TDTxt10"/>
          <p:cNvSpPr/>
          <p:nvPr/>
        </p:nvSpPr>
        <p:spPr>
          <a:xfrm>
            <a:off x="222000" y="1840000"/>
            <a:ext cx="256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10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Permutation (randomForest)</a:t>
            </a:r>
          </a:p>
        </p:txBody>
      </p:sp>
      <p:sp>
        <p:nvSpPr>
          <p:cNvPr id="7" name="TD11"/>
          <p:cNvSpPr/>
          <p:nvPr/>
        </p:nvSpPr>
        <p:spPr>
          <a:xfrm>
            <a:off x="2782000" y="1840000"/>
            <a:ext cx="1320000" cy="480000"/>
          </a:xfrm>
          <a:prstGeom prst="rect">
            <a:avLst/>
          </a:prstGeom>
          <a:solidFill>
            <a:srgbClr val="F7FAFD"/>
          </a:solidFill>
          <a:ln w="6350">
            <a:solidFill>
              <a:srgbClr val="90A4AE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223" name="TDTxt11"/>
          <p:cNvSpPr/>
          <p:nvPr/>
        </p:nvSpPr>
        <p:spPr>
          <a:xfrm>
            <a:off x="2782000" y="1840000"/>
            <a:ext cx="132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100" b="1" dirty="0">
                <a:solidFill>
                  <a:srgbClr val="E65100"/>
                </a:solidFill>
                <a:latin typeface="Calibri"/>
                <a:ea typeface="Calibri"/>
                <a:cs typeface="Calibri"/>
              </a:rPr>
              <a:t>No</a:t>
            </a:r>
          </a:p>
        </p:txBody>
      </p:sp>
      <p:sp>
        <p:nvSpPr>
          <p:cNvPr id="8" name="TD12"/>
          <p:cNvSpPr/>
          <p:nvPr/>
        </p:nvSpPr>
        <p:spPr>
          <a:xfrm>
            <a:off x="4102000" y="1840000"/>
            <a:ext cx="1320000" cy="480000"/>
          </a:xfrm>
          <a:prstGeom prst="rect">
            <a:avLst/>
          </a:prstGeom>
          <a:solidFill>
            <a:srgbClr val="F7FAFD"/>
          </a:solidFill>
          <a:ln w="6350">
            <a:solidFill>
              <a:srgbClr val="90A4AE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224" name="TDTxt12"/>
          <p:cNvSpPr/>
          <p:nvPr/>
        </p:nvSpPr>
        <p:spPr>
          <a:xfrm>
            <a:off x="4102000" y="1840000"/>
            <a:ext cx="132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100" b="1" dirty="0">
                <a:solidFill>
                  <a:srgbClr val="E65100"/>
                </a:solidFill>
                <a:latin typeface="Calibri"/>
                <a:ea typeface="Calibri"/>
                <a:cs typeface="Calibri"/>
              </a:rPr>
              <a:t>Parzialm.</a:t>
            </a:r>
          </a:p>
        </p:txBody>
      </p:sp>
      <p:sp>
        <p:nvSpPr>
          <p:cNvPr id="9" name="TD13"/>
          <p:cNvSpPr/>
          <p:nvPr/>
        </p:nvSpPr>
        <p:spPr>
          <a:xfrm>
            <a:off x="5422000" y="1840000"/>
            <a:ext cx="1320000" cy="480000"/>
          </a:xfrm>
          <a:prstGeom prst="rect">
            <a:avLst/>
          </a:prstGeom>
          <a:solidFill>
            <a:srgbClr val="F7FAFD"/>
          </a:solidFill>
          <a:ln w="6350">
            <a:solidFill>
              <a:srgbClr val="90A4AE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225" name="TDTxt13"/>
          <p:cNvSpPr/>
          <p:nvPr/>
        </p:nvSpPr>
        <p:spPr>
          <a:xfrm>
            <a:off x="5422000" y="1840000"/>
            <a:ext cx="132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100" b="1" dirty="0">
                <a:solidFill>
                  <a:srgbClr val="E65100"/>
                </a:solidFill>
                <a:latin typeface="Calibri"/>
                <a:ea typeface="Calibri"/>
                <a:cs typeface="Calibri"/>
              </a:rPr>
              <a:t>Sì</a:t>
            </a:r>
          </a:p>
        </p:txBody>
      </p:sp>
      <p:sp>
        <p:nvSpPr>
          <p:cNvPr id="16" name="TD14"/>
          <p:cNvSpPr/>
          <p:nvPr/>
        </p:nvSpPr>
        <p:spPr>
          <a:xfrm>
            <a:off x="6742000" y="1840000"/>
            <a:ext cx="900000" cy="480000"/>
          </a:xfrm>
          <a:prstGeom prst="rect">
            <a:avLst/>
          </a:prstGeom>
          <a:solidFill>
            <a:srgbClr val="F7FAFD"/>
          </a:solidFill>
          <a:ln w="6350">
            <a:solidFill>
              <a:srgbClr val="90A4AE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226" name="TDTxt14"/>
          <p:cNvSpPr/>
          <p:nvPr/>
        </p:nvSpPr>
        <p:spPr>
          <a:xfrm>
            <a:off x="6742000" y="1840000"/>
            <a:ext cx="90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100" b="1" dirty="0">
                <a:solidFill>
                  <a:srgbClr val="E65100"/>
                </a:solidFill>
                <a:latin typeface="Calibri"/>
                <a:ea typeface="Calibri"/>
                <a:cs typeface="Calibri"/>
              </a:rPr>
              <a:t>No</a:t>
            </a:r>
          </a:p>
        </p:txBody>
      </p:sp>
      <p:sp>
        <p:nvSpPr>
          <p:cNvPr id="17" name="TD15"/>
          <p:cNvSpPr/>
          <p:nvPr/>
        </p:nvSpPr>
        <p:spPr>
          <a:xfrm>
            <a:off x="7642000" y="1840000"/>
            <a:ext cx="900000" cy="480000"/>
          </a:xfrm>
          <a:prstGeom prst="rect">
            <a:avLst/>
          </a:prstGeom>
          <a:solidFill>
            <a:srgbClr val="F7FAFD"/>
          </a:solidFill>
          <a:ln w="6350">
            <a:solidFill>
              <a:srgbClr val="90A4AE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227" name="TDTxt15"/>
          <p:cNvSpPr/>
          <p:nvPr/>
        </p:nvSpPr>
        <p:spPr>
          <a:xfrm>
            <a:off x="7642000" y="1840000"/>
            <a:ext cx="90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100" b="1" dirty="0">
                <a:solidFill>
                  <a:srgbClr val="E65100"/>
                </a:solidFill>
                <a:latin typeface="Calibri"/>
                <a:ea typeface="Calibri"/>
                <a:cs typeface="Calibri"/>
              </a:rPr>
              <a:t>Medio</a:t>
            </a:r>
          </a:p>
        </p:txBody>
      </p:sp>
      <p:sp>
        <p:nvSpPr>
          <p:cNvPr id="240" name="TD20"/>
          <p:cNvSpPr/>
          <p:nvPr/>
        </p:nvSpPr>
        <p:spPr>
          <a:xfrm>
            <a:off x="182000" y="2320000"/>
            <a:ext cx="2600000" cy="480000"/>
          </a:xfrm>
          <a:prstGeom prst="rect">
            <a:avLst/>
          </a:prstGeom>
          <a:solidFill>
            <a:srgbClr val="EBF0F7"/>
          </a:solidFill>
          <a:ln w="6350">
            <a:solidFill>
              <a:srgbClr val="90A4AE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241" name="TInd2"/>
          <p:cNvSpPr/>
          <p:nvPr/>
        </p:nvSpPr>
        <p:spPr>
          <a:xfrm>
            <a:off x="182000" y="2320000"/>
            <a:ext cx="18000" cy="4800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242" name="TDTxt20"/>
          <p:cNvSpPr/>
          <p:nvPr/>
        </p:nvSpPr>
        <p:spPr>
          <a:xfrm>
            <a:off x="222000" y="2320000"/>
            <a:ext cx="256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10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Conditional Imp. (cforest)</a:t>
            </a:r>
          </a:p>
        </p:txBody>
      </p:sp>
      <p:sp>
        <p:nvSpPr>
          <p:cNvPr id="18" name="TD21"/>
          <p:cNvSpPr/>
          <p:nvPr/>
        </p:nvSpPr>
        <p:spPr>
          <a:xfrm>
            <a:off x="2782000" y="2320000"/>
            <a:ext cx="1320000" cy="480000"/>
          </a:xfrm>
          <a:prstGeom prst="rect">
            <a:avLst/>
          </a:prstGeom>
          <a:solidFill>
            <a:srgbClr val="EBF0F7"/>
          </a:solidFill>
          <a:ln w="6350">
            <a:solidFill>
              <a:srgbClr val="90A4AE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243" name="TDTxt21"/>
          <p:cNvSpPr/>
          <p:nvPr/>
        </p:nvSpPr>
        <p:spPr>
          <a:xfrm>
            <a:off x="2782000" y="2320000"/>
            <a:ext cx="132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100" b="1" dirty="0">
                <a:solidFill>
                  <a:srgbClr val="2A9D8F"/>
                </a:solidFill>
                <a:latin typeface="Calibri"/>
                <a:ea typeface="Calibri"/>
                <a:cs typeface="Calibri"/>
              </a:rPr>
              <a:t>No</a:t>
            </a:r>
          </a:p>
        </p:txBody>
      </p:sp>
      <p:sp>
        <p:nvSpPr>
          <p:cNvPr id="19" name="TD22"/>
          <p:cNvSpPr/>
          <p:nvPr/>
        </p:nvSpPr>
        <p:spPr>
          <a:xfrm>
            <a:off x="4102000" y="2320000"/>
            <a:ext cx="1320000" cy="480000"/>
          </a:xfrm>
          <a:prstGeom prst="rect">
            <a:avLst/>
          </a:prstGeom>
          <a:solidFill>
            <a:srgbClr val="EBF0F7"/>
          </a:solidFill>
          <a:ln w="6350">
            <a:solidFill>
              <a:srgbClr val="90A4AE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244" name="TDTxt22"/>
          <p:cNvSpPr/>
          <p:nvPr/>
        </p:nvSpPr>
        <p:spPr>
          <a:xfrm>
            <a:off x="4102000" y="2320000"/>
            <a:ext cx="132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100" b="1" dirty="0">
                <a:solidFill>
                  <a:srgbClr val="2A9D8F"/>
                </a:solidFill>
                <a:latin typeface="Calibri"/>
                <a:ea typeface="Calibri"/>
                <a:cs typeface="Calibri"/>
              </a:rPr>
              <a:t>No</a:t>
            </a:r>
          </a:p>
        </p:txBody>
      </p:sp>
      <p:sp>
        <p:nvSpPr>
          <p:cNvPr id="20" name="TD23"/>
          <p:cNvSpPr/>
          <p:nvPr/>
        </p:nvSpPr>
        <p:spPr>
          <a:xfrm>
            <a:off x="5422000" y="2320000"/>
            <a:ext cx="1320000" cy="480000"/>
          </a:xfrm>
          <a:prstGeom prst="rect">
            <a:avLst/>
          </a:prstGeom>
          <a:solidFill>
            <a:srgbClr val="EBF0F7"/>
          </a:solidFill>
          <a:ln w="6350">
            <a:solidFill>
              <a:srgbClr val="90A4AE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245" name="TDTxt23"/>
          <p:cNvSpPr/>
          <p:nvPr/>
        </p:nvSpPr>
        <p:spPr>
          <a:xfrm>
            <a:off x="5422000" y="2320000"/>
            <a:ext cx="132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100" b="1" dirty="0">
                <a:solidFill>
                  <a:srgbClr val="2A9D8F"/>
                </a:solidFill>
                <a:latin typeface="Calibri"/>
                <a:ea typeface="Calibri"/>
                <a:cs typeface="Calibri"/>
              </a:rPr>
              <a:t>Sì</a:t>
            </a:r>
          </a:p>
        </p:txBody>
      </p:sp>
      <p:sp>
        <p:nvSpPr>
          <p:cNvPr id="21" name="TD24"/>
          <p:cNvSpPr/>
          <p:nvPr/>
        </p:nvSpPr>
        <p:spPr>
          <a:xfrm>
            <a:off x="6742000" y="2320000"/>
            <a:ext cx="900000" cy="480000"/>
          </a:xfrm>
          <a:prstGeom prst="rect">
            <a:avLst/>
          </a:prstGeom>
          <a:solidFill>
            <a:srgbClr val="EBF0F7"/>
          </a:solidFill>
          <a:ln w="6350">
            <a:solidFill>
              <a:srgbClr val="90A4AE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246" name="TDTxt24"/>
          <p:cNvSpPr/>
          <p:nvPr/>
        </p:nvSpPr>
        <p:spPr>
          <a:xfrm>
            <a:off x="6742000" y="2320000"/>
            <a:ext cx="90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100" b="1" dirty="0">
                <a:solidFill>
                  <a:srgbClr val="2A9D8F"/>
                </a:solidFill>
                <a:latin typeface="Calibri"/>
                <a:ea typeface="Calibri"/>
                <a:cs typeface="Calibri"/>
              </a:rPr>
              <a:t>No</a:t>
            </a:r>
          </a:p>
        </p:txBody>
      </p:sp>
      <p:sp>
        <p:nvSpPr>
          <p:cNvPr id="22" name="TD25"/>
          <p:cNvSpPr/>
          <p:nvPr/>
        </p:nvSpPr>
        <p:spPr>
          <a:xfrm>
            <a:off x="7642000" y="2320000"/>
            <a:ext cx="900000" cy="480000"/>
          </a:xfrm>
          <a:prstGeom prst="rect">
            <a:avLst/>
          </a:prstGeom>
          <a:solidFill>
            <a:srgbClr val="EBF0F7"/>
          </a:solidFill>
          <a:ln w="6350">
            <a:solidFill>
              <a:srgbClr val="90A4AE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247" name="TDTxt25"/>
          <p:cNvSpPr/>
          <p:nvPr/>
        </p:nvSpPr>
        <p:spPr>
          <a:xfrm>
            <a:off x="7642000" y="2320000"/>
            <a:ext cx="90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100" b="1" dirty="0">
                <a:solidFill>
                  <a:srgbClr val="2A9D8F"/>
                </a:solidFill>
                <a:latin typeface="Calibri"/>
                <a:ea typeface="Calibri"/>
                <a:cs typeface="Calibri"/>
              </a:rPr>
              <a:t>Alto*</a:t>
            </a:r>
          </a:p>
        </p:txBody>
      </p:sp>
      <p:sp>
        <p:nvSpPr>
          <p:cNvPr id="260" name="TD30"/>
          <p:cNvSpPr/>
          <p:nvPr/>
        </p:nvSpPr>
        <p:spPr>
          <a:xfrm>
            <a:off x="182000" y="2800000"/>
            <a:ext cx="2600000" cy="480000"/>
          </a:xfrm>
          <a:prstGeom prst="rect">
            <a:avLst/>
          </a:prstGeom>
          <a:solidFill>
            <a:srgbClr val="F7FAFD"/>
          </a:solidFill>
          <a:ln w="6350">
            <a:solidFill>
              <a:srgbClr val="90A4AE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261" name="TInd3"/>
          <p:cNvSpPr/>
          <p:nvPr/>
        </p:nvSpPr>
        <p:spPr>
          <a:xfrm>
            <a:off x="182000" y="2800000"/>
            <a:ext cx="18000" cy="480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262" name="TDTxt30"/>
          <p:cNvSpPr/>
          <p:nvPr/>
        </p:nvSpPr>
        <p:spPr>
          <a:xfrm>
            <a:off x="222000" y="2800000"/>
            <a:ext cx="256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10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Stability Selection (LASSO)</a:t>
            </a:r>
          </a:p>
        </p:txBody>
      </p:sp>
      <p:sp>
        <p:nvSpPr>
          <p:cNvPr id="23" name="TD31"/>
          <p:cNvSpPr/>
          <p:nvPr/>
        </p:nvSpPr>
        <p:spPr>
          <a:xfrm>
            <a:off x="2782000" y="2800000"/>
            <a:ext cx="1320000" cy="480000"/>
          </a:xfrm>
          <a:prstGeom prst="rect">
            <a:avLst/>
          </a:prstGeom>
          <a:solidFill>
            <a:srgbClr val="F7FAFD"/>
          </a:solidFill>
          <a:ln w="6350">
            <a:solidFill>
              <a:srgbClr val="90A4AE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263" name="TDTxt31"/>
          <p:cNvSpPr/>
          <p:nvPr/>
        </p:nvSpPr>
        <p:spPr>
          <a:xfrm>
            <a:off x="2782000" y="2800000"/>
            <a:ext cx="132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100" b="1" dirty="0">
                <a:solidFill>
                  <a:srgbClr val="2E7D32"/>
                </a:solidFill>
                <a:latin typeface="Calibri"/>
                <a:ea typeface="Calibri"/>
                <a:cs typeface="Calibri"/>
              </a:rPr>
              <a:t>No</a:t>
            </a:r>
          </a:p>
        </p:txBody>
      </p:sp>
      <p:sp>
        <p:nvSpPr>
          <p:cNvPr id="24" name="TD32"/>
          <p:cNvSpPr/>
          <p:nvPr/>
        </p:nvSpPr>
        <p:spPr>
          <a:xfrm>
            <a:off x="4102000" y="2800000"/>
            <a:ext cx="1320000" cy="480000"/>
          </a:xfrm>
          <a:prstGeom prst="rect">
            <a:avLst/>
          </a:prstGeom>
          <a:solidFill>
            <a:srgbClr val="F7FAFD"/>
          </a:solidFill>
          <a:ln w="6350">
            <a:solidFill>
              <a:srgbClr val="90A4AE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264" name="TDTxt32"/>
          <p:cNvSpPr/>
          <p:nvPr/>
        </p:nvSpPr>
        <p:spPr>
          <a:xfrm>
            <a:off x="4102000" y="2800000"/>
            <a:ext cx="132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100" b="1" dirty="0">
                <a:solidFill>
                  <a:srgbClr val="2E7D32"/>
                </a:solidFill>
                <a:latin typeface="Calibri"/>
                <a:ea typeface="Calibri"/>
                <a:cs typeface="Calibri"/>
              </a:rPr>
              <a:t>No</a:t>
            </a:r>
          </a:p>
        </p:txBody>
      </p:sp>
      <p:sp>
        <p:nvSpPr>
          <p:cNvPr id="25" name="TD33"/>
          <p:cNvSpPr/>
          <p:nvPr/>
        </p:nvSpPr>
        <p:spPr>
          <a:xfrm>
            <a:off x="5422000" y="2800000"/>
            <a:ext cx="1320000" cy="480000"/>
          </a:xfrm>
          <a:prstGeom prst="rect">
            <a:avLst/>
          </a:prstGeom>
          <a:solidFill>
            <a:srgbClr val="F7FAFD"/>
          </a:solidFill>
          <a:ln w="6350">
            <a:solidFill>
              <a:srgbClr val="90A4AE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265" name="TDTxt33"/>
          <p:cNvSpPr/>
          <p:nvPr/>
        </p:nvSpPr>
        <p:spPr>
          <a:xfrm>
            <a:off x="5422000" y="2800000"/>
            <a:ext cx="132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100" b="1" dirty="0">
                <a:solidFill>
                  <a:srgbClr val="2E7D32"/>
                </a:solidFill>
                <a:latin typeface="Calibri"/>
                <a:ea typeface="Calibri"/>
                <a:cs typeface="Calibri"/>
              </a:rPr>
              <a:t>Sì</a:t>
            </a:r>
          </a:p>
        </p:txBody>
      </p:sp>
      <p:sp>
        <p:nvSpPr>
          <p:cNvPr id="26" name="TD34"/>
          <p:cNvSpPr/>
          <p:nvPr/>
        </p:nvSpPr>
        <p:spPr>
          <a:xfrm>
            <a:off x="6742000" y="2800000"/>
            <a:ext cx="900000" cy="480000"/>
          </a:xfrm>
          <a:prstGeom prst="rect">
            <a:avLst/>
          </a:prstGeom>
          <a:solidFill>
            <a:srgbClr val="F7FAFD"/>
          </a:solidFill>
          <a:ln w="6350">
            <a:solidFill>
              <a:srgbClr val="90A4AE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266" name="TDTxt34"/>
          <p:cNvSpPr/>
          <p:nvPr/>
        </p:nvSpPr>
        <p:spPr>
          <a:xfrm>
            <a:off x="6742000" y="2800000"/>
            <a:ext cx="90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100" b="1" dirty="0">
                <a:solidFill>
                  <a:srgbClr val="2E7D32"/>
                </a:solidFill>
                <a:latin typeface="Calibri"/>
                <a:ea typeface="Calibri"/>
                <a:cs typeface="Calibri"/>
              </a:rPr>
              <a:t>Sì (PFER)</a:t>
            </a:r>
          </a:p>
        </p:txBody>
      </p:sp>
      <p:sp>
        <p:nvSpPr>
          <p:cNvPr id="27" name="TD35"/>
          <p:cNvSpPr/>
          <p:nvPr/>
        </p:nvSpPr>
        <p:spPr>
          <a:xfrm>
            <a:off x="7642000" y="2800000"/>
            <a:ext cx="900000" cy="480000"/>
          </a:xfrm>
          <a:prstGeom prst="rect">
            <a:avLst/>
          </a:prstGeom>
          <a:solidFill>
            <a:srgbClr val="F7FAFD"/>
          </a:solidFill>
          <a:ln w="6350">
            <a:solidFill>
              <a:srgbClr val="90A4AE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267" name="TDTxt35"/>
          <p:cNvSpPr/>
          <p:nvPr/>
        </p:nvSpPr>
        <p:spPr>
          <a:xfrm>
            <a:off x="7642000" y="2800000"/>
            <a:ext cx="90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100" b="1" dirty="0">
                <a:solidFill>
                  <a:srgbClr val="2E7D32"/>
                </a:solidFill>
                <a:latin typeface="Calibri"/>
                <a:ea typeface="Calibri"/>
                <a:cs typeface="Calibri"/>
              </a:rPr>
              <a:t>Medio</a:t>
            </a:r>
          </a:p>
        </p:txBody>
      </p:sp>
      <p:sp>
        <p:nvSpPr>
          <p:cNvPr id="500" name="FootNote"/>
          <p:cNvSpPr/>
          <p:nvPr/>
        </p:nvSpPr>
        <p:spPr>
          <a:xfrm>
            <a:off x="182000" y="3340000"/>
            <a:ext cx="878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/>
          <a:lstStyle/>
          <a:p>
            <a:pPr algn="l">
              <a:buNone/>
            </a:pPr>
            <a:r>
              <a:rPr lang="it-IT" sz="1100" dirty="0">
                <a:solidFill>
                  <a:srgbClr val="546E7A"/>
                </a:solidFill>
                <a:latin typeface="Calibri"/>
                <a:ea typeface="Calibri"/>
                <a:cs typeface="Calibri"/>
              </a:rPr>
              <a:t>* cforest usa conditional inference trees (non CART) — modello diverso, non solo metrica diversa.</a:t>
            </a:r>
          </a:p>
        </p:txBody>
      </p:sp>
      <p:sp>
        <p:nvSpPr>
          <p:cNvPr id="510" name="ConclBg"/>
          <p:cNvSpPr/>
          <p:nvPr/>
        </p:nvSpPr>
        <p:spPr>
          <a:xfrm>
            <a:off x="182000" y="3740000"/>
            <a:ext cx="8780000" cy="1243500"/>
          </a:xfrm>
          <a:prstGeom prst="rect">
            <a:avLst/>
          </a:prstGeom>
          <a:solidFill>
            <a:srgbClr val="EBF0F7"/>
          </a:solidFill>
          <a:ln w="9525">
            <a:solidFill>
              <a:srgbClr val="1B3D7D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511" name="ConclTxt"/>
          <p:cNvSpPr/>
          <p:nvPr/>
        </p:nvSpPr>
        <p:spPr>
          <a:xfrm>
            <a:off x="242000" y="3740000"/>
            <a:ext cx="8660000" cy="12435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400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Non esiste un metodo dominante su tutte le dimensioni. La scelta dipende dal contesto applicativo.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Logo"/>
          <p:cNvPicPr>
            <a:picLocks noChangeAspect="1"/>
          </p:cNvPicPr>
          <p:nvPr/>
        </p:nvPicPr>
        <p:blipFill>
          <a:blip r:embed="rId2"/>
          <a:srcRect l="-1348" t="25421" r="-1064" b="-929"/>
          <a:stretch>
            <a:fillRect/>
          </a:stretch>
        </p:blipFill>
        <p:spPr>
          <a:xfrm>
            <a:off x="181758" y="2826"/>
            <a:ext cx="800187" cy="670190"/>
          </a:xfrm>
          <a:prstGeom prst="rect">
            <a:avLst/>
          </a:prstGeom>
        </p:spPr>
      </p:pic>
      <p:sp>
        <p:nvSpPr>
          <p:cNvPr id="91" name="Sep"/>
          <p:cNvSpPr/>
          <p:nvPr/>
        </p:nvSpPr>
        <p:spPr>
          <a:xfrm>
            <a:off x="182000" y="700000"/>
            <a:ext cx="8780000" cy="22000"/>
          </a:xfrm>
          <a:prstGeom prst="rect">
            <a:avLst/>
          </a:prstGeom>
          <a:solidFill>
            <a:srgbClr val="004180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92" name="Title"/>
          <p:cNvSpPr/>
          <p:nvPr/>
        </p:nvSpPr>
        <p:spPr>
          <a:xfrm>
            <a:off x="1060000" y="90000"/>
            <a:ext cx="7940000" cy="5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2800" b="1" dirty="0">
                <a:solidFill>
                  <a:srgbClr val="1B3D7D"/>
                </a:solidFill>
                <a:latin typeface="Calibri"/>
                <a:ea typeface="Calibri"/>
                <a:cs typeface="Calibri"/>
              </a:rPr>
              <a:t>Conclusioni</a:t>
            </a:r>
          </a:p>
        </p:txBody>
      </p:sp>
      <p:sp>
        <p:nvSpPr>
          <p:cNvPr id="10" name="CBg0"/>
          <p:cNvSpPr/>
          <p:nvPr/>
        </p:nvSpPr>
        <p:spPr>
          <a:xfrm>
            <a:off x="182000" y="820000"/>
            <a:ext cx="8780000" cy="660000"/>
          </a:xfrm>
          <a:prstGeom prst="rect">
            <a:avLst/>
          </a:prstGeom>
          <a:solidFill>
            <a:srgbClr val="F7FAFD"/>
          </a:solidFill>
          <a:ln w="12700">
            <a:solidFill>
              <a:srgbClr val="C62828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11" name="CStrip0"/>
          <p:cNvSpPr/>
          <p:nvPr/>
        </p:nvSpPr>
        <p:spPr>
          <a:xfrm>
            <a:off x="182000" y="820000"/>
            <a:ext cx="560000" cy="660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2" name="CIcon0"/>
          <p:cNvSpPr/>
          <p:nvPr/>
        </p:nvSpPr>
        <p:spPr>
          <a:xfrm>
            <a:off x="182000" y="820000"/>
            <a:ext cx="560000" cy="66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32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✗</a:t>
            </a:r>
          </a:p>
        </p:txBody>
      </p:sp>
      <p:sp>
        <p:nvSpPr>
          <p:cNvPr id="13" name="CTxt0"/>
          <p:cNvSpPr/>
          <p:nvPr/>
        </p:nvSpPr>
        <p:spPr>
          <a:xfrm>
            <a:off x="782000" y="820000"/>
            <a:ext cx="8140000" cy="66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40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La MDI è sistematicamente distorta verso variabili ad alta cardinalità — non è un bug, è strutturale.</a:t>
            </a:r>
          </a:p>
        </p:txBody>
      </p:sp>
      <p:sp>
        <p:nvSpPr>
          <p:cNvPr id="16" name="CBg1"/>
          <p:cNvSpPr/>
          <p:nvPr/>
        </p:nvSpPr>
        <p:spPr>
          <a:xfrm>
            <a:off x="182000" y="1530000"/>
            <a:ext cx="8780000" cy="660000"/>
          </a:xfrm>
          <a:prstGeom prst="rect">
            <a:avLst/>
          </a:prstGeom>
          <a:solidFill>
            <a:srgbClr val="F7FAFD"/>
          </a:solidFill>
          <a:ln w="12700">
            <a:solidFill>
              <a:srgbClr val="C62828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17" name="CStrip1"/>
          <p:cNvSpPr/>
          <p:nvPr/>
        </p:nvSpPr>
        <p:spPr>
          <a:xfrm>
            <a:off x="182000" y="1530000"/>
            <a:ext cx="560000" cy="660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8" name="CIcon1"/>
          <p:cNvSpPr/>
          <p:nvPr/>
        </p:nvSpPr>
        <p:spPr>
          <a:xfrm>
            <a:off x="182000" y="1530000"/>
            <a:ext cx="560000" cy="66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32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✗</a:t>
            </a:r>
          </a:p>
        </p:txBody>
      </p:sp>
      <p:sp>
        <p:nvSpPr>
          <p:cNvPr id="19" name="CTxt1"/>
          <p:cNvSpPr/>
          <p:nvPr/>
        </p:nvSpPr>
        <p:spPr>
          <a:xfrm>
            <a:off x="782000" y="1530000"/>
            <a:ext cx="8140000" cy="66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40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In presenza di correlazione, le stime di importanza diventano instabili e i falsi positivi cambiano ad ogni run.</a:t>
            </a:r>
          </a:p>
        </p:txBody>
      </p:sp>
      <p:sp>
        <p:nvSpPr>
          <p:cNvPr id="22" name="CBg2"/>
          <p:cNvSpPr/>
          <p:nvPr/>
        </p:nvSpPr>
        <p:spPr>
          <a:xfrm>
            <a:off x="182000" y="2240000"/>
            <a:ext cx="8780000" cy="660000"/>
          </a:xfrm>
          <a:prstGeom prst="rect">
            <a:avLst/>
          </a:prstGeom>
          <a:solidFill>
            <a:srgbClr val="F7FAFD"/>
          </a:solidFill>
          <a:ln w="12700">
            <a:solidFill>
              <a:srgbClr val="2A9D8F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23" name="CStrip2"/>
          <p:cNvSpPr/>
          <p:nvPr/>
        </p:nvSpPr>
        <p:spPr>
          <a:xfrm>
            <a:off x="182000" y="2240000"/>
            <a:ext cx="560000" cy="6600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24" name="CIcon2"/>
          <p:cNvSpPr/>
          <p:nvPr/>
        </p:nvSpPr>
        <p:spPr>
          <a:xfrm>
            <a:off x="182000" y="2240000"/>
            <a:ext cx="560000" cy="66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32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✓</a:t>
            </a:r>
          </a:p>
        </p:txBody>
      </p:sp>
      <p:sp>
        <p:nvSpPr>
          <p:cNvPr id="25" name="CTxt2"/>
          <p:cNvSpPr/>
          <p:nvPr/>
        </p:nvSpPr>
        <p:spPr>
          <a:xfrm>
            <a:off x="782000" y="2240000"/>
            <a:ext cx="8140000" cy="66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40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La Conditional Importance (cforest) elimina il bias e isola le variabili causali, ma richiede un modello diverso.</a:t>
            </a:r>
          </a:p>
        </p:txBody>
      </p:sp>
      <p:sp>
        <p:nvSpPr>
          <p:cNvPr id="28" name="CBg3"/>
          <p:cNvSpPr/>
          <p:nvPr/>
        </p:nvSpPr>
        <p:spPr>
          <a:xfrm>
            <a:off x="182000" y="2950000"/>
            <a:ext cx="8780000" cy="660000"/>
          </a:xfrm>
          <a:prstGeom prst="rect">
            <a:avLst/>
          </a:prstGeom>
          <a:solidFill>
            <a:srgbClr val="F7FAFD"/>
          </a:solidFill>
          <a:ln w="12700">
            <a:solidFill>
              <a:srgbClr val="2E7D32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29" name="CStrip3"/>
          <p:cNvSpPr/>
          <p:nvPr/>
        </p:nvSpPr>
        <p:spPr>
          <a:xfrm>
            <a:off x="182000" y="2950000"/>
            <a:ext cx="560000" cy="660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30" name="CIcon3"/>
          <p:cNvSpPr/>
          <p:nvPr/>
        </p:nvSpPr>
        <p:spPr>
          <a:xfrm>
            <a:off x="182000" y="2950000"/>
            <a:ext cx="560000" cy="66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32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✓</a:t>
            </a:r>
          </a:p>
        </p:txBody>
      </p:sp>
      <p:sp>
        <p:nvSpPr>
          <p:cNvPr id="31" name="CTxt3"/>
          <p:cNvSpPr/>
          <p:nvPr/>
        </p:nvSpPr>
        <p:spPr>
          <a:xfrm>
            <a:off x="782000" y="2950000"/>
            <a:ext cx="8140000" cy="66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40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La Stability Selection è l’unico metodo con garanzia formale sul numero di falsi positivi (PFER) — essenziale in ambito clinico.</a:t>
            </a:r>
          </a:p>
        </p:txBody>
      </p:sp>
      <p:sp>
        <p:nvSpPr>
          <p:cNvPr id="34" name="CBg4"/>
          <p:cNvSpPr/>
          <p:nvPr/>
        </p:nvSpPr>
        <p:spPr>
          <a:xfrm>
            <a:off x="182000" y="3660000"/>
            <a:ext cx="8780000" cy="660000"/>
          </a:xfrm>
          <a:prstGeom prst="rect">
            <a:avLst/>
          </a:prstGeom>
          <a:solidFill>
            <a:srgbClr val="F7FAFD"/>
          </a:solidFill>
          <a:ln w="12700">
            <a:solidFill>
              <a:srgbClr val="1B3D7D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35" name="CStrip4"/>
          <p:cNvSpPr/>
          <p:nvPr/>
        </p:nvSpPr>
        <p:spPr>
          <a:xfrm>
            <a:off x="182000" y="3660000"/>
            <a:ext cx="560000" cy="660000"/>
          </a:xfrm>
          <a:prstGeom prst="rect">
            <a:avLst/>
          </a:prstGeom>
          <a:solidFill>
            <a:srgbClr val="1B3D7D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36" name="CIcon4"/>
          <p:cNvSpPr/>
          <p:nvPr/>
        </p:nvSpPr>
        <p:spPr>
          <a:xfrm>
            <a:off x="182000" y="3660000"/>
            <a:ext cx="560000" cy="66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32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→</a:t>
            </a:r>
          </a:p>
        </p:txBody>
      </p:sp>
      <p:sp>
        <p:nvSpPr>
          <p:cNvPr id="37" name="CTxt4"/>
          <p:cNvSpPr/>
          <p:nvPr/>
        </p:nvSpPr>
        <p:spPr>
          <a:xfrm>
            <a:off x="782000" y="3660000"/>
            <a:ext cx="8140000" cy="66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l">
              <a:buNone/>
            </a:pPr>
            <a:r>
              <a:rPr lang="it-IT" sz="140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La Permutation Importance è un buon compromesso: meno distorta, costo medio, ma non immune alla correlazione.</a:t>
            </a:r>
          </a:p>
        </p:txBody>
      </p:sp>
      <p:sp>
        <p:nvSpPr>
          <p:cNvPr id="100" name="Refs"/>
          <p:cNvSpPr/>
          <p:nvPr/>
        </p:nvSpPr>
        <p:spPr>
          <a:xfrm>
            <a:off x="182000" y="4390000"/>
            <a:ext cx="8780000" cy="5935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algn="ctr">
              <a:buNone/>
            </a:pPr>
            <a:r>
              <a:rPr lang="it-IT" sz="1100" dirty="0">
                <a:solidFill>
                  <a:srgbClr val="546E7A"/>
                </a:solidFill>
                <a:latin typeface="Calibri"/>
                <a:ea typeface="Calibri"/>
                <a:cs typeface="Calibri"/>
              </a:rPr>
              <a:t>Breiman 2001  ·  Strobl et al. 2007/2008  ·  Meinshausen &amp; Bühlmann 2010  ·  Shah &amp; Samworth 2013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1447</TotalTime>
  <Words>1398</Words>
  <Application>Microsoft Office PowerPoint</Application>
  <PresentationFormat>Presentazione su schermo (16:9)</PresentationFormat>
  <Paragraphs>190</Paragraphs>
  <Slides>14</Slides>
  <Notes>4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2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Francesco Faillace</cp:lastModifiedBy>
  <cp:revision>597</cp:revision>
  <dcterms:created xsi:type="dcterms:W3CDTF">2026-03-12T12:19:20Z</dcterms:created>
  <dcterms:modified xsi:type="dcterms:W3CDTF">2026-05-19T14:56:41Z</dcterms:modified>
</cp:coreProperties>
</file>