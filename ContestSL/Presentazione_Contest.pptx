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5" r:id="rId4"/>
    <p:sldId id="276" r:id="rId5"/>
    <p:sldId id="262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1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D85464-F390-41B5-B9DA-86A4611B6C84}" v="224" dt="2026-05-21T15:23:46.4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Stile chi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1841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C98DF-AA4A-0E17-1AD2-827A66799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C6763-7A86-143A-1B4A-5E2128B086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FBCF30-B90B-6D2B-416F-CF8E62BB0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75C4F9-EED2-EAEC-6ED0-8D652C3581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806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39474-57FB-CBA8-B393-2AB92D5F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09A78-12DD-C145-5E26-6F832B111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4638C-C925-803E-2C29-A6B6E2D4F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3C6E3-DB8E-0578-A6FA-2FB4425AB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169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39474-57FB-CBA8-B393-2AB92D5F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09A78-12DD-C145-5E26-6F832B111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4638C-C925-803E-2C29-A6B6E2D4F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3C6E3-DB8E-0578-A6FA-2FB4425AB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16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0" y="0"/>
            <a:ext cx="4754880" cy="5143500"/>
          </a:xfrm>
          <a:prstGeom prst="rect">
            <a:avLst/>
          </a:prstGeom>
          <a:solidFill>
            <a:srgbClr val="004180"/>
          </a:solidFill>
          <a:ln w="12700">
            <a:solidFill>
              <a:srgbClr val="1B3D7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1118792" y="-8620"/>
            <a:ext cx="5404508" cy="5142426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11480" y="501135"/>
            <a:ext cx="5738391" cy="182694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3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La Variable Importance</a:t>
            </a:r>
            <a:endParaRPr lang="en-US" sz="36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1480" y="2824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AUTORI: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1480" y="3098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Francesco Faillace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3878346B-309A-6DA9-57CB-83A68DCF7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543" y="2410097"/>
            <a:ext cx="2131695" cy="2537460"/>
          </a:xfrm>
          <a:prstGeom prst="rect">
            <a:avLst/>
          </a:prstGeom>
          <a:ln>
            <a:solidFill>
              <a:srgbClr val="004180"/>
            </a:solidFill>
          </a:ln>
        </p:spPr>
      </p:pic>
      <p:sp>
        <p:nvSpPr>
          <p:cNvPr id="15" name="Text 4">
            <a:extLst>
              <a:ext uri="{FF2B5EF4-FFF2-40B4-BE49-F238E27FC236}">
                <a16:creationId xmlns:a16="http://schemas.microsoft.com/office/drawing/2014/main" id="{9E5F7317-9BEE-D425-1B51-65793C82F008}"/>
              </a:ext>
            </a:extLst>
          </p:cNvPr>
          <p:cNvSpPr/>
          <p:nvPr/>
        </p:nvSpPr>
        <p:spPr>
          <a:xfrm>
            <a:off x="411480" y="33299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Lorenzo Maria Pennelli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465E81B1-F718-DAAD-4211-40D5EFC3C85A}"/>
              </a:ext>
            </a:extLst>
          </p:cNvPr>
          <p:cNvSpPr/>
          <p:nvPr/>
        </p:nvSpPr>
        <p:spPr>
          <a:xfrm>
            <a:off x="411480" y="35647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Eros </a:t>
            </a:r>
            <a:r>
              <a:rPr lang="en-US" sz="1400" i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Pinzani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BD989F4-7EEE-8B97-F7D7-EDF85754A840}"/>
              </a:ext>
            </a:extLst>
          </p:cNvPr>
          <p:cNvSpPr txBox="1"/>
          <p:nvPr/>
        </p:nvSpPr>
        <p:spPr>
          <a:xfrm>
            <a:off x="411480" y="1170013"/>
            <a:ext cx="5341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i="1" dirty="0">
                <a:solidFill>
                  <a:srgbClr val="004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e Correlazione nella Selezione di Variabili in Random Forest</a:t>
            </a:r>
            <a:endParaRPr lang="it-I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Contesto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: Random Forest</a:t>
            </a:r>
            <a:endParaRPr lang="it-IT" sz="2800" dirty="0" err="1"/>
          </a:p>
        </p:txBody>
      </p:sp>
      <p:sp>
        <p:nvSpPr>
          <p:cNvPr id="9" name="Text 7"/>
          <p:cNvSpPr/>
          <p:nvPr/>
        </p:nvSpPr>
        <p:spPr>
          <a:xfrm>
            <a:off x="263266" y="2974799"/>
            <a:ext cx="4114800" cy="21945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342900" indent="-342900" algn="l">
              <a:buSzPct val="100000"/>
              <a:buFont typeface="+mj-lt"/>
              <a:buAutoNum type="arabicPeriod"/>
            </a:pPr>
            <a:endParaRPr lang="en-US" sz="11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2/5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31436C73-6C73-8E81-872C-0EFCE6CFAD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B3CAD74-B2DA-F68F-47B4-E0AB70C65BDE}"/>
              </a:ext>
            </a:extLst>
          </p:cNvPr>
          <p:cNvSpPr txBox="1"/>
          <p:nvPr/>
        </p:nvSpPr>
        <p:spPr>
          <a:xfrm>
            <a:off x="151990" y="786723"/>
            <a:ext cx="8992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Algoritmi </a:t>
            </a:r>
            <a:r>
              <a:rPr lang="it-IT" dirty="0" err="1"/>
              <a:t>Ensembled</a:t>
            </a:r>
            <a:r>
              <a:rPr lang="it-IT" dirty="0"/>
              <a:t>-Tree che combinano </a:t>
            </a:r>
            <a:r>
              <a:rPr lang="it-IT" dirty="0" err="1"/>
              <a:t>Bagging</a:t>
            </a:r>
            <a:r>
              <a:rPr lang="it-IT" dirty="0"/>
              <a:t> con una selezione randomica dei predittori. </a:t>
            </a: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4517404B-8A70-8234-8104-8BCABACEFBC8}"/>
              </a:ext>
            </a:extLst>
          </p:cNvPr>
          <p:cNvSpPr/>
          <p:nvPr/>
        </p:nvSpPr>
        <p:spPr>
          <a:xfrm>
            <a:off x="1245939" y="2969472"/>
            <a:ext cx="1543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Punti</a:t>
            </a:r>
            <a:r>
              <a:rPr lang="en-US" sz="20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di Forza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22578E23-8F9B-0315-0C81-BE6A9025994D}"/>
              </a:ext>
            </a:extLst>
          </p:cNvPr>
          <p:cNvSpPr/>
          <p:nvPr/>
        </p:nvSpPr>
        <p:spPr>
          <a:xfrm>
            <a:off x="6011878" y="2974799"/>
            <a:ext cx="13564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Limitazioni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DFB4D02A-469E-372F-BF84-19765C64ACCC}"/>
              </a:ext>
            </a:extLst>
          </p:cNvPr>
          <p:cNvSpPr/>
          <p:nvPr/>
        </p:nvSpPr>
        <p:spPr>
          <a:xfrm>
            <a:off x="454173" y="1476768"/>
            <a:ext cx="3923893" cy="1014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Bagging</a:t>
            </a:r>
          </a:p>
          <a:p>
            <a:r>
              <a:rPr lang="it-IT" sz="1400" dirty="0"/>
              <a:t>Tecnica che riduce la varianza di un modello statistico creando più sotto-alberi tramite </a:t>
            </a:r>
            <a:r>
              <a:rPr lang="it-IT" sz="1400" b="1" dirty="0"/>
              <a:t>bootstrap </a:t>
            </a:r>
            <a:r>
              <a:rPr lang="it-IT" sz="1400" dirty="0"/>
              <a:t>e</a:t>
            </a:r>
            <a:r>
              <a:rPr lang="it-IT" sz="1400" b="1" dirty="0"/>
              <a:t> aggregando</a:t>
            </a:r>
            <a:r>
              <a:rPr lang="it-IT" sz="1400" dirty="0"/>
              <a:t> i risultati per ottenere una previsione più stabile e accurata.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B7645A7F-3689-F469-3D63-BC43BF877055}"/>
              </a:ext>
            </a:extLst>
          </p:cNvPr>
          <p:cNvSpPr/>
          <p:nvPr/>
        </p:nvSpPr>
        <p:spPr>
          <a:xfrm>
            <a:off x="4926556" y="1459090"/>
            <a:ext cx="3763272" cy="1049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Feature subsampling</a:t>
            </a:r>
          </a:p>
          <a:p>
            <a:pPr algn="l"/>
            <a:r>
              <a:rPr lang="en-US" sz="1400" dirty="0">
                <a:ea typeface="Calibri" panose="020F0502020204030204"/>
                <a:cs typeface="Calibri" panose="020F0502020204030204"/>
              </a:rPr>
              <a:t>Ad ogni split </a:t>
            </a:r>
            <a:r>
              <a:rPr lang="en-US" sz="1400" dirty="0" err="1">
                <a:ea typeface="Calibri" panose="020F0502020204030204"/>
                <a:cs typeface="Calibri" panose="020F0502020204030204"/>
              </a:rPr>
              <a:t>ciascun</a:t>
            </a:r>
            <a:r>
              <a:rPr lang="en-US" sz="1400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sz="1400" dirty="0" err="1">
                <a:ea typeface="Calibri" panose="020F0502020204030204"/>
                <a:cs typeface="Calibri" panose="020F0502020204030204"/>
              </a:rPr>
              <a:t>albero</a:t>
            </a:r>
            <a:r>
              <a:rPr lang="en-US" sz="1400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sz="1400" dirty="0" err="1">
                <a:ea typeface="Calibri" panose="020F0502020204030204"/>
                <a:cs typeface="Calibri" panose="020F0502020204030204"/>
              </a:rPr>
              <a:t>sceglie</a:t>
            </a:r>
            <a:r>
              <a:rPr lang="en-US" sz="1400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sz="1400" dirty="0" err="1">
                <a:ea typeface="Calibri" panose="020F0502020204030204"/>
                <a:cs typeface="Calibri" panose="020F0502020204030204"/>
              </a:rPr>
              <a:t>casualmente</a:t>
            </a:r>
            <a:r>
              <a:rPr lang="en-US" sz="1400" dirty="0">
                <a:ea typeface="Calibri" panose="020F0502020204030204"/>
                <a:cs typeface="Calibri" panose="020F0502020204030204"/>
              </a:rPr>
              <a:t> un </a:t>
            </a:r>
            <a:r>
              <a:rPr lang="en-US" sz="1400" dirty="0" err="1">
                <a:ea typeface="Calibri" panose="020F0502020204030204"/>
                <a:cs typeface="Calibri" panose="020F0502020204030204"/>
              </a:rPr>
              <a:t>sottoinsieme</a:t>
            </a:r>
            <a:r>
              <a:rPr lang="en-US" sz="1400" dirty="0">
                <a:ea typeface="Calibri" panose="020F0502020204030204"/>
                <a:cs typeface="Calibri" panose="020F0502020204030204"/>
              </a:rPr>
              <a:t> di </a:t>
            </a:r>
            <a:r>
              <a:rPr lang="en-US" sz="1400" dirty="0" err="1">
                <a:ea typeface="Calibri" panose="020F0502020204030204"/>
                <a:cs typeface="Calibri" panose="020F0502020204030204"/>
              </a:rPr>
              <a:t>predittori</a:t>
            </a:r>
            <a:r>
              <a:rPr lang="en-US" sz="1400" dirty="0">
                <a:ea typeface="Calibri" panose="020F0502020204030204"/>
                <a:cs typeface="Calibri" panose="020F0502020204030204"/>
              </a:rPr>
              <a:t> (</a:t>
            </a:r>
            <a:r>
              <a:rPr lang="en-US" sz="1400" b="1" dirty="0" err="1">
                <a:ea typeface="Calibri" panose="020F0502020204030204"/>
                <a:cs typeface="Calibri" panose="020F0502020204030204"/>
              </a:rPr>
              <a:t>mtry</a:t>
            </a:r>
            <a:r>
              <a:rPr lang="en-US" sz="1400" dirty="0">
                <a:ea typeface="Calibri" panose="020F0502020204030204"/>
                <a:cs typeface="Calibri" panose="020F0502020204030204"/>
              </a:rPr>
              <a:t>) da cui </a:t>
            </a:r>
            <a:r>
              <a:rPr lang="en-US" sz="1400" dirty="0" err="1">
                <a:ea typeface="Calibri" panose="020F0502020204030204"/>
                <a:cs typeface="Calibri" panose="020F0502020204030204"/>
              </a:rPr>
              <a:t>sceglie</a:t>
            </a:r>
            <a:r>
              <a:rPr lang="en-US" sz="1400" dirty="0">
                <a:ea typeface="Calibri" panose="020F0502020204030204"/>
                <a:cs typeface="Calibri" panose="020F0502020204030204"/>
              </a:rPr>
              <a:t> il </a:t>
            </a:r>
            <a:r>
              <a:rPr lang="en-US" sz="1400" dirty="0" err="1">
                <a:ea typeface="Calibri" panose="020F0502020204030204"/>
                <a:cs typeface="Calibri" panose="020F0502020204030204"/>
              </a:rPr>
              <a:t>migliore</a:t>
            </a:r>
            <a:r>
              <a:rPr lang="en-US" sz="1400" dirty="0">
                <a:ea typeface="Calibri" panose="020F0502020204030204"/>
                <a:cs typeface="Calibri" panose="020F0502020204030204"/>
              </a:rPr>
              <a:t> in modo da </a:t>
            </a:r>
            <a:r>
              <a:rPr lang="en-US" sz="1400" dirty="0" err="1">
                <a:ea typeface="Calibri" panose="020F0502020204030204"/>
                <a:cs typeface="Calibri" panose="020F0502020204030204"/>
              </a:rPr>
              <a:t>ridurre</a:t>
            </a:r>
            <a:r>
              <a:rPr lang="en-US" sz="1400" dirty="0">
                <a:ea typeface="Calibri" panose="020F0502020204030204"/>
                <a:cs typeface="Calibri" panose="020F0502020204030204"/>
              </a:rPr>
              <a:t> la </a:t>
            </a:r>
            <a:r>
              <a:rPr lang="en-US" sz="1400" dirty="0" err="1">
                <a:ea typeface="Calibri" panose="020F0502020204030204"/>
                <a:cs typeface="Calibri" panose="020F0502020204030204"/>
              </a:rPr>
              <a:t>correlazione</a:t>
            </a:r>
            <a:r>
              <a:rPr lang="en-US" sz="1400" dirty="0">
                <a:ea typeface="Calibri" panose="020F0502020204030204"/>
                <a:cs typeface="Calibri" panose="020F0502020204030204"/>
              </a:rPr>
              <a:t> e la </a:t>
            </a:r>
            <a:r>
              <a:rPr lang="en-US" sz="1400" dirty="0" err="1">
                <a:ea typeface="Calibri" panose="020F0502020204030204"/>
                <a:cs typeface="Calibri" panose="020F0502020204030204"/>
              </a:rPr>
              <a:t>varianza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69415233-40B0-5D34-910F-03AC89829253}"/>
              </a:ext>
            </a:extLst>
          </p:cNvPr>
          <p:cNvSpPr txBox="1"/>
          <p:nvPr/>
        </p:nvSpPr>
        <p:spPr>
          <a:xfrm>
            <a:off x="151990" y="3319785"/>
            <a:ext cx="4359457" cy="1351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Robusto all’</a:t>
            </a:r>
            <a:r>
              <a:rPr lang="it-IT" sz="1400" dirty="0" err="1"/>
              <a:t>overfitting</a:t>
            </a:r>
            <a:endParaRPr lang="it-IT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Gestisce variabili continue, categoriali e dati mancanti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Forniscono una stima dell’errore di test (OOB </a:t>
            </a:r>
            <a:r>
              <a:rPr lang="it-IT" sz="1400" dirty="0" err="1"/>
              <a:t>error</a:t>
            </a:r>
            <a:r>
              <a:rPr lang="it-IT" sz="1400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Nessuna assunzione sulla distribuzione dei dati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A7AE40F0-2230-393D-113E-FA191FA978E3}"/>
              </a:ext>
            </a:extLst>
          </p:cNvPr>
          <p:cNvSpPr txBox="1"/>
          <p:nvPr/>
        </p:nvSpPr>
        <p:spPr>
          <a:xfrm>
            <a:off x="4970621" y="3319785"/>
            <a:ext cx="3562959" cy="102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Complesso da analizzare teoricamente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Difficile da interpretare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Costoso in memoria e in inferenza</a:t>
            </a:r>
          </a:p>
        </p:txBody>
      </p:sp>
      <p:cxnSp>
        <p:nvCxnSpPr>
          <p:cNvPr id="34" name="Connettore 2 33">
            <a:extLst>
              <a:ext uri="{FF2B5EF4-FFF2-40B4-BE49-F238E27FC236}">
                <a16:creationId xmlns:a16="http://schemas.microsoft.com/office/drawing/2014/main" id="{A29174C0-F434-9E67-AF61-D6442F666134}"/>
              </a:ext>
            </a:extLst>
          </p:cNvPr>
          <p:cNvCxnSpPr>
            <a:cxnSpLocks/>
          </p:cNvCxnSpPr>
          <p:nvPr/>
        </p:nvCxnSpPr>
        <p:spPr>
          <a:xfrm>
            <a:off x="4625323" y="2896800"/>
            <a:ext cx="7227" cy="2120997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6" name="Connettore 2 35">
            <a:extLst>
              <a:ext uri="{FF2B5EF4-FFF2-40B4-BE49-F238E27FC236}">
                <a16:creationId xmlns:a16="http://schemas.microsoft.com/office/drawing/2014/main" id="{3A5EFF77-74AD-DC2D-859E-94A1B39FE0B0}"/>
              </a:ext>
            </a:extLst>
          </p:cNvPr>
          <p:cNvCxnSpPr>
            <a:cxnSpLocks/>
          </p:cNvCxnSpPr>
          <p:nvPr/>
        </p:nvCxnSpPr>
        <p:spPr>
          <a:xfrm>
            <a:off x="835677" y="2788812"/>
            <a:ext cx="7412090" cy="0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5A269-B631-7B35-83D5-E5717DDA2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D24E4E5C-CB25-A9F7-7CDC-7299B1569750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Contesto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: Variable Importance</a:t>
            </a:r>
            <a:endParaRPr lang="it-IT" sz="28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8607534-A078-BC36-A076-6882E4FFC474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3/5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D869F9BE-6285-BEA5-D07F-08AEDEE889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4EFD1FFB-260E-6EC7-EBC5-8E3EEBC1EFB0}"/>
              </a:ext>
            </a:extLst>
          </p:cNvPr>
          <p:cNvSpPr txBox="1"/>
          <p:nvPr/>
        </p:nvSpPr>
        <p:spPr>
          <a:xfrm>
            <a:off x="181758" y="754500"/>
            <a:ext cx="89017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È la misura del contributo specifico di ciascun predittore nel determinare il risultato della variabile target. Identifica quali fattori guidano maggiormente le previsioni del modello.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C2C63364-FDDE-5B59-26DB-5496F4D2D184}"/>
              </a:ext>
            </a:extLst>
          </p:cNvPr>
          <p:cNvSpPr/>
          <p:nvPr/>
        </p:nvSpPr>
        <p:spPr>
          <a:xfrm>
            <a:off x="289493" y="1710722"/>
            <a:ext cx="28167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MDI — Mean Decrease Impurity</a:t>
            </a:r>
            <a:endParaRPr lang="en-US" sz="1600" dirty="0"/>
          </a:p>
        </p:txBody>
      </p:sp>
      <p:sp>
        <p:nvSpPr>
          <p:cNvPr id="6" name="Text 15">
            <a:extLst>
              <a:ext uri="{FF2B5EF4-FFF2-40B4-BE49-F238E27FC236}">
                <a16:creationId xmlns:a16="http://schemas.microsoft.com/office/drawing/2014/main" id="{35E1AF7E-F757-514F-1970-E99A5137F52A}"/>
              </a:ext>
            </a:extLst>
          </p:cNvPr>
          <p:cNvSpPr/>
          <p:nvPr/>
        </p:nvSpPr>
        <p:spPr>
          <a:xfrm>
            <a:off x="4510973" y="1712703"/>
            <a:ext cx="2816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MDA — Mean Decrease Accuracy</a:t>
            </a:r>
            <a:endParaRPr lang="en-US" sz="1600" dirty="0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D6CE5142-2088-38F4-3BFF-D7369EE74EE4}"/>
              </a:ext>
            </a:extLst>
          </p:cNvPr>
          <p:cNvCxnSpPr>
            <a:cxnSpLocks/>
          </p:cNvCxnSpPr>
          <p:nvPr/>
        </p:nvCxnSpPr>
        <p:spPr>
          <a:xfrm>
            <a:off x="4438170" y="1653187"/>
            <a:ext cx="7227" cy="3389797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1" name="Text 4">
            <a:extLst>
              <a:ext uri="{FF2B5EF4-FFF2-40B4-BE49-F238E27FC236}">
                <a16:creationId xmlns:a16="http://schemas.microsoft.com/office/drawing/2014/main" id="{C519DB50-9463-DF92-CCE4-9AC653350AED}"/>
              </a:ext>
            </a:extLst>
          </p:cNvPr>
          <p:cNvSpPr/>
          <p:nvPr/>
        </p:nvSpPr>
        <p:spPr>
          <a:xfrm>
            <a:off x="289493" y="1984230"/>
            <a:ext cx="8558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(Gini Importance)</a:t>
            </a:r>
            <a:endParaRPr lang="en-US" sz="950" dirty="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E945EFF0-CBBD-A2CA-D2DB-4BBE6DC4736C}"/>
              </a:ext>
            </a:extLst>
          </p:cNvPr>
          <p:cNvSpPr/>
          <p:nvPr/>
        </p:nvSpPr>
        <p:spPr>
          <a:xfrm>
            <a:off x="4510973" y="1966948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(Permutation Importance)</a:t>
            </a:r>
            <a:endParaRPr lang="en-US" sz="95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7D4EC59C-FC1E-BFAD-FD7E-51F4C610760C}"/>
              </a:ext>
            </a:extLst>
          </p:cNvPr>
          <p:cNvSpPr/>
          <p:nvPr/>
        </p:nvSpPr>
        <p:spPr>
          <a:xfrm>
            <a:off x="289493" y="2117910"/>
            <a:ext cx="4105317" cy="778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 quanto ogni variabile contribuisce a ridurre l'impurezza </a:t>
            </a:r>
            <a:r>
              <a:rPr lang="it-IT" sz="1000" dirty="0"/>
              <a:t>all'interno dei nodi degli alberi. Per ogni variabile usata per uno split, si calcola di quanto diminuisce l'impurezza tra il nodo padre e i nodi figli. </a:t>
            </a:r>
          </a:p>
          <a:p>
            <a:r>
              <a:rPr lang="it-IT" sz="1000" dirty="0"/>
              <a:t>Questo valore viene sommato e mediato su tutti gli alberi della foresta.</a:t>
            </a:r>
            <a:endParaRPr lang="en-US" sz="1000" dirty="0"/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558A8865-7A16-75B2-7428-91F233491AF3}"/>
              </a:ext>
            </a:extLst>
          </p:cNvPr>
          <p:cNvSpPr/>
          <p:nvPr/>
        </p:nvSpPr>
        <p:spPr>
          <a:xfrm>
            <a:off x="289493" y="2896406"/>
            <a:ext cx="4069080" cy="666647"/>
          </a:xfrm>
          <a:prstGeom prst="rect">
            <a:avLst/>
          </a:prstGeom>
          <a:solidFill>
            <a:srgbClr val="EEF2FA"/>
          </a:solidFill>
          <a:ln w="6350">
            <a:solidFill>
              <a:srgbClr val="BDD0F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624253CA-2332-1D65-BD39-DDC38C15CD2A}"/>
                  </a:ext>
                </a:extLst>
              </p:cNvPr>
              <p:cNvSpPr txBox="1"/>
              <p:nvPr/>
            </p:nvSpPr>
            <p:spPr>
              <a:xfrm>
                <a:off x="289493" y="2883867"/>
                <a:ext cx="3862684" cy="6917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200" i="1" smtClean="0">
                          <a:latin typeface="Cambria Math" panose="02040503050406030204" pitchFamily="18" charset="0"/>
                        </a:rPr>
                        <m:t>𝑀𝐷𝐼</m:t>
                      </m:r>
                      <m:d>
                        <m:dPr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it-IT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1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it-IT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it-IT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it-IT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  <m:d>
                                    <m:dPr>
                                      <m:ctrlPr>
                                        <a:rPr lang="it-IT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it-IT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</m:eqAr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it-IT" sz="120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it-IT" sz="1200" i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d>
                                <m:d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it-IT" sz="1200" dirty="0"/>
              </a:p>
            </p:txBody>
          </p:sp>
        </mc:Choice>
        <mc:Fallback xmlns=""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624253CA-2332-1D65-BD39-DDC38C15CD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493" y="2883867"/>
                <a:ext cx="3862684" cy="691728"/>
              </a:xfrm>
              <a:prstGeom prst="rect">
                <a:avLst/>
              </a:prstGeom>
              <a:blipFill>
                <a:blip r:embed="rId4"/>
                <a:stretch>
                  <a:fillRect t="-90351" b="-10526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Shape 6">
            <a:extLst>
              <a:ext uri="{FF2B5EF4-FFF2-40B4-BE49-F238E27FC236}">
                <a16:creationId xmlns:a16="http://schemas.microsoft.com/office/drawing/2014/main" id="{AED1F80B-DB4E-E96F-22B4-19D92986FEE0}"/>
              </a:ext>
            </a:extLst>
          </p:cNvPr>
          <p:cNvSpPr/>
          <p:nvPr/>
        </p:nvSpPr>
        <p:spPr>
          <a:xfrm>
            <a:off x="4510973" y="2896406"/>
            <a:ext cx="4069080" cy="666647"/>
          </a:xfrm>
          <a:prstGeom prst="rect">
            <a:avLst/>
          </a:prstGeom>
          <a:solidFill>
            <a:srgbClr val="EEF2FA"/>
          </a:solidFill>
          <a:ln w="6350">
            <a:solidFill>
              <a:srgbClr val="BDD0F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asellaDiTesto 29">
                <a:extLst>
                  <a:ext uri="{FF2B5EF4-FFF2-40B4-BE49-F238E27FC236}">
                    <a16:creationId xmlns:a16="http://schemas.microsoft.com/office/drawing/2014/main" id="{BE154114-007B-B095-43EB-7806791B4602}"/>
                  </a:ext>
                </a:extLst>
              </p:cNvPr>
              <p:cNvSpPr txBox="1"/>
              <p:nvPr/>
            </p:nvSpPr>
            <p:spPr>
              <a:xfrm>
                <a:off x="4524994" y="2910820"/>
                <a:ext cx="4039636" cy="6116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200" i="1" smtClean="0">
                          <a:latin typeface="Cambria Math" panose="02040503050406030204" pitchFamily="18" charset="0"/>
                        </a:rPr>
                        <m:t>𝑀𝐷𝐴</m:t>
                      </m:r>
                      <m:d>
                        <m:dPr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it-IT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1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it-IT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d>
                            <m:dPr>
                              <m:ctrlPr>
                                <a:rPr lang="it-IT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𝐴𝑐</m:t>
                              </m:r>
                              <m:sSubSup>
                                <m:sSubSup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𝑂𝑂𝐵</m:t>
                                  </m:r>
                                </m:sup>
                              </m:sSubSup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𝐴𝑐</m:t>
                              </m:r>
                              <m:sSubSup>
                                <m:sSubSup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𝑂𝑂𝐵</m:t>
                                  </m:r>
                                </m:sup>
                              </m:sSubSup>
                            </m:e>
                          </m:d>
                        </m:e>
                      </m:nary>
                    </m:oMath>
                  </m:oMathPara>
                </a14:m>
                <a:endParaRPr lang="it-IT" sz="1200" dirty="0"/>
              </a:p>
            </p:txBody>
          </p:sp>
        </mc:Choice>
        <mc:Fallback xmlns="">
          <p:sp>
            <p:nvSpPr>
              <p:cNvPr id="30" name="CasellaDiTesto 29">
                <a:extLst>
                  <a:ext uri="{FF2B5EF4-FFF2-40B4-BE49-F238E27FC236}">
                    <a16:creationId xmlns:a16="http://schemas.microsoft.com/office/drawing/2014/main" id="{BE154114-007B-B095-43EB-7806791B4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994" y="2910820"/>
                <a:ext cx="4039636" cy="61164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 5">
            <a:extLst>
              <a:ext uri="{FF2B5EF4-FFF2-40B4-BE49-F238E27FC236}">
                <a16:creationId xmlns:a16="http://schemas.microsoft.com/office/drawing/2014/main" id="{A957CEBE-C14B-BF95-067F-2F4218231B43}"/>
              </a:ext>
            </a:extLst>
          </p:cNvPr>
          <p:cNvSpPr/>
          <p:nvPr/>
        </p:nvSpPr>
        <p:spPr>
          <a:xfrm>
            <a:off x="4524994" y="2126719"/>
            <a:ext cx="4105317" cy="778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000" dirty="0"/>
              <a:t>Misura l'importanza di una variabile osservando quanto peggiora l’accuratezza del modello se i suoi valori Out-of-Bag (OOB) vengono mescolati casualmente.</a:t>
            </a:r>
          </a:p>
          <a:p>
            <a:r>
              <a:rPr lang="it-IT" sz="1000" dirty="0"/>
              <a:t>Se l'accuratezza crolla, la variabile è fondamentale; se rimane invariata, la variabile è trascurabile.</a:t>
            </a:r>
            <a:endParaRPr lang="en-US" sz="1000" dirty="0"/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E7FFCB67-5622-A350-F5DC-C797E8391F48}"/>
              </a:ext>
            </a:extLst>
          </p:cNvPr>
          <p:cNvSpPr/>
          <p:nvPr/>
        </p:nvSpPr>
        <p:spPr>
          <a:xfrm>
            <a:off x="289493" y="3638431"/>
            <a:ext cx="417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Vantaggi</a:t>
            </a:r>
            <a:endParaRPr lang="en-US" sz="1000" dirty="0"/>
          </a:p>
        </p:txBody>
      </p:sp>
      <p:sp>
        <p:nvSpPr>
          <p:cNvPr id="37" name="Text 10">
            <a:extLst>
              <a:ext uri="{FF2B5EF4-FFF2-40B4-BE49-F238E27FC236}">
                <a16:creationId xmlns:a16="http://schemas.microsoft.com/office/drawing/2014/main" id="{52C49751-4617-F061-01EB-B06F3F03CECB}"/>
              </a:ext>
            </a:extLst>
          </p:cNvPr>
          <p:cNvSpPr/>
          <p:nvPr/>
        </p:nvSpPr>
        <p:spPr>
          <a:xfrm>
            <a:off x="426653" y="3867031"/>
            <a:ext cx="40315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Calcolata a costo zero durante il training, non richiede dati aggiuntivi.</a:t>
            </a:r>
            <a:endParaRPr lang="en-US" sz="950" dirty="0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FA81110F-7C2E-F516-5633-DE1674349ED0}"/>
              </a:ext>
            </a:extLst>
          </p:cNvPr>
          <p:cNvSpPr/>
          <p:nvPr/>
        </p:nvSpPr>
        <p:spPr>
          <a:xfrm>
            <a:off x="289493" y="4095631"/>
            <a:ext cx="417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Problema fondamentale</a:t>
            </a:r>
            <a:endParaRPr lang="en-US" sz="1000" dirty="0"/>
          </a:p>
        </p:txBody>
      </p:sp>
      <p:sp>
        <p:nvSpPr>
          <p:cNvPr id="39" name="Text 12">
            <a:extLst>
              <a:ext uri="{FF2B5EF4-FFF2-40B4-BE49-F238E27FC236}">
                <a16:creationId xmlns:a16="http://schemas.microsoft.com/office/drawing/2014/main" id="{DF3383FA-F3CE-82E0-E9BF-B89BB0B388E4}"/>
              </a:ext>
            </a:extLst>
          </p:cNvPr>
          <p:cNvSpPr/>
          <p:nvPr/>
        </p:nvSpPr>
        <p:spPr>
          <a:xfrm>
            <a:off x="426653" y="4324231"/>
            <a:ext cx="4031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sistematico verso variabili ad </a:t>
            </a:r>
            <a:r>
              <a:rPr lang="en-US" sz="95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cardinalità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E[MDI(Xⱼ)] &gt; 0 anche se Xⱼ ⊥ Y.</a:t>
            </a:r>
            <a:endParaRPr lang="en-US" sz="950" dirty="0"/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819D0759-0BC4-42B9-9FD6-7626B6BBD1BF}"/>
              </a:ext>
            </a:extLst>
          </p:cNvPr>
          <p:cNvSpPr/>
          <p:nvPr/>
        </p:nvSpPr>
        <p:spPr>
          <a:xfrm>
            <a:off x="426653" y="4571119"/>
            <a:ext cx="4031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bias cresce col numero di valori distinti, indipendentemente dalla rilevanza reale.</a:t>
            </a:r>
            <a:endParaRPr lang="en-US" sz="950" dirty="0"/>
          </a:p>
        </p:txBody>
      </p:sp>
      <p:sp>
        <p:nvSpPr>
          <p:cNvPr id="41" name="Text 25">
            <a:extLst>
              <a:ext uri="{FF2B5EF4-FFF2-40B4-BE49-F238E27FC236}">
                <a16:creationId xmlns:a16="http://schemas.microsoft.com/office/drawing/2014/main" id="{F0F92313-55B6-7E05-739A-1A0B98C70729}"/>
              </a:ext>
            </a:extLst>
          </p:cNvPr>
          <p:cNvSpPr/>
          <p:nvPr/>
        </p:nvSpPr>
        <p:spPr>
          <a:xfrm>
            <a:off x="4524994" y="3736467"/>
            <a:ext cx="4069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Meno sensibile alla cardinalità rispetto alla MDI</a:t>
            </a:r>
            <a:endParaRPr lang="en-US" sz="950" dirty="0"/>
          </a:p>
        </p:txBody>
      </p:sp>
      <p:sp>
        <p:nvSpPr>
          <p:cNvPr id="42" name="Text 26">
            <a:extLst>
              <a:ext uri="{FF2B5EF4-FFF2-40B4-BE49-F238E27FC236}">
                <a16:creationId xmlns:a16="http://schemas.microsoft.com/office/drawing/2014/main" id="{C0DEEE7F-04B6-AE7D-7E9A-8E0D061FE21E}"/>
              </a:ext>
            </a:extLst>
          </p:cNvPr>
          <p:cNvSpPr/>
          <p:nvPr/>
        </p:nvSpPr>
        <p:spPr>
          <a:xfrm>
            <a:off x="4524994" y="3974211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000" b="1" dirty="0" err="1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Limitazioni</a:t>
            </a:r>
            <a:endParaRPr lang="en-US" sz="1000" dirty="0"/>
          </a:p>
        </p:txBody>
      </p:sp>
      <p:sp>
        <p:nvSpPr>
          <p:cNvPr id="43" name="Text 27">
            <a:extLst>
              <a:ext uri="{FF2B5EF4-FFF2-40B4-BE49-F238E27FC236}">
                <a16:creationId xmlns:a16="http://schemas.microsoft.com/office/drawing/2014/main" id="{0C595636-99DD-8272-BA2B-4B597FA8E4D6}"/>
              </a:ext>
            </a:extLst>
          </p:cNvPr>
          <p:cNvSpPr/>
          <p:nvPr/>
        </p:nvSpPr>
        <p:spPr>
          <a:xfrm>
            <a:off x="4662153" y="4193667"/>
            <a:ext cx="40098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variabili correlate </a:t>
            </a:r>
            <a:r>
              <a:rPr lang="en-US" sz="95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distribuisce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l’importanza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arbitrariamente tra variabili simili.</a:t>
            </a:r>
            <a:endParaRPr lang="en-US" sz="950" dirty="0"/>
          </a:p>
        </p:txBody>
      </p:sp>
      <p:sp>
        <p:nvSpPr>
          <p:cNvPr id="44" name="Text 28">
            <a:extLst>
              <a:ext uri="{FF2B5EF4-FFF2-40B4-BE49-F238E27FC236}">
                <a16:creationId xmlns:a16="http://schemas.microsoft.com/office/drawing/2014/main" id="{07C68074-6E71-129C-4342-B1FEE9EFE9B4}"/>
              </a:ext>
            </a:extLst>
          </p:cNvPr>
          <p:cNvSpPr/>
          <p:nvPr/>
        </p:nvSpPr>
        <p:spPr>
          <a:xfrm>
            <a:off x="4658677" y="4399805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più lento da calcolare.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431209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EA1AD-4C9A-1BF0-035D-46B80869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29">
            <a:extLst>
              <a:ext uri="{FF2B5EF4-FFF2-40B4-BE49-F238E27FC236}">
                <a16:creationId xmlns:a16="http://schemas.microsoft.com/office/drawing/2014/main" id="{16277178-7293-3369-D132-C1E9CCC46BC4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5/5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E58DD92B-B830-7CCD-A258-69209AE790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70FAACB5-2DD5-4EF5-22ED-C0F387F9F02D}"/>
              </a:ext>
            </a:extLst>
          </p:cNvPr>
          <p:cNvSpPr/>
          <p:nvPr/>
        </p:nvSpPr>
        <p:spPr>
          <a:xfrm>
            <a:off x="3617397" y="209461"/>
            <a:ext cx="190920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References</a:t>
            </a:r>
            <a:endParaRPr lang="en-US" sz="3200" b="1" dirty="0">
              <a:solidFill>
                <a:srgbClr val="1B3D7D"/>
              </a:solidFill>
              <a:ea typeface="Calibri"/>
              <a:cs typeface="Calibri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298D74-F56D-5BC1-408F-ED87B18157FA}"/>
              </a:ext>
            </a:extLst>
          </p:cNvPr>
          <p:cNvSpPr txBox="1"/>
          <p:nvPr/>
        </p:nvSpPr>
        <p:spPr>
          <a:xfrm>
            <a:off x="361637" y="2254207"/>
            <a:ext cx="8559999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A Tutorial on Kernel </a:t>
            </a:r>
            <a:r>
              <a:rPr lang="it-IT" sz="2000" dirty="0" err="1">
                <a:ea typeface="Calibri"/>
                <a:cs typeface="Calibri"/>
              </a:rPr>
              <a:t>Density</a:t>
            </a:r>
            <a:r>
              <a:rPr lang="it-IT" sz="2000" dirty="0">
                <a:ea typeface="Calibri"/>
                <a:cs typeface="Calibri"/>
              </a:rPr>
              <a:t> </a:t>
            </a:r>
            <a:r>
              <a:rPr lang="it-IT" sz="2000" dirty="0" err="1">
                <a:ea typeface="Calibri"/>
                <a:cs typeface="Calibri"/>
              </a:rPr>
              <a:t>Estimation</a:t>
            </a:r>
            <a:r>
              <a:rPr lang="it-IT" sz="2000" dirty="0">
                <a:ea typeface="Calibri"/>
                <a:cs typeface="Calibri"/>
              </a:rPr>
              <a:t> and </a:t>
            </a:r>
            <a:r>
              <a:rPr lang="it-IT" sz="2000" dirty="0" err="1">
                <a:ea typeface="Calibri"/>
                <a:cs typeface="Calibri"/>
              </a:rPr>
              <a:t>Recent</a:t>
            </a:r>
            <a:r>
              <a:rPr lang="it-IT" sz="2000" dirty="0">
                <a:ea typeface="Calibri"/>
                <a:cs typeface="Calibri"/>
              </a:rPr>
              <a:t> </a:t>
            </a:r>
            <a:r>
              <a:rPr lang="it-IT" sz="2000" dirty="0" err="1">
                <a:ea typeface="Calibri"/>
                <a:cs typeface="Calibri"/>
              </a:rPr>
              <a:t>Advances</a:t>
            </a:r>
            <a:r>
              <a:rPr lang="it-IT" sz="2000" dirty="0">
                <a:ea typeface="Calibri"/>
                <a:cs typeface="Calibri"/>
              </a:rPr>
              <a:t> (Yen-Chi Chen)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Kernel </a:t>
            </a:r>
            <a:r>
              <a:rPr lang="it-IT" sz="2000" dirty="0" err="1">
                <a:ea typeface="Calibri"/>
                <a:cs typeface="Calibri"/>
              </a:rPr>
              <a:t>Density</a:t>
            </a:r>
            <a:r>
              <a:rPr lang="it-IT" sz="2000" dirty="0">
                <a:ea typeface="Calibri"/>
                <a:cs typeface="Calibri"/>
              </a:rPr>
              <a:t> Estimator </a:t>
            </a:r>
            <a:r>
              <a:rPr lang="it-IT" sz="2000" dirty="0" err="1">
                <a:ea typeface="Calibri"/>
                <a:cs typeface="Calibri"/>
              </a:rPr>
              <a:t>explained</a:t>
            </a:r>
            <a:r>
              <a:rPr lang="it-IT" sz="2000" dirty="0">
                <a:ea typeface="Calibri"/>
                <a:cs typeface="Calibri"/>
              </a:rPr>
              <a:t> step by step (Medium.com)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Claude per aiuto sul codice</a:t>
            </a:r>
          </a:p>
        </p:txBody>
      </p:sp>
    </p:spTree>
    <p:extLst>
      <p:ext uri="{BB962C8B-B14F-4D97-AF65-F5344CB8AC3E}">
        <p14:creationId xmlns:p14="http://schemas.microsoft.com/office/powerpoint/2010/main" val="102858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Il bias della MDI: perché favorisce alta cardinalità</a:t>
            </a:r>
          </a:p>
        </p:txBody>
      </p:sp>
      <p:sp>
        <p:nvSpPr>
          <p:cNvPr id="10" name="BiasBg0"/>
          <p:cNvSpPr/>
          <p:nvPr/>
        </p:nvSpPr>
        <p:spPr>
          <a:xfrm>
            <a:off x="182000" y="840000"/>
            <a:ext cx="8780000" cy="168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BiasStrip0"/>
          <p:cNvSpPr/>
          <p:nvPr/>
        </p:nvSpPr>
        <p:spPr>
          <a:xfrm>
            <a:off x="182000" y="840000"/>
            <a:ext cx="480000" cy="168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BiasNum0"/>
          <p:cNvSpPr/>
          <p:nvPr/>
        </p:nvSpPr>
        <p:spPr>
          <a:xfrm>
            <a:off x="182000" y="840000"/>
            <a:ext cx="480000" cy="16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5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3" name="BiasTitle0"/>
          <p:cNvSpPr/>
          <p:nvPr/>
        </p:nvSpPr>
        <p:spPr>
          <a:xfrm>
            <a:off x="702000" y="840000"/>
            <a:ext cx="82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Più valori → più opportunità di sembrare utile per caso</a:t>
            </a:r>
          </a:p>
        </p:txBody>
      </p:sp>
      <p:sp>
        <p:nvSpPr>
          <p:cNvPr id="14" name="BiasBody0"/>
          <p:cNvSpPr/>
          <p:nvPr/>
        </p:nvSpPr>
        <p:spPr>
          <a:xfrm>
            <a:off x="702000" y="1320000"/>
            <a:ext cx="826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Una variabile continua può essere tagliata in centinaia di soglie. Anche se è puro rumore,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il massimo su K tentativi cresce con K — anche se ogni tentativo ha guadagno atteso zero.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Una variabile binaria ha 1 soglia possibile. Una continua ne ha potenzialmente centinaia.</a:t>
            </a:r>
          </a:p>
        </p:txBody>
      </p:sp>
      <p:sp>
        <p:nvSpPr>
          <p:cNvPr id="18" name="BiasBg1"/>
          <p:cNvSpPr/>
          <p:nvPr/>
        </p:nvSpPr>
        <p:spPr>
          <a:xfrm>
            <a:off x="182000" y="2600000"/>
            <a:ext cx="8780000" cy="168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9" name="BiasStrip1"/>
          <p:cNvSpPr/>
          <p:nvPr/>
        </p:nvSpPr>
        <p:spPr>
          <a:xfrm>
            <a:off x="182000" y="2600000"/>
            <a:ext cx="480000" cy="168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0" name="BiasNum1"/>
          <p:cNvSpPr/>
          <p:nvPr/>
        </p:nvSpPr>
        <p:spPr>
          <a:xfrm>
            <a:off x="182000" y="2600000"/>
            <a:ext cx="480000" cy="16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5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1" name="BiasTitle1"/>
          <p:cNvSpPr/>
          <p:nvPr/>
        </p:nvSpPr>
        <p:spPr>
          <a:xfrm>
            <a:off x="702000" y="2600000"/>
            <a:ext cx="82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La selezione casuale delle variabili amplifica il problema</a:t>
            </a:r>
          </a:p>
        </p:txBody>
      </p:sp>
      <p:sp>
        <p:nvSpPr>
          <p:cNvPr id="22" name="BiasBody1"/>
          <p:cNvSpPr/>
          <p:nvPr/>
        </p:nvSpPr>
        <p:spPr>
          <a:xfrm>
            <a:off x="702000" y="3080000"/>
            <a:ext cx="826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Ad ogni split si considerano solo m = ⌊√p⌋ variabili. Una variabile ad alta cardinalità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ha più probabilità di risultare la ‘migliore’ nel sottoinsieme estratto, per puro caso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— anche senza alcun segnale reale.</a:t>
            </a:r>
          </a:p>
        </p:txBody>
      </p:sp>
      <p:sp>
        <p:nvSpPr>
          <p:cNvPr id="50" name="ConsBg"/>
          <p:cNvSpPr/>
          <p:nvPr/>
        </p:nvSpPr>
        <p:spPr>
          <a:xfrm>
            <a:off x="182000" y="4310000"/>
            <a:ext cx="8780000" cy="673500"/>
          </a:xfrm>
          <a:prstGeom prst="rect">
            <a:avLst/>
          </a:prstGeom>
          <a:solidFill>
            <a:srgbClr val="C62828"/>
          </a:solidFill>
          <a:ln w="9525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51" name="ConsTxt"/>
          <p:cNvSpPr/>
          <p:nvPr/>
        </p:nvSpPr>
        <p:spPr>
          <a:xfrm>
            <a:off x="242000" y="4310000"/>
            <a:ext cx="8660000" cy="6735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Conseguenza (Strobl et al., 2007):</a:t>
            </a:r>
          </a:p>
          <a:p>
            <a:pPr algn="l">
              <a:buNone/>
            </a:pPr>
            <a:r>
              <a:rPr lang="it-IT" sz="13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E[MDI(Xⱼ)] &gt; 0  anche se  Xⱼ ⊥ Y  —  il bias cresce al crescere dei valori distinti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Esp. 1 — Bias MDI verso variabili ad alta cardinalità</a:t>
            </a:r>
          </a:p>
        </p:txBody>
      </p:sp>
      <p:sp>
        <p:nvSpPr>
          <p:cNvPr id="10" name="SetupBg"/>
          <p:cNvSpPr/>
          <p:nvPr/>
        </p:nvSpPr>
        <p:spPr>
          <a:xfrm>
            <a:off x="182000" y="810000"/>
            <a:ext cx="8780000" cy="38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SetupTxt"/>
          <p:cNvSpPr/>
          <p:nvPr/>
        </p:nvSpPr>
        <p:spPr>
          <a:xfrm>
            <a:off x="242000" y="810000"/>
            <a:ext cx="866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n=600, Y = rumore puro, 4 predittori tutti rumore con cardinalità crescente:</a:t>
            </a:r>
          </a:p>
        </p:txBody>
      </p:sp>
      <p:sp>
        <p:nvSpPr>
          <p:cNvPr id="20" name="VC0"/>
          <p:cNvSpPr/>
          <p:nvPr/>
        </p:nvSpPr>
        <p:spPr>
          <a:xfrm>
            <a:off x="182000" y="1260000"/>
            <a:ext cx="2135000" cy="600000"/>
          </a:xfrm>
          <a:prstGeom prst="rect">
            <a:avLst/>
          </a:prstGeom>
          <a:solidFill>
            <a:srgbClr val="1B3D7D"/>
          </a:solidFill>
          <a:ln w="12700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1" name="VCTxt0"/>
          <p:cNvSpPr/>
          <p:nvPr/>
        </p:nvSpPr>
        <p:spPr>
          <a:xfrm>
            <a:off x="182000" y="1260000"/>
            <a:ext cx="2135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 bin</a:t>
            </a:r>
          </a:p>
          <a:p>
            <a:pPr algn="l">
              <a:buNone/>
            </a:pPr>
            <a:r>
              <a:rPr lang="it-IT" sz="120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(2 cat)</a:t>
            </a:r>
          </a:p>
        </p:txBody>
      </p:sp>
      <p:sp>
        <p:nvSpPr>
          <p:cNvPr id="22" name="Arr0"/>
          <p:cNvSpPr/>
          <p:nvPr/>
        </p:nvSpPr>
        <p:spPr>
          <a:xfrm>
            <a:off x="2327000" y="1260000"/>
            <a:ext cx="6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800" b="1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5" name="VC1"/>
          <p:cNvSpPr/>
          <p:nvPr/>
        </p:nvSpPr>
        <p:spPr>
          <a:xfrm>
            <a:off x="2397000" y="1260000"/>
            <a:ext cx="2135000" cy="600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" name="VCTxt1"/>
          <p:cNvSpPr/>
          <p:nvPr/>
        </p:nvSpPr>
        <p:spPr>
          <a:xfrm>
            <a:off x="2397000" y="1260000"/>
            <a:ext cx="2135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 cat5</a:t>
            </a:r>
          </a:p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(5 cat)</a:t>
            </a:r>
          </a:p>
        </p:txBody>
      </p:sp>
      <p:sp>
        <p:nvSpPr>
          <p:cNvPr id="27" name="Arr1"/>
          <p:cNvSpPr/>
          <p:nvPr/>
        </p:nvSpPr>
        <p:spPr>
          <a:xfrm>
            <a:off x="4542000" y="1260000"/>
            <a:ext cx="6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800" b="1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0" name="VC2"/>
          <p:cNvSpPr/>
          <p:nvPr/>
        </p:nvSpPr>
        <p:spPr>
          <a:xfrm>
            <a:off x="4612000" y="1260000"/>
            <a:ext cx="2135000" cy="6000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1" name="VCTxt2"/>
          <p:cNvSpPr/>
          <p:nvPr/>
        </p:nvSpPr>
        <p:spPr>
          <a:xfrm>
            <a:off x="4612000" y="1260000"/>
            <a:ext cx="2135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 cat15</a:t>
            </a:r>
          </a:p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(15 cat)</a:t>
            </a:r>
          </a:p>
        </p:txBody>
      </p:sp>
      <p:sp>
        <p:nvSpPr>
          <p:cNvPr id="32" name="Arr2"/>
          <p:cNvSpPr/>
          <p:nvPr/>
        </p:nvSpPr>
        <p:spPr>
          <a:xfrm>
            <a:off x="6757000" y="1260000"/>
            <a:ext cx="6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800" b="1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5" name="VC3"/>
          <p:cNvSpPr/>
          <p:nvPr/>
        </p:nvSpPr>
        <p:spPr>
          <a:xfrm>
            <a:off x="6827000" y="1260000"/>
            <a:ext cx="2135000" cy="60000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6" name="VCTxt3"/>
          <p:cNvSpPr/>
          <p:nvPr/>
        </p:nvSpPr>
        <p:spPr>
          <a:xfrm>
            <a:off x="6827000" y="1260000"/>
            <a:ext cx="2135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 cont</a:t>
            </a:r>
          </a:p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(continua)</a:t>
            </a:r>
          </a:p>
        </p:txBody>
      </p:sp>
      <p:sp>
        <p:nvSpPr>
          <p:cNvPr id="70" name="CapBg"/>
          <p:cNvSpPr/>
          <p:nvPr/>
        </p:nvSpPr>
        <p:spPr>
          <a:xfrm>
            <a:off x="182000" y="4733500"/>
            <a:ext cx="8780000" cy="300000"/>
          </a:xfrm>
          <a:prstGeom prst="rect">
            <a:avLst/>
          </a:prstGeom>
          <a:solidFill>
            <a:srgbClr val="EBF0F7"/>
          </a:solidFill>
          <a:ln w="9525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71" name="CapTxt"/>
          <p:cNvSpPr/>
          <p:nvPr/>
        </p:nvSpPr>
        <p:spPr>
          <a:xfrm>
            <a:off x="242000" y="4733500"/>
            <a:ext cx="86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MDI: da 6 (binaria) a 67 (continua) con Y rumore puro.  Permutation: meno distorta, ma non immune.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E0437F1-C154-1B8D-2892-15BA4A71B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235" y="1902570"/>
            <a:ext cx="7073529" cy="28309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Il problema della correlazione e l’instabilità</a:t>
            </a:r>
          </a:p>
        </p:txBody>
      </p:sp>
      <p:sp>
        <p:nvSpPr>
          <p:cNvPr id="10" name="QBg"/>
          <p:cNvSpPr/>
          <p:nvPr/>
        </p:nvSpPr>
        <p:spPr>
          <a:xfrm>
            <a:off x="182000" y="820000"/>
            <a:ext cx="8780000" cy="3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" name="QTxt"/>
          <p:cNvSpPr/>
          <p:nvPr/>
        </p:nvSpPr>
        <p:spPr>
          <a:xfrm>
            <a:off x="242000" y="820000"/>
            <a:ext cx="86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8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Cosa succede quando due predittori sono fortemente correlati?</a:t>
            </a:r>
          </a:p>
        </p:txBody>
      </p:sp>
      <p:sp>
        <p:nvSpPr>
          <p:cNvPr id="20" name="CBg0"/>
          <p:cNvSpPr/>
          <p:nvPr/>
        </p:nvSpPr>
        <p:spPr>
          <a:xfrm>
            <a:off x="182000" y="1250000"/>
            <a:ext cx="2886666" cy="820000"/>
          </a:xfrm>
          <a:prstGeom prst="rect">
            <a:avLst/>
          </a:prstGeom>
          <a:solidFill>
            <a:srgbClr val="F7FAFD"/>
          </a:solidFill>
          <a:ln w="9525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1" name="CBar0"/>
          <p:cNvSpPr/>
          <p:nvPr/>
        </p:nvSpPr>
        <p:spPr>
          <a:xfrm>
            <a:off x="182000" y="1250000"/>
            <a:ext cx="2886666" cy="18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2" name="CTxt0"/>
          <p:cNvSpPr/>
          <p:nvPr/>
        </p:nvSpPr>
        <p:spPr>
          <a:xfrm>
            <a:off x="222000" y="1300000"/>
            <a:ext cx="2806666" cy="77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Entrambe le variabili funzionano quasi ugualmente bene per uno split</a:t>
            </a:r>
          </a:p>
        </p:txBody>
      </p:sp>
      <p:sp>
        <p:nvSpPr>
          <p:cNvPr id="24" name="CBg1"/>
          <p:cNvSpPr/>
          <p:nvPr/>
        </p:nvSpPr>
        <p:spPr>
          <a:xfrm>
            <a:off x="3128666" y="1250000"/>
            <a:ext cx="2886666" cy="820000"/>
          </a:xfrm>
          <a:prstGeom prst="rect">
            <a:avLst/>
          </a:prstGeom>
          <a:solidFill>
            <a:srgbClr val="F7FAFD"/>
          </a:solidFill>
          <a:ln w="9525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5" name="CBar1"/>
          <p:cNvSpPr/>
          <p:nvPr/>
        </p:nvSpPr>
        <p:spPr>
          <a:xfrm>
            <a:off x="3128666" y="1250000"/>
            <a:ext cx="2886666" cy="18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6" name="CTxt1"/>
          <p:cNvSpPr/>
          <p:nvPr/>
        </p:nvSpPr>
        <p:spPr>
          <a:xfrm>
            <a:off x="3168666" y="1300000"/>
            <a:ext cx="2806666" cy="77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Quale ‘vince’ dipende dal bootstrap e dal sottoinsieme casuale estratto</a:t>
            </a:r>
          </a:p>
        </p:txBody>
      </p:sp>
      <p:sp>
        <p:nvSpPr>
          <p:cNvPr id="28" name="CBg2"/>
          <p:cNvSpPr/>
          <p:nvPr/>
        </p:nvSpPr>
        <p:spPr>
          <a:xfrm>
            <a:off x="6075332" y="1250000"/>
            <a:ext cx="2886666" cy="820000"/>
          </a:xfrm>
          <a:prstGeom prst="rect">
            <a:avLst/>
          </a:prstGeom>
          <a:solidFill>
            <a:srgbClr val="F7FAFD"/>
          </a:solidFill>
          <a:ln w="9525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9" name="CBar2"/>
          <p:cNvSpPr/>
          <p:nvPr/>
        </p:nvSpPr>
        <p:spPr>
          <a:xfrm>
            <a:off x="6075332" y="1250000"/>
            <a:ext cx="2886666" cy="18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0" name="CTxt2"/>
          <p:cNvSpPr/>
          <p:nvPr/>
        </p:nvSpPr>
        <p:spPr>
          <a:xfrm>
            <a:off x="6115332" y="1300000"/>
            <a:ext cx="2806666" cy="77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L’importanza viene distribuita arbitrariamente — e cambia ad ogni run</a:t>
            </a:r>
          </a:p>
        </p:txBody>
      </p:sp>
      <p:sp>
        <p:nvSpPr>
          <p:cNvPr id="40" name="PCBg"/>
          <p:cNvSpPr/>
          <p:nvPr/>
        </p:nvSpPr>
        <p:spPr>
          <a:xfrm>
            <a:off x="182000" y="2150000"/>
            <a:ext cx="8780000" cy="5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1" name="PCTxt"/>
          <p:cNvSpPr/>
          <p:nvPr/>
        </p:nvSpPr>
        <p:spPr>
          <a:xfrm>
            <a:off x="242000" y="2150000"/>
            <a:ext cx="866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3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Conseguenza pratica: correndo lo stesso RF due volte sugli stessi dati, la classifica</a:t>
            </a:r>
          </a:p>
          <a:p>
            <a:pPr algn="l">
              <a:buNone/>
            </a:pPr>
            <a:r>
              <a:rPr lang="it-IT" sz="13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può cambiare sostanzialmente. Il ‘gene più importante’ di oggi potrebbe non comparire domani.</a:t>
            </a:r>
          </a:p>
        </p:txBody>
      </p:sp>
      <p:sp>
        <p:nvSpPr>
          <p:cNvPr id="50" name="SuBg"/>
          <p:cNvSpPr/>
          <p:nvPr/>
        </p:nvSpPr>
        <p:spPr>
          <a:xfrm>
            <a:off x="182000" y="2730000"/>
            <a:ext cx="8780000" cy="22535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51" name="SuTxt"/>
          <p:cNvSpPr/>
          <p:nvPr/>
        </p:nvSpPr>
        <p:spPr>
          <a:xfrm>
            <a:off x="242000" y="2730000"/>
            <a:ext cx="8660000" cy="22535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3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 Esp. 2:</a:t>
            </a:r>
          </a:p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p=12 predittori  ·  struttura AR(1) con ρ=0.95  ·  solo X₁ è causale (β₁=0.8)  ·  n=150  ·  30 run con semi diversi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Esp. 2 — Instabilità dei ranghi MDI su 30 run</a:t>
            </a:r>
          </a:p>
        </p:txBody>
      </p:sp>
      <p:sp>
        <p:nvSpPr>
          <p:cNvPr id="20" name="StBg"/>
          <p:cNvSpPr/>
          <p:nvPr/>
        </p:nvSpPr>
        <p:spPr>
          <a:xfrm>
            <a:off x="182000" y="3200000"/>
            <a:ext cx="4350000" cy="1783500"/>
          </a:xfrm>
          <a:prstGeom prst="rect">
            <a:avLst/>
          </a:prstGeom>
          <a:solidFill>
            <a:srgbClr val="EBF0F7"/>
          </a:solidFill>
          <a:ln w="12700">
            <a:solidFill>
              <a:srgbClr val="2E7D32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1" name="StBar"/>
          <p:cNvSpPr/>
          <p:nvPr/>
        </p:nvSpPr>
        <p:spPr>
          <a:xfrm>
            <a:off x="182000" y="3200000"/>
            <a:ext cx="4350000" cy="18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2" name="StTxt"/>
          <p:cNvSpPr/>
          <p:nvPr/>
        </p:nvSpPr>
        <p:spPr>
          <a:xfrm>
            <a:off x="222000" y="3250000"/>
            <a:ext cx="4270000" cy="17335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X₁ e X₂ stabili (SD ≈ 0)</a:t>
            </a:r>
          </a:p>
          <a:p>
            <a:pPr algn="l">
              <a:buNone/>
            </a:pPr>
            <a:endParaRPr lang="it-IT" sz="1500" b="1" dirty="0">
              <a:solidFill>
                <a:srgbClr val="2E7D32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Ma X₂ stabilmente al 2° posto non è un successo:</a:t>
            </a:r>
          </a:p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un analista includerebbe sempre un predittore non causale.</a:t>
            </a:r>
          </a:p>
        </p:txBody>
      </p:sp>
      <p:sp>
        <p:nvSpPr>
          <p:cNvPr id="30" name="ChBg"/>
          <p:cNvSpPr/>
          <p:nvPr/>
        </p:nvSpPr>
        <p:spPr>
          <a:xfrm>
            <a:off x="4612000" y="3200000"/>
            <a:ext cx="4350000" cy="1783500"/>
          </a:xfrm>
          <a:prstGeom prst="rect">
            <a:avLst/>
          </a:prstGeom>
          <a:solidFill>
            <a:srgbClr val="EBF0F7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1" name="ChBar"/>
          <p:cNvSpPr/>
          <p:nvPr/>
        </p:nvSpPr>
        <p:spPr>
          <a:xfrm>
            <a:off x="4612000" y="3200000"/>
            <a:ext cx="4350000" cy="18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2" name="ChTxt"/>
          <p:cNvSpPr/>
          <p:nvPr/>
        </p:nvSpPr>
        <p:spPr>
          <a:xfrm>
            <a:off x="4652000" y="3250000"/>
            <a:ext cx="4270000" cy="17335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X₃–X₁₂ caotiche (SD elevata)</a:t>
            </a:r>
          </a:p>
          <a:p>
            <a:pPr algn="l">
              <a:buNone/>
            </a:pPr>
            <a:endParaRPr lang="it-IT" sz="1500" b="1" dirty="0">
              <a:solidFill>
                <a:srgbClr val="C62828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Selezionando le top-5, si includono variabili rumore diverse ad ogni run.</a:t>
            </a:r>
          </a:p>
          <a:p>
            <a:pPr algn="l">
              <a:buNone/>
            </a:pPr>
            <a:r>
              <a:rPr lang="it-IT" sz="1200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Non errori casuali: errori sistematici diversi ogni volta.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28105DB-8453-025C-C375-C029957D6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9706" y="780881"/>
            <a:ext cx="5044587" cy="23782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Le soluzioni: Conditional Importance e Stability Selection</a:t>
            </a:r>
          </a:p>
        </p:txBody>
      </p:sp>
      <p:sp>
        <p:nvSpPr>
          <p:cNvPr id="10" name="CIBg"/>
          <p:cNvSpPr/>
          <p:nvPr/>
        </p:nvSpPr>
        <p:spPr>
          <a:xfrm>
            <a:off x="182000" y="820000"/>
            <a:ext cx="4330000" cy="425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2A9D8F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CIHdr"/>
          <p:cNvSpPr/>
          <p:nvPr/>
        </p:nvSpPr>
        <p:spPr>
          <a:xfrm>
            <a:off x="182000" y="820000"/>
            <a:ext cx="4330000" cy="520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CIHdrTxt"/>
          <p:cNvSpPr/>
          <p:nvPr/>
        </p:nvSpPr>
        <p:spPr>
          <a:xfrm>
            <a:off x="182000" y="820000"/>
            <a:ext cx="433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Conditional Permutation Importance</a:t>
            </a:r>
          </a:p>
          <a:p>
            <a:pPr algn="l">
              <a:buNone/>
            </a:pPr>
            <a:r>
              <a:rPr lang="it-IT" sz="1200" dirty="0">
                <a:solidFill>
                  <a:srgbClr val="C8F0EC"/>
                </a:solidFill>
                <a:latin typeface="Calibri"/>
                <a:ea typeface="Calibri"/>
                <a:cs typeface="Calibri"/>
              </a:rPr>
              <a:t>Strobl et al., 2008  ·  cforest (R)</a:t>
            </a:r>
          </a:p>
        </p:txBody>
      </p:sp>
      <p:sp>
        <p:nvSpPr>
          <p:cNvPr id="13" name="CIBody"/>
          <p:cNvSpPr/>
          <p:nvPr/>
        </p:nvSpPr>
        <p:spPr>
          <a:xfrm>
            <a:off x="182000" y="1340000"/>
            <a:ext cx="4330000" cy="373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91440" rIns="91440" bIns="45720" rtlCol="0" anchor="t"/>
          <a:lstStyle/>
          <a:p>
            <a:pPr algn="l">
              <a:buNone/>
            </a:pPr>
            <a:r>
              <a:rPr lang="it-IT" sz="14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Idea: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Permuta Xⱼ solo all’interno di gruppi di osservazioni con valori simili per le variabili correlate.</a:t>
            </a:r>
          </a:p>
          <a:p>
            <a:pPr algn="l">
              <a:buNone/>
            </a:pPr>
            <a:endParaRPr lang="it-IT" sz="1300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In questo modo l’importanza riflette il contributo unico di Xⱼ, al netto delle correlate.</a:t>
            </a:r>
          </a:p>
          <a:p>
            <a:pPr algn="l">
              <a:buNone/>
            </a:pPr>
            <a:endParaRPr lang="it-IT" sz="1300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3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✓  Elimina il bias da cardinalità a livello di splitting</a:t>
            </a:r>
          </a:p>
          <a:p>
            <a:pPr algn="l">
              <a:buNone/>
            </a:pPr>
            <a:endParaRPr lang="it-IT" sz="1300" b="1" dirty="0">
              <a:solidFill>
                <a:srgbClr val="2E7D32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2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Nota:</a:t>
            </a:r>
          </a:p>
          <a:p>
            <a:pPr algn="l">
              <a:buNone/>
            </a:pPr>
            <a:r>
              <a:rPr lang="it-IT" sz="12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cforest usa conditional inference trees (non CART) — confronto tra modelli diversi.</a:t>
            </a:r>
          </a:p>
        </p:txBody>
      </p:sp>
      <p:sp>
        <p:nvSpPr>
          <p:cNvPr id="20" name="SSBg"/>
          <p:cNvSpPr/>
          <p:nvPr/>
        </p:nvSpPr>
        <p:spPr>
          <a:xfrm>
            <a:off x="4632000" y="820000"/>
            <a:ext cx="4330000" cy="425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1" name="SSHdr"/>
          <p:cNvSpPr/>
          <p:nvPr/>
        </p:nvSpPr>
        <p:spPr>
          <a:xfrm>
            <a:off x="4632000" y="820000"/>
            <a:ext cx="4330000" cy="52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2" name="SSHdrTxt"/>
          <p:cNvSpPr/>
          <p:nvPr/>
        </p:nvSpPr>
        <p:spPr>
          <a:xfrm>
            <a:off x="4632000" y="820000"/>
            <a:ext cx="433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Stability Selection</a:t>
            </a:r>
          </a:p>
          <a:p>
            <a:pPr algn="l">
              <a:buNone/>
            </a:pPr>
            <a:r>
              <a:rPr lang="it-IT" sz="120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Meinshausen &amp; Bühlmann, 2010  ·  stabs (R)</a:t>
            </a:r>
          </a:p>
        </p:txBody>
      </p:sp>
      <p:sp>
        <p:nvSpPr>
          <p:cNvPr id="23" name="SSBody"/>
          <p:cNvSpPr/>
          <p:nvPr/>
        </p:nvSpPr>
        <p:spPr>
          <a:xfrm>
            <a:off x="4632000" y="1340000"/>
            <a:ext cx="4330000" cy="373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91440" rIns="91440" bIns="45720" rtlCol="0" anchor="t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Algoritmo: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1.  Genera B=100 sotto-campioni di dimensione n/2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2.  Su ciascuno: stima percorso LASSO, registra variabili selezionate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3.  Π̂ⱼ = frazione di sotto-campioni in cui Xⱼ è selezionata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4.  Dichiara importante solo chi supera πₜℎᵣ = 0.75</a:t>
            </a:r>
          </a:p>
          <a:p>
            <a:pPr algn="l">
              <a:buNone/>
            </a:pPr>
            <a:endParaRPr lang="it-IT" sz="1300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3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✓  L’unico metodo con garanzia formale sui falsi positivi (PFER)</a:t>
            </a:r>
          </a:p>
          <a:p>
            <a:pPr algn="l">
              <a:buNone/>
            </a:pPr>
            <a:r>
              <a:rPr lang="it-IT" sz="1200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    Essenziale in contesti clinici e regolatori.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Esp. 3 — MDI vs Permutation vs Conditional Importance</a:t>
            </a:r>
          </a:p>
        </p:txBody>
      </p:sp>
      <p:sp>
        <p:nvSpPr>
          <p:cNvPr id="10" name="SetBg"/>
          <p:cNvSpPr/>
          <p:nvPr/>
        </p:nvSpPr>
        <p:spPr>
          <a:xfrm>
            <a:off x="182000" y="800000"/>
            <a:ext cx="8780000" cy="300000"/>
          </a:xfrm>
          <a:prstGeom prst="rect">
            <a:avLst/>
          </a:prstGeom>
          <a:solidFill>
            <a:srgbClr val="EBF0F7"/>
          </a:solidFill>
          <a:ln w="9525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SetTxt"/>
          <p:cNvSpPr/>
          <p:nvPr/>
        </p:nvSpPr>
        <p:spPr>
          <a:xfrm>
            <a:off x="242000" y="800000"/>
            <a:ext cx="86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3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Stessi dati AR(1) (ρ=0.95) — solo X₁ è causale. Importanze normalizzate [0,1].</a:t>
            </a:r>
          </a:p>
        </p:txBody>
      </p:sp>
      <p:sp>
        <p:nvSpPr>
          <p:cNvPr id="30" name="MBg0"/>
          <p:cNvSpPr/>
          <p:nvPr/>
        </p:nvSpPr>
        <p:spPr>
          <a:xfrm>
            <a:off x="688296" y="1379207"/>
            <a:ext cx="1876832" cy="1081566"/>
          </a:xfrm>
          <a:prstGeom prst="rect">
            <a:avLst/>
          </a:prstGeom>
          <a:solidFill>
            <a:srgbClr val="F7FAFD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1" name="MBar0"/>
          <p:cNvSpPr/>
          <p:nvPr/>
        </p:nvSpPr>
        <p:spPr>
          <a:xfrm>
            <a:off x="688296" y="1379206"/>
            <a:ext cx="1876832" cy="45719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2" name="MHdr0"/>
          <p:cNvSpPr/>
          <p:nvPr/>
        </p:nvSpPr>
        <p:spPr>
          <a:xfrm>
            <a:off x="728296" y="1409207"/>
            <a:ext cx="1824818" cy="26323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MDI</a:t>
            </a:r>
          </a:p>
        </p:txBody>
      </p:sp>
      <p:sp>
        <p:nvSpPr>
          <p:cNvPr id="33" name="MTxt0"/>
          <p:cNvSpPr/>
          <p:nvPr/>
        </p:nvSpPr>
        <p:spPr>
          <a:xfrm>
            <a:off x="654129" y="1664468"/>
            <a:ext cx="1824818" cy="7722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Distribuisce importanza su X₂ (≈0.6) e X₃–X₄ (≈0.3). Profilo ‘sfumato’.</a:t>
            </a:r>
          </a:p>
        </p:txBody>
      </p:sp>
      <p:sp>
        <p:nvSpPr>
          <p:cNvPr id="34" name="MBg1"/>
          <p:cNvSpPr/>
          <p:nvPr/>
        </p:nvSpPr>
        <p:spPr>
          <a:xfrm>
            <a:off x="676282" y="2618129"/>
            <a:ext cx="1876832" cy="1081566"/>
          </a:xfrm>
          <a:prstGeom prst="rect">
            <a:avLst/>
          </a:prstGeom>
          <a:solidFill>
            <a:srgbClr val="F7FAFD"/>
          </a:solidFill>
          <a:ln w="12700">
            <a:solidFill>
              <a:srgbClr val="E6510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5" name="MBar1"/>
          <p:cNvSpPr/>
          <p:nvPr/>
        </p:nvSpPr>
        <p:spPr>
          <a:xfrm>
            <a:off x="676282" y="2618128"/>
            <a:ext cx="1876832" cy="45719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6" name="MHdr1"/>
          <p:cNvSpPr/>
          <p:nvPr/>
        </p:nvSpPr>
        <p:spPr>
          <a:xfrm>
            <a:off x="716282" y="2648129"/>
            <a:ext cx="1824818" cy="26323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Permutation</a:t>
            </a:r>
          </a:p>
        </p:txBody>
      </p:sp>
      <p:sp>
        <p:nvSpPr>
          <p:cNvPr id="37" name="MTxt1"/>
          <p:cNvSpPr/>
          <p:nvPr/>
        </p:nvSpPr>
        <p:spPr>
          <a:xfrm>
            <a:off x="654129" y="2863284"/>
            <a:ext cx="1824818" cy="7722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Simile a MDI nelle prime posizioni, importanza residua su molte variabili lontane.</a:t>
            </a:r>
          </a:p>
        </p:txBody>
      </p:sp>
      <p:sp>
        <p:nvSpPr>
          <p:cNvPr id="38" name="MBg2"/>
          <p:cNvSpPr/>
          <p:nvPr/>
        </p:nvSpPr>
        <p:spPr>
          <a:xfrm>
            <a:off x="683735" y="3846461"/>
            <a:ext cx="1876832" cy="1081566"/>
          </a:xfrm>
          <a:prstGeom prst="rect">
            <a:avLst/>
          </a:prstGeom>
          <a:solidFill>
            <a:srgbClr val="F7FAFD"/>
          </a:solidFill>
          <a:ln w="12700">
            <a:solidFill>
              <a:srgbClr val="2E7D32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9" name="MBar2"/>
          <p:cNvSpPr/>
          <p:nvPr/>
        </p:nvSpPr>
        <p:spPr>
          <a:xfrm>
            <a:off x="664268" y="3846460"/>
            <a:ext cx="1876832" cy="45719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0" name="MHdr2"/>
          <p:cNvSpPr/>
          <p:nvPr/>
        </p:nvSpPr>
        <p:spPr>
          <a:xfrm>
            <a:off x="704268" y="3876461"/>
            <a:ext cx="1824818" cy="26323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Conditional</a:t>
            </a:r>
          </a:p>
        </p:txBody>
      </p:sp>
      <p:sp>
        <p:nvSpPr>
          <p:cNvPr id="41" name="MTxt2"/>
          <p:cNvSpPr/>
          <p:nvPr/>
        </p:nvSpPr>
        <p:spPr>
          <a:xfrm>
            <a:off x="654129" y="4093978"/>
            <a:ext cx="1824818" cy="7722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Concentra ≈0.95 su X₁. X₂ scende a ≈0.35. Tutto il resto vicino a zero. ✓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0BB09AE0-75C6-4D2C-AB45-106997B41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1493" y="1190827"/>
            <a:ext cx="5090334" cy="38576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Esp. 4 — Stability Selection con LASSO</a:t>
            </a:r>
          </a:p>
        </p:txBody>
      </p:sp>
      <p:sp>
        <p:nvSpPr>
          <p:cNvPr id="10" name="SetBg"/>
          <p:cNvSpPr/>
          <p:nvPr/>
        </p:nvSpPr>
        <p:spPr>
          <a:xfrm>
            <a:off x="182000" y="810000"/>
            <a:ext cx="8780000" cy="300000"/>
          </a:xfrm>
          <a:prstGeom prst="rect">
            <a:avLst/>
          </a:prstGeom>
          <a:solidFill>
            <a:srgbClr val="EBF0F7"/>
          </a:solidFill>
          <a:ln w="9525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SetTxt"/>
          <p:cNvSpPr/>
          <p:nvPr/>
        </p:nvSpPr>
        <p:spPr>
          <a:xfrm>
            <a:off x="242000" y="810000"/>
            <a:ext cx="86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Stessi dati AR(1)  ·  B=100 sotto-campioni  ·  πₜℎᵣ=0.75  ·  PFER=1 (Shah &amp; Samworth, 2013)</a:t>
            </a:r>
          </a:p>
        </p:txBody>
      </p:sp>
      <p:sp>
        <p:nvSpPr>
          <p:cNvPr id="30" name="Stat30"/>
          <p:cNvSpPr/>
          <p:nvPr/>
        </p:nvSpPr>
        <p:spPr>
          <a:xfrm>
            <a:off x="5702000" y="1170000"/>
            <a:ext cx="3260000" cy="186675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1" name="StatNum30"/>
          <p:cNvSpPr/>
          <p:nvPr/>
        </p:nvSpPr>
        <p:spPr>
          <a:xfrm>
            <a:off x="5702000" y="1170000"/>
            <a:ext cx="3260000" cy="1082715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0" rtlCol="0" anchor="b"/>
          <a:lstStyle/>
          <a:p>
            <a:pPr algn="l">
              <a:buNone/>
            </a:pPr>
            <a:r>
              <a:rPr lang="it-IT" sz="5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97%</a:t>
            </a:r>
          </a:p>
        </p:txBody>
      </p:sp>
      <p:sp>
        <p:nvSpPr>
          <p:cNvPr id="32" name="StatLbl30"/>
          <p:cNvSpPr/>
          <p:nvPr/>
        </p:nvSpPr>
        <p:spPr>
          <a:xfrm>
            <a:off x="5702000" y="2252715"/>
            <a:ext cx="3260000" cy="784035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prob. selezione di X₁
(la variabile causale)</a:t>
            </a:r>
          </a:p>
        </p:txBody>
      </p:sp>
      <p:sp>
        <p:nvSpPr>
          <p:cNvPr id="35" name="Stat35"/>
          <p:cNvSpPr/>
          <p:nvPr/>
        </p:nvSpPr>
        <p:spPr>
          <a:xfrm>
            <a:off x="5702000" y="3116750"/>
            <a:ext cx="3260000" cy="186675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6" name="StatNum35"/>
          <p:cNvSpPr/>
          <p:nvPr/>
        </p:nvSpPr>
        <p:spPr>
          <a:xfrm>
            <a:off x="5702000" y="3116750"/>
            <a:ext cx="3260000" cy="1082715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0" rtlCol="0" anchor="b"/>
          <a:lstStyle/>
          <a:p>
            <a:pPr algn="l">
              <a:buNone/>
            </a:pPr>
            <a:r>
              <a:rPr lang="it-IT"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&lt; 35%</a:t>
            </a:r>
          </a:p>
        </p:txBody>
      </p:sp>
      <p:sp>
        <p:nvSpPr>
          <p:cNvPr id="37" name="StatLbl35"/>
          <p:cNvSpPr/>
          <p:nvPr/>
        </p:nvSpPr>
        <p:spPr>
          <a:xfrm>
            <a:off x="5702000" y="4199465"/>
            <a:ext cx="3260000" cy="784035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tutte le variabili non causali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F3FB708-1415-0093-E52E-7178F4317A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73141"/>
            <a:ext cx="5627657" cy="212496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Esp. 5 — Precision e Recall su 40 run indipendenti</a:t>
            </a:r>
          </a:p>
        </p:txBody>
      </p:sp>
      <p:sp>
        <p:nvSpPr>
          <p:cNvPr id="10" name="SetBg"/>
          <p:cNvSpPr/>
          <p:nvPr/>
        </p:nvSpPr>
        <p:spPr>
          <a:xfrm>
            <a:off x="182000" y="810000"/>
            <a:ext cx="8780000" cy="300000"/>
          </a:xfrm>
          <a:prstGeom prst="rect">
            <a:avLst/>
          </a:prstGeom>
          <a:solidFill>
            <a:srgbClr val="EBF0F7"/>
          </a:solidFill>
          <a:ln w="9525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SetTxt"/>
          <p:cNvSpPr/>
          <p:nvPr/>
        </p:nvSpPr>
        <p:spPr>
          <a:xfrm>
            <a:off x="242000" y="810000"/>
            <a:ext cx="86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p=30 predittori, 3 causali  ·  ρᵢⁿₜᵣₐ=0.80, ρᵢⁿₜᵉᵣ=0.30  ·  β=1  ·  n=100</a:t>
            </a:r>
          </a:p>
        </p:txBody>
      </p:sp>
      <p:sp>
        <p:nvSpPr>
          <p:cNvPr id="30" name="M1Bg"/>
          <p:cNvSpPr/>
          <p:nvPr/>
        </p:nvSpPr>
        <p:spPr>
          <a:xfrm>
            <a:off x="242000" y="1674518"/>
            <a:ext cx="3738451" cy="1249000"/>
          </a:xfrm>
          <a:prstGeom prst="rect">
            <a:avLst/>
          </a:prstGeom>
          <a:solidFill>
            <a:srgbClr val="F7FAFD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1" name="M1Bar"/>
          <p:cNvSpPr/>
          <p:nvPr/>
        </p:nvSpPr>
        <p:spPr>
          <a:xfrm>
            <a:off x="242000" y="1674517"/>
            <a:ext cx="3738451" cy="45719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2" name="M1Hdr"/>
          <p:cNvSpPr/>
          <p:nvPr/>
        </p:nvSpPr>
        <p:spPr>
          <a:xfrm>
            <a:off x="282000" y="1714518"/>
            <a:ext cx="3669698" cy="30950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MDI — SD = 0</a:t>
            </a:r>
          </a:p>
        </p:txBody>
      </p:sp>
      <p:sp>
        <p:nvSpPr>
          <p:cNvPr id="33" name="M1Txt"/>
          <p:cNvSpPr/>
          <p:nvPr/>
        </p:nvSpPr>
        <p:spPr>
          <a:xfrm>
            <a:off x="282000" y="2114518"/>
            <a:ext cx="3669698" cy="86619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Non è instabile: è sistematicamente bloccata sulla selezione sbagliata.</a:t>
            </a:r>
          </a:p>
          <a:p>
            <a:pPr algn="l">
              <a:buNone/>
            </a:pPr>
            <a:r>
              <a:rPr lang="it-IT" sz="12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Bias sistematico, non casuale.</a:t>
            </a:r>
          </a:p>
        </p:txBody>
      </p:sp>
      <p:sp>
        <p:nvSpPr>
          <p:cNvPr id="40" name="M2Bg"/>
          <p:cNvSpPr/>
          <p:nvPr/>
        </p:nvSpPr>
        <p:spPr>
          <a:xfrm>
            <a:off x="182000" y="3377547"/>
            <a:ext cx="3738451" cy="1249000"/>
          </a:xfrm>
          <a:prstGeom prst="rect">
            <a:avLst/>
          </a:prstGeom>
          <a:solidFill>
            <a:srgbClr val="F7FAFD"/>
          </a:solidFill>
          <a:ln w="12700">
            <a:solidFill>
              <a:srgbClr val="2A9D8F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41" name="M2Bar"/>
          <p:cNvSpPr/>
          <p:nvPr/>
        </p:nvSpPr>
        <p:spPr>
          <a:xfrm>
            <a:off x="182000" y="3377546"/>
            <a:ext cx="3738451" cy="45719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2" name="M2Hdr"/>
          <p:cNvSpPr/>
          <p:nvPr/>
        </p:nvSpPr>
        <p:spPr>
          <a:xfrm>
            <a:off x="222000" y="3417547"/>
            <a:ext cx="3669698" cy="30950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Permutation — mediana ~75%</a:t>
            </a:r>
          </a:p>
        </p:txBody>
      </p:sp>
      <p:sp>
        <p:nvSpPr>
          <p:cNvPr id="43" name="M2Txt"/>
          <p:cNvSpPr/>
          <p:nvPr/>
        </p:nvSpPr>
        <p:spPr>
          <a:xfrm>
            <a:off x="222000" y="3817547"/>
            <a:ext cx="3669698" cy="86619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Meno distorta: in molti run trova tutte e 3 le causali (100%).</a:t>
            </a:r>
          </a:p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Con variabilità residua (SD=0.146).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67D5439-7D5F-E038-7ED1-CB69EAEB7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687" y="2024019"/>
            <a:ext cx="5068313" cy="22860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Esp. 7 — Effetto del rapporto n/p sulla selezione</a:t>
            </a:r>
          </a:p>
        </p:txBody>
      </p:sp>
      <p:sp>
        <p:nvSpPr>
          <p:cNvPr id="10" name="SetBg"/>
          <p:cNvSpPr/>
          <p:nvPr/>
        </p:nvSpPr>
        <p:spPr>
          <a:xfrm>
            <a:off x="182000" y="810000"/>
            <a:ext cx="8780000" cy="300000"/>
          </a:xfrm>
          <a:prstGeom prst="rect">
            <a:avLst/>
          </a:prstGeom>
          <a:solidFill>
            <a:srgbClr val="EBF0F7"/>
          </a:solidFill>
          <a:ln w="9525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SetTxt"/>
          <p:cNvSpPr/>
          <p:nvPr/>
        </p:nvSpPr>
        <p:spPr>
          <a:xfrm>
            <a:off x="242000" y="810000"/>
            <a:ext cx="86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p=15  ·  AR(1) ρ=0.70  ·  3 causali  ·  β=2  ·  n da 50 a 1500  ·  50 run ciascuno</a:t>
            </a:r>
          </a:p>
        </p:txBody>
      </p:sp>
      <p:sp>
        <p:nvSpPr>
          <p:cNvPr id="30" name="Stat30"/>
          <p:cNvSpPr/>
          <p:nvPr/>
        </p:nvSpPr>
        <p:spPr>
          <a:xfrm>
            <a:off x="5702000" y="1170000"/>
            <a:ext cx="3260000" cy="1217833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1" name="StatNum30"/>
          <p:cNvSpPr/>
          <p:nvPr/>
        </p:nvSpPr>
        <p:spPr>
          <a:xfrm>
            <a:off x="5702000" y="1170000"/>
            <a:ext cx="3260000" cy="706343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0" rtlCol="0" anchor="b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 pp</a:t>
            </a:r>
          </a:p>
        </p:txBody>
      </p:sp>
      <p:sp>
        <p:nvSpPr>
          <p:cNvPr id="32" name="StatLbl30"/>
          <p:cNvSpPr/>
          <p:nvPr/>
        </p:nvSpPr>
        <p:spPr>
          <a:xfrm>
            <a:off x="5702000" y="1876343"/>
            <a:ext cx="3260000" cy="511489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divario a n=50
(MDI ~63%, Perm ~80%)</a:t>
            </a:r>
          </a:p>
        </p:txBody>
      </p:sp>
      <p:sp>
        <p:nvSpPr>
          <p:cNvPr id="35" name="Stat35"/>
          <p:cNvSpPr/>
          <p:nvPr/>
        </p:nvSpPr>
        <p:spPr>
          <a:xfrm>
            <a:off x="5702000" y="2467833"/>
            <a:ext cx="3260000" cy="1217833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6" name="StatNum35"/>
          <p:cNvSpPr/>
          <p:nvPr/>
        </p:nvSpPr>
        <p:spPr>
          <a:xfrm>
            <a:off x="5702000" y="2467833"/>
            <a:ext cx="3260000" cy="706343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0" rtlCol="0" anchor="b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n=100</a:t>
            </a:r>
          </a:p>
        </p:txBody>
      </p:sp>
      <p:sp>
        <p:nvSpPr>
          <p:cNvPr id="37" name="StatLbl35"/>
          <p:cNvSpPr/>
          <p:nvPr/>
        </p:nvSpPr>
        <p:spPr>
          <a:xfrm>
            <a:off x="5702000" y="3174176"/>
            <a:ext cx="3260000" cy="511489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Permutation già
al 100% di precision</a:t>
            </a:r>
          </a:p>
        </p:txBody>
      </p:sp>
      <p:sp>
        <p:nvSpPr>
          <p:cNvPr id="40" name="Stat40"/>
          <p:cNvSpPr/>
          <p:nvPr/>
        </p:nvSpPr>
        <p:spPr>
          <a:xfrm>
            <a:off x="5702000" y="3765666"/>
            <a:ext cx="3260000" cy="1217833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1" name="StatNum40"/>
          <p:cNvSpPr/>
          <p:nvPr/>
        </p:nvSpPr>
        <p:spPr>
          <a:xfrm>
            <a:off x="5702000" y="3765666"/>
            <a:ext cx="3260000" cy="706343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0" rtlCol="0" anchor="b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n=200</a:t>
            </a:r>
          </a:p>
        </p:txBody>
      </p:sp>
      <p:sp>
        <p:nvSpPr>
          <p:cNvPr id="42" name="StatLbl40"/>
          <p:cNvSpPr/>
          <p:nvPr/>
        </p:nvSpPr>
        <p:spPr>
          <a:xfrm>
            <a:off x="5702000" y="4472009"/>
            <a:ext cx="3260000" cy="511489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MDI raggiunge
stabilità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3C571A2-7CCF-F4B5-EEEC-2B692FDA5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25429"/>
            <a:ext cx="5678823" cy="249749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Riepilogo e confronto sintetico</a:t>
            </a:r>
          </a:p>
        </p:txBody>
      </p:sp>
      <p:sp>
        <p:nvSpPr>
          <p:cNvPr id="10" name="THdr0"/>
          <p:cNvSpPr/>
          <p:nvPr/>
        </p:nvSpPr>
        <p:spPr>
          <a:xfrm>
            <a:off x="182000" y="800000"/>
            <a:ext cx="260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1" name="THdrTxt0"/>
          <p:cNvSpPr/>
          <p:nvPr/>
        </p:nvSpPr>
        <p:spPr>
          <a:xfrm>
            <a:off x="182000" y="800000"/>
            <a:ext cx="26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Metodo</a:t>
            </a:r>
          </a:p>
        </p:txBody>
      </p:sp>
      <p:sp>
        <p:nvSpPr>
          <p:cNvPr id="11" name="THdr1"/>
          <p:cNvSpPr/>
          <p:nvPr/>
        </p:nvSpPr>
        <p:spPr>
          <a:xfrm>
            <a:off x="2782000" y="800000"/>
            <a:ext cx="132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3" name="THdrTxt1"/>
          <p:cNvSpPr/>
          <p:nvPr/>
        </p:nvSpPr>
        <p:spPr>
          <a:xfrm>
            <a:off x="2782000" y="800000"/>
            <a:ext cx="132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Bias
cardinalità</a:t>
            </a:r>
          </a:p>
        </p:txBody>
      </p:sp>
      <p:sp>
        <p:nvSpPr>
          <p:cNvPr id="12" name="THdr2"/>
          <p:cNvSpPr/>
          <p:nvPr/>
        </p:nvSpPr>
        <p:spPr>
          <a:xfrm>
            <a:off x="4102000" y="800000"/>
            <a:ext cx="132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5" name="THdrTxt2"/>
          <p:cNvSpPr/>
          <p:nvPr/>
        </p:nvSpPr>
        <p:spPr>
          <a:xfrm>
            <a:off x="4102000" y="800000"/>
            <a:ext cx="132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Instab.
correlaz.</a:t>
            </a:r>
          </a:p>
        </p:txBody>
      </p:sp>
      <p:sp>
        <p:nvSpPr>
          <p:cNvPr id="13" name="THdr3"/>
          <p:cNvSpPr/>
          <p:nvPr/>
        </p:nvSpPr>
        <p:spPr>
          <a:xfrm>
            <a:off x="5422000" y="800000"/>
            <a:ext cx="132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7" name="THdrTxt3"/>
          <p:cNvSpPr/>
          <p:nvPr/>
        </p:nvSpPr>
        <p:spPr>
          <a:xfrm>
            <a:off x="5422000" y="800000"/>
            <a:ext cx="132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X₁
identificata</a:t>
            </a:r>
          </a:p>
        </p:txBody>
      </p:sp>
      <p:sp>
        <p:nvSpPr>
          <p:cNvPr id="14" name="THdr4"/>
          <p:cNvSpPr/>
          <p:nvPr/>
        </p:nvSpPr>
        <p:spPr>
          <a:xfrm>
            <a:off x="6742000" y="800000"/>
            <a:ext cx="90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9" name="THdrTxt4"/>
          <p:cNvSpPr/>
          <p:nvPr/>
        </p:nvSpPr>
        <p:spPr>
          <a:xfrm>
            <a:off x="6742000" y="800000"/>
            <a:ext cx="9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Garanzia
FP</a:t>
            </a:r>
          </a:p>
        </p:txBody>
      </p:sp>
      <p:sp>
        <p:nvSpPr>
          <p:cNvPr id="15" name="THdr5"/>
          <p:cNvSpPr/>
          <p:nvPr/>
        </p:nvSpPr>
        <p:spPr>
          <a:xfrm>
            <a:off x="7642000" y="800000"/>
            <a:ext cx="90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1" name="THdrTxt5"/>
          <p:cNvSpPr/>
          <p:nvPr/>
        </p:nvSpPr>
        <p:spPr>
          <a:xfrm>
            <a:off x="7642000" y="800000"/>
            <a:ext cx="9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Costo</a:t>
            </a:r>
          </a:p>
        </p:txBody>
      </p:sp>
      <p:sp>
        <p:nvSpPr>
          <p:cNvPr id="200" name="TD00"/>
          <p:cNvSpPr/>
          <p:nvPr/>
        </p:nvSpPr>
        <p:spPr>
          <a:xfrm>
            <a:off x="182000" y="1360000"/>
            <a:ext cx="26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1" name="TInd0"/>
          <p:cNvSpPr/>
          <p:nvPr/>
        </p:nvSpPr>
        <p:spPr>
          <a:xfrm>
            <a:off x="182000" y="1360000"/>
            <a:ext cx="18000" cy="48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02" name="TDTxt00"/>
          <p:cNvSpPr/>
          <p:nvPr/>
        </p:nvSpPr>
        <p:spPr>
          <a:xfrm>
            <a:off x="222000" y="1360000"/>
            <a:ext cx="25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MDI (randomForest)</a:t>
            </a:r>
          </a:p>
        </p:txBody>
      </p:sp>
      <p:sp>
        <p:nvSpPr>
          <p:cNvPr id="2" name="TD01"/>
          <p:cNvSpPr/>
          <p:nvPr/>
        </p:nvSpPr>
        <p:spPr>
          <a:xfrm>
            <a:off x="2782000" y="1360000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3" name="TDTxt01"/>
          <p:cNvSpPr/>
          <p:nvPr/>
        </p:nvSpPr>
        <p:spPr>
          <a:xfrm>
            <a:off x="2782000" y="136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3" name="TD02"/>
          <p:cNvSpPr/>
          <p:nvPr/>
        </p:nvSpPr>
        <p:spPr>
          <a:xfrm>
            <a:off x="4102000" y="1360000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4" name="TDTxt02"/>
          <p:cNvSpPr/>
          <p:nvPr/>
        </p:nvSpPr>
        <p:spPr>
          <a:xfrm>
            <a:off x="4102000" y="136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4" name="TD03"/>
          <p:cNvSpPr/>
          <p:nvPr/>
        </p:nvSpPr>
        <p:spPr>
          <a:xfrm>
            <a:off x="5422000" y="1360000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5" name="TDTxt03"/>
          <p:cNvSpPr/>
          <p:nvPr/>
        </p:nvSpPr>
        <p:spPr>
          <a:xfrm>
            <a:off x="5422000" y="136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Sì (instabile)</a:t>
            </a:r>
          </a:p>
        </p:txBody>
      </p:sp>
      <p:sp>
        <p:nvSpPr>
          <p:cNvPr id="5" name="TD04"/>
          <p:cNvSpPr/>
          <p:nvPr/>
        </p:nvSpPr>
        <p:spPr>
          <a:xfrm>
            <a:off x="6742000" y="1360000"/>
            <a:ext cx="9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6" name="TDTxt04"/>
          <p:cNvSpPr/>
          <p:nvPr/>
        </p:nvSpPr>
        <p:spPr>
          <a:xfrm>
            <a:off x="6742000" y="136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6" name="TD05"/>
          <p:cNvSpPr/>
          <p:nvPr/>
        </p:nvSpPr>
        <p:spPr>
          <a:xfrm>
            <a:off x="7642000" y="1360000"/>
            <a:ext cx="9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7" name="TDTxt05"/>
          <p:cNvSpPr/>
          <p:nvPr/>
        </p:nvSpPr>
        <p:spPr>
          <a:xfrm>
            <a:off x="7642000" y="136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Basso</a:t>
            </a:r>
          </a:p>
        </p:txBody>
      </p:sp>
      <p:sp>
        <p:nvSpPr>
          <p:cNvPr id="220" name="TD10"/>
          <p:cNvSpPr/>
          <p:nvPr/>
        </p:nvSpPr>
        <p:spPr>
          <a:xfrm>
            <a:off x="182000" y="1840000"/>
            <a:ext cx="26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1" name="TInd1"/>
          <p:cNvSpPr/>
          <p:nvPr/>
        </p:nvSpPr>
        <p:spPr>
          <a:xfrm>
            <a:off x="182000" y="1840000"/>
            <a:ext cx="18000" cy="480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22" name="TDTxt10"/>
          <p:cNvSpPr/>
          <p:nvPr/>
        </p:nvSpPr>
        <p:spPr>
          <a:xfrm>
            <a:off x="222000" y="1840000"/>
            <a:ext cx="25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Permutation (randomForest)</a:t>
            </a:r>
          </a:p>
        </p:txBody>
      </p:sp>
      <p:sp>
        <p:nvSpPr>
          <p:cNvPr id="7" name="TD11"/>
          <p:cNvSpPr/>
          <p:nvPr/>
        </p:nvSpPr>
        <p:spPr>
          <a:xfrm>
            <a:off x="2782000" y="1840000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3" name="TDTxt11"/>
          <p:cNvSpPr/>
          <p:nvPr/>
        </p:nvSpPr>
        <p:spPr>
          <a:xfrm>
            <a:off x="2782000" y="184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8" name="TD12"/>
          <p:cNvSpPr/>
          <p:nvPr/>
        </p:nvSpPr>
        <p:spPr>
          <a:xfrm>
            <a:off x="4102000" y="1840000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4" name="TDTxt12"/>
          <p:cNvSpPr/>
          <p:nvPr/>
        </p:nvSpPr>
        <p:spPr>
          <a:xfrm>
            <a:off x="4102000" y="184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Parzialm.</a:t>
            </a:r>
          </a:p>
        </p:txBody>
      </p:sp>
      <p:sp>
        <p:nvSpPr>
          <p:cNvPr id="9" name="TD13"/>
          <p:cNvSpPr/>
          <p:nvPr/>
        </p:nvSpPr>
        <p:spPr>
          <a:xfrm>
            <a:off x="5422000" y="1840000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5" name="TDTxt13"/>
          <p:cNvSpPr/>
          <p:nvPr/>
        </p:nvSpPr>
        <p:spPr>
          <a:xfrm>
            <a:off x="5422000" y="184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16" name="TD14"/>
          <p:cNvSpPr/>
          <p:nvPr/>
        </p:nvSpPr>
        <p:spPr>
          <a:xfrm>
            <a:off x="6742000" y="1840000"/>
            <a:ext cx="9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6" name="TDTxt14"/>
          <p:cNvSpPr/>
          <p:nvPr/>
        </p:nvSpPr>
        <p:spPr>
          <a:xfrm>
            <a:off x="6742000" y="184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17" name="TD15"/>
          <p:cNvSpPr/>
          <p:nvPr/>
        </p:nvSpPr>
        <p:spPr>
          <a:xfrm>
            <a:off x="7642000" y="1840000"/>
            <a:ext cx="9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7" name="TDTxt15"/>
          <p:cNvSpPr/>
          <p:nvPr/>
        </p:nvSpPr>
        <p:spPr>
          <a:xfrm>
            <a:off x="7642000" y="184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Medio</a:t>
            </a:r>
          </a:p>
        </p:txBody>
      </p:sp>
      <p:sp>
        <p:nvSpPr>
          <p:cNvPr id="240" name="TD20"/>
          <p:cNvSpPr/>
          <p:nvPr/>
        </p:nvSpPr>
        <p:spPr>
          <a:xfrm>
            <a:off x="182000" y="2320000"/>
            <a:ext cx="26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1" name="TInd2"/>
          <p:cNvSpPr/>
          <p:nvPr/>
        </p:nvSpPr>
        <p:spPr>
          <a:xfrm>
            <a:off x="182000" y="2320000"/>
            <a:ext cx="18000" cy="480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42" name="TDTxt20"/>
          <p:cNvSpPr/>
          <p:nvPr/>
        </p:nvSpPr>
        <p:spPr>
          <a:xfrm>
            <a:off x="222000" y="2320000"/>
            <a:ext cx="25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Conditional Imp. (cforest)</a:t>
            </a:r>
          </a:p>
        </p:txBody>
      </p:sp>
      <p:sp>
        <p:nvSpPr>
          <p:cNvPr id="18" name="TD21"/>
          <p:cNvSpPr/>
          <p:nvPr/>
        </p:nvSpPr>
        <p:spPr>
          <a:xfrm>
            <a:off x="2782000" y="2320000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3" name="TDTxt21"/>
          <p:cNvSpPr/>
          <p:nvPr/>
        </p:nvSpPr>
        <p:spPr>
          <a:xfrm>
            <a:off x="2782000" y="232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19" name="TD22"/>
          <p:cNvSpPr/>
          <p:nvPr/>
        </p:nvSpPr>
        <p:spPr>
          <a:xfrm>
            <a:off x="4102000" y="2320000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4" name="TDTxt22"/>
          <p:cNvSpPr/>
          <p:nvPr/>
        </p:nvSpPr>
        <p:spPr>
          <a:xfrm>
            <a:off x="4102000" y="232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20" name="TD23"/>
          <p:cNvSpPr/>
          <p:nvPr/>
        </p:nvSpPr>
        <p:spPr>
          <a:xfrm>
            <a:off x="5422000" y="2320000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5" name="TDTxt23"/>
          <p:cNvSpPr/>
          <p:nvPr/>
        </p:nvSpPr>
        <p:spPr>
          <a:xfrm>
            <a:off x="5422000" y="232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21" name="TD24"/>
          <p:cNvSpPr/>
          <p:nvPr/>
        </p:nvSpPr>
        <p:spPr>
          <a:xfrm>
            <a:off x="6742000" y="2320000"/>
            <a:ext cx="9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6" name="TDTxt24"/>
          <p:cNvSpPr/>
          <p:nvPr/>
        </p:nvSpPr>
        <p:spPr>
          <a:xfrm>
            <a:off x="6742000" y="232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22" name="TD25"/>
          <p:cNvSpPr/>
          <p:nvPr/>
        </p:nvSpPr>
        <p:spPr>
          <a:xfrm>
            <a:off x="7642000" y="2320000"/>
            <a:ext cx="9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7" name="TDTxt25"/>
          <p:cNvSpPr/>
          <p:nvPr/>
        </p:nvSpPr>
        <p:spPr>
          <a:xfrm>
            <a:off x="7642000" y="232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Alto*</a:t>
            </a:r>
          </a:p>
        </p:txBody>
      </p:sp>
      <p:sp>
        <p:nvSpPr>
          <p:cNvPr id="260" name="TD30"/>
          <p:cNvSpPr/>
          <p:nvPr/>
        </p:nvSpPr>
        <p:spPr>
          <a:xfrm>
            <a:off x="182000" y="2800000"/>
            <a:ext cx="26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1" name="TInd3"/>
          <p:cNvSpPr/>
          <p:nvPr/>
        </p:nvSpPr>
        <p:spPr>
          <a:xfrm>
            <a:off x="182000" y="2800000"/>
            <a:ext cx="18000" cy="48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62" name="TDTxt30"/>
          <p:cNvSpPr/>
          <p:nvPr/>
        </p:nvSpPr>
        <p:spPr>
          <a:xfrm>
            <a:off x="222000" y="2800000"/>
            <a:ext cx="25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Stability Selection (LASSO)</a:t>
            </a:r>
          </a:p>
        </p:txBody>
      </p:sp>
      <p:sp>
        <p:nvSpPr>
          <p:cNvPr id="23" name="TD31"/>
          <p:cNvSpPr/>
          <p:nvPr/>
        </p:nvSpPr>
        <p:spPr>
          <a:xfrm>
            <a:off x="2782000" y="2800000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3" name="TDTxt31"/>
          <p:cNvSpPr/>
          <p:nvPr/>
        </p:nvSpPr>
        <p:spPr>
          <a:xfrm>
            <a:off x="2782000" y="280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24" name="TD32"/>
          <p:cNvSpPr/>
          <p:nvPr/>
        </p:nvSpPr>
        <p:spPr>
          <a:xfrm>
            <a:off x="4102000" y="2800000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4" name="TDTxt32"/>
          <p:cNvSpPr/>
          <p:nvPr/>
        </p:nvSpPr>
        <p:spPr>
          <a:xfrm>
            <a:off x="4102000" y="280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25" name="TD33"/>
          <p:cNvSpPr/>
          <p:nvPr/>
        </p:nvSpPr>
        <p:spPr>
          <a:xfrm>
            <a:off x="5422000" y="2800000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5" name="TDTxt33"/>
          <p:cNvSpPr/>
          <p:nvPr/>
        </p:nvSpPr>
        <p:spPr>
          <a:xfrm>
            <a:off x="5422000" y="280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26" name="TD34"/>
          <p:cNvSpPr/>
          <p:nvPr/>
        </p:nvSpPr>
        <p:spPr>
          <a:xfrm>
            <a:off x="6742000" y="2800000"/>
            <a:ext cx="9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6" name="TDTxt34"/>
          <p:cNvSpPr/>
          <p:nvPr/>
        </p:nvSpPr>
        <p:spPr>
          <a:xfrm>
            <a:off x="6742000" y="280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Sì (PFER)</a:t>
            </a:r>
          </a:p>
        </p:txBody>
      </p:sp>
      <p:sp>
        <p:nvSpPr>
          <p:cNvPr id="27" name="TD35"/>
          <p:cNvSpPr/>
          <p:nvPr/>
        </p:nvSpPr>
        <p:spPr>
          <a:xfrm>
            <a:off x="7642000" y="2800000"/>
            <a:ext cx="9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7" name="TDTxt35"/>
          <p:cNvSpPr/>
          <p:nvPr/>
        </p:nvSpPr>
        <p:spPr>
          <a:xfrm>
            <a:off x="7642000" y="280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Medio</a:t>
            </a:r>
          </a:p>
        </p:txBody>
      </p:sp>
      <p:sp>
        <p:nvSpPr>
          <p:cNvPr id="500" name="FootNote"/>
          <p:cNvSpPr/>
          <p:nvPr/>
        </p:nvSpPr>
        <p:spPr>
          <a:xfrm>
            <a:off x="182000" y="3340000"/>
            <a:ext cx="878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1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* cforest usa conditional inference trees (non CART) — modello diverso, non solo metrica diversa.</a:t>
            </a:r>
          </a:p>
        </p:txBody>
      </p:sp>
      <p:sp>
        <p:nvSpPr>
          <p:cNvPr id="510" name="ConclBg"/>
          <p:cNvSpPr/>
          <p:nvPr/>
        </p:nvSpPr>
        <p:spPr>
          <a:xfrm>
            <a:off x="182000" y="3740000"/>
            <a:ext cx="8780000" cy="12435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511" name="ConclTxt"/>
          <p:cNvSpPr/>
          <p:nvPr/>
        </p:nvSpPr>
        <p:spPr>
          <a:xfrm>
            <a:off x="242000" y="3740000"/>
            <a:ext cx="8660000" cy="12435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Non esiste un metodo dominante su tutte le dimensioni. La scelta dipende dal contesto applicativo.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Conclusioni</a:t>
            </a:r>
          </a:p>
        </p:txBody>
      </p:sp>
      <p:sp>
        <p:nvSpPr>
          <p:cNvPr id="10" name="CBg0"/>
          <p:cNvSpPr/>
          <p:nvPr/>
        </p:nvSpPr>
        <p:spPr>
          <a:xfrm>
            <a:off x="182000" y="820000"/>
            <a:ext cx="8780000" cy="66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CStrip0"/>
          <p:cNvSpPr/>
          <p:nvPr/>
        </p:nvSpPr>
        <p:spPr>
          <a:xfrm>
            <a:off x="182000" y="820000"/>
            <a:ext cx="560000" cy="6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CIcon0"/>
          <p:cNvSpPr/>
          <p:nvPr/>
        </p:nvSpPr>
        <p:spPr>
          <a:xfrm>
            <a:off x="182000" y="820000"/>
            <a:ext cx="56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✗</a:t>
            </a:r>
          </a:p>
        </p:txBody>
      </p:sp>
      <p:sp>
        <p:nvSpPr>
          <p:cNvPr id="13" name="CTxt0"/>
          <p:cNvSpPr/>
          <p:nvPr/>
        </p:nvSpPr>
        <p:spPr>
          <a:xfrm>
            <a:off x="782000" y="820000"/>
            <a:ext cx="814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La MDI è sistematicamente distorta verso variabili ad alta cardinalità — non è un bug, è strutturale.</a:t>
            </a:r>
          </a:p>
        </p:txBody>
      </p:sp>
      <p:sp>
        <p:nvSpPr>
          <p:cNvPr id="16" name="CBg1"/>
          <p:cNvSpPr/>
          <p:nvPr/>
        </p:nvSpPr>
        <p:spPr>
          <a:xfrm>
            <a:off x="182000" y="1530000"/>
            <a:ext cx="8780000" cy="66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7" name="CStrip1"/>
          <p:cNvSpPr/>
          <p:nvPr/>
        </p:nvSpPr>
        <p:spPr>
          <a:xfrm>
            <a:off x="182000" y="1530000"/>
            <a:ext cx="560000" cy="6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8" name="CIcon1"/>
          <p:cNvSpPr/>
          <p:nvPr/>
        </p:nvSpPr>
        <p:spPr>
          <a:xfrm>
            <a:off x="182000" y="1530000"/>
            <a:ext cx="56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✗</a:t>
            </a:r>
          </a:p>
        </p:txBody>
      </p:sp>
      <p:sp>
        <p:nvSpPr>
          <p:cNvPr id="19" name="CTxt1"/>
          <p:cNvSpPr/>
          <p:nvPr/>
        </p:nvSpPr>
        <p:spPr>
          <a:xfrm>
            <a:off x="782000" y="1530000"/>
            <a:ext cx="814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In presenza di correlazione, le stime di importanza diventano instabili e i falsi positivi cambiano ad ogni run.</a:t>
            </a:r>
          </a:p>
        </p:txBody>
      </p:sp>
      <p:sp>
        <p:nvSpPr>
          <p:cNvPr id="22" name="CBg2"/>
          <p:cNvSpPr/>
          <p:nvPr/>
        </p:nvSpPr>
        <p:spPr>
          <a:xfrm>
            <a:off x="182000" y="2240000"/>
            <a:ext cx="8780000" cy="66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2A9D8F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3" name="CStrip2"/>
          <p:cNvSpPr/>
          <p:nvPr/>
        </p:nvSpPr>
        <p:spPr>
          <a:xfrm>
            <a:off x="182000" y="2240000"/>
            <a:ext cx="560000" cy="660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4" name="CIcon2"/>
          <p:cNvSpPr/>
          <p:nvPr/>
        </p:nvSpPr>
        <p:spPr>
          <a:xfrm>
            <a:off x="182000" y="2240000"/>
            <a:ext cx="56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5" name="CTxt2"/>
          <p:cNvSpPr/>
          <p:nvPr/>
        </p:nvSpPr>
        <p:spPr>
          <a:xfrm>
            <a:off x="782000" y="2240000"/>
            <a:ext cx="814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La Conditional Importance (cforest) elimina il bias e isola le variabili causali, ma richiede un modello diverso.</a:t>
            </a:r>
          </a:p>
        </p:txBody>
      </p:sp>
      <p:sp>
        <p:nvSpPr>
          <p:cNvPr id="28" name="CBg3"/>
          <p:cNvSpPr/>
          <p:nvPr/>
        </p:nvSpPr>
        <p:spPr>
          <a:xfrm>
            <a:off x="182000" y="2950000"/>
            <a:ext cx="8780000" cy="66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2E7D32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9" name="CStrip3"/>
          <p:cNvSpPr/>
          <p:nvPr/>
        </p:nvSpPr>
        <p:spPr>
          <a:xfrm>
            <a:off x="182000" y="2950000"/>
            <a:ext cx="560000" cy="66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0" name="CIcon3"/>
          <p:cNvSpPr/>
          <p:nvPr/>
        </p:nvSpPr>
        <p:spPr>
          <a:xfrm>
            <a:off x="182000" y="2950000"/>
            <a:ext cx="56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31" name="CTxt3"/>
          <p:cNvSpPr/>
          <p:nvPr/>
        </p:nvSpPr>
        <p:spPr>
          <a:xfrm>
            <a:off x="782000" y="2950000"/>
            <a:ext cx="814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La Stability Selection è l’unico metodo con garanzia formale sul numero di falsi positivi (PFER) — essenziale in ambito clinico.</a:t>
            </a:r>
          </a:p>
        </p:txBody>
      </p:sp>
      <p:sp>
        <p:nvSpPr>
          <p:cNvPr id="34" name="CBg4"/>
          <p:cNvSpPr/>
          <p:nvPr/>
        </p:nvSpPr>
        <p:spPr>
          <a:xfrm>
            <a:off x="182000" y="3660000"/>
            <a:ext cx="8780000" cy="66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5" name="CStrip4"/>
          <p:cNvSpPr/>
          <p:nvPr/>
        </p:nvSpPr>
        <p:spPr>
          <a:xfrm>
            <a:off x="182000" y="3660000"/>
            <a:ext cx="560000" cy="6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6" name="CIcon4"/>
          <p:cNvSpPr/>
          <p:nvPr/>
        </p:nvSpPr>
        <p:spPr>
          <a:xfrm>
            <a:off x="182000" y="3660000"/>
            <a:ext cx="56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7" name="CTxt4"/>
          <p:cNvSpPr/>
          <p:nvPr/>
        </p:nvSpPr>
        <p:spPr>
          <a:xfrm>
            <a:off x="782000" y="3660000"/>
            <a:ext cx="814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La Permutation Importance è un buon compromesso: meno distorta, costo medio, ma non immune alla correlazione.</a:t>
            </a:r>
          </a:p>
        </p:txBody>
      </p:sp>
      <p:sp>
        <p:nvSpPr>
          <p:cNvPr id="100" name="Refs"/>
          <p:cNvSpPr/>
          <p:nvPr/>
        </p:nvSpPr>
        <p:spPr>
          <a:xfrm>
            <a:off x="182000" y="4390000"/>
            <a:ext cx="8780000" cy="5935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ctr">
              <a:buNone/>
            </a:pPr>
            <a:r>
              <a:rPr lang="it-IT" sz="11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Breiman 2001  ·  Strobl et al. 2007/2008  ·  Meinshausen &amp; Bühlmann 2010  ·  Shah &amp; Samworth 2013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1917</TotalTime>
  <Words>1551</Words>
  <Application>Microsoft Office PowerPoint</Application>
  <PresentationFormat>Presentazione su schermo (16:9)</PresentationFormat>
  <Paragraphs>197</Paragraphs>
  <Slides>15</Slides>
  <Notes>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 Math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Lorenzo Maria Pennelli</cp:lastModifiedBy>
  <cp:revision>599</cp:revision>
  <dcterms:created xsi:type="dcterms:W3CDTF">2026-03-12T12:19:20Z</dcterms:created>
  <dcterms:modified xsi:type="dcterms:W3CDTF">2026-05-21T20:11:20Z</dcterms:modified>
</cp:coreProperties>
</file>