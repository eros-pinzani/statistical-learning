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256" r:id="rId5"/>
    <p:sldId id="257" r:id="rId6"/>
    <p:sldId id="275" r:id="rId7"/>
    <p:sldId id="262" r:id="rId8"/>
    <p:sldId id="278" r:id="rId9"/>
    <p:sldId id="266" r:id="rId10"/>
    <p:sldId id="267" r:id="rId11"/>
    <p:sldId id="282" r:id="rId12"/>
    <p:sldId id="269" r:id="rId13"/>
    <p:sldId id="271" r:id="rId14"/>
    <p:sldId id="285" r:id="rId15"/>
    <p:sldId id="276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DE2B0B0-1F6C-BF0A-6A00-0A2EF992BF8A}" name="Eros Pinzani" initials="EP" userId="S::eros.pinzani@edu.unifi.it::82d52c01-ce10-459d-86d9-a68bc46fbb04" providerId="AD"/>
  <p188:author id="{CC4B64C7-3099-4DDC-57B8-DF28B5A77704}" name="Lorenzo Maria Pennelli" initials="LP" userId="S::lorenzo.pennelli@edu.unifi.it::fdca4809-38c1-4a64-a4ea-829df516f7c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9D8F"/>
    <a:srgbClr val="F4A261"/>
    <a:srgbClr val="C62828"/>
    <a:srgbClr val="2E7D32"/>
    <a:srgbClr val="0041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Stile chi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1841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C98DF-AA4A-0E17-1AD2-827A66799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C6763-7A86-143A-1B4A-5E2128B086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FBCF30-B90B-6D2B-416F-CF8E62BB0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75C4F9-EED2-EAEC-6ED0-8D652C3581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806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39474-57FB-CBA8-B393-2AB92D5F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09A78-12DD-C145-5E26-6F832B111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4638C-C925-803E-2C29-A6B6E2D4F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3C6E3-DB8E-0578-A6FA-2FB4425AB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169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39474-57FB-CBA8-B393-2AB92D5F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09A78-12DD-C145-5E26-6F832B111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4638C-C925-803E-2C29-A6B6E2D4F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3C6E3-DB8E-0578-A6FA-2FB4425AB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16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erwanscornet.github.io/talks/mdi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0" y="0"/>
            <a:ext cx="4754880" cy="5143500"/>
          </a:xfrm>
          <a:prstGeom prst="rect">
            <a:avLst/>
          </a:prstGeom>
          <a:solidFill>
            <a:srgbClr val="004180"/>
          </a:solidFill>
          <a:ln w="12700">
            <a:solidFill>
              <a:srgbClr val="1B3D7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1118792" y="-2682"/>
            <a:ext cx="5404508" cy="5142426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11480" y="489259"/>
            <a:ext cx="5738391" cy="182694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3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La Variable Importance</a:t>
            </a:r>
            <a:endParaRPr lang="en-US" sz="36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1480" y="2824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AUTORI: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1480" y="3098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Francesco Faillace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3878346B-309A-6DA9-57CB-83A68DCF7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543" y="2410097"/>
            <a:ext cx="2131695" cy="2537460"/>
          </a:xfrm>
          <a:prstGeom prst="rect">
            <a:avLst/>
          </a:prstGeom>
          <a:ln>
            <a:solidFill>
              <a:srgbClr val="004180"/>
            </a:solidFill>
          </a:ln>
        </p:spPr>
      </p:pic>
      <p:sp>
        <p:nvSpPr>
          <p:cNvPr id="15" name="Text 4">
            <a:extLst>
              <a:ext uri="{FF2B5EF4-FFF2-40B4-BE49-F238E27FC236}">
                <a16:creationId xmlns:a16="http://schemas.microsoft.com/office/drawing/2014/main" id="{9E5F7317-9BEE-D425-1B51-65793C82F008}"/>
              </a:ext>
            </a:extLst>
          </p:cNvPr>
          <p:cNvSpPr/>
          <p:nvPr/>
        </p:nvSpPr>
        <p:spPr>
          <a:xfrm>
            <a:off x="411480" y="33299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Lorenzo Maria Pennelli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465E81B1-F718-DAAD-4211-40D5EFC3C85A}"/>
              </a:ext>
            </a:extLst>
          </p:cNvPr>
          <p:cNvSpPr/>
          <p:nvPr/>
        </p:nvSpPr>
        <p:spPr>
          <a:xfrm>
            <a:off x="411480" y="35647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Eros </a:t>
            </a:r>
            <a:r>
              <a:rPr lang="en-US" sz="1400" i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Pinzani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BD989F4-7EEE-8B97-F7D7-EDF85754A840}"/>
              </a:ext>
            </a:extLst>
          </p:cNvPr>
          <p:cNvSpPr txBox="1"/>
          <p:nvPr/>
        </p:nvSpPr>
        <p:spPr>
          <a:xfrm>
            <a:off x="411480" y="1170013"/>
            <a:ext cx="5341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i="1" dirty="0">
                <a:solidFill>
                  <a:srgbClr val="004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e Correlazione nella Selezione di Variabili in Random Forest</a:t>
            </a:r>
            <a:endParaRPr lang="it-I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Contesto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: Random Forest</a:t>
            </a:r>
            <a:endParaRPr lang="it-IT" sz="2800" dirty="0" err="1"/>
          </a:p>
        </p:txBody>
      </p:sp>
      <p:sp>
        <p:nvSpPr>
          <p:cNvPr id="9" name="Text 7"/>
          <p:cNvSpPr/>
          <p:nvPr/>
        </p:nvSpPr>
        <p:spPr>
          <a:xfrm>
            <a:off x="263266" y="2974799"/>
            <a:ext cx="4114800" cy="21945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342900" indent="-342900" algn="l">
              <a:buSzPct val="100000"/>
              <a:buFont typeface="+mj-lt"/>
              <a:buAutoNum type="arabicPeriod"/>
            </a:pPr>
            <a:endParaRPr lang="en-US" sz="11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2/12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31436C73-6C73-8E81-872C-0EFCE6CFAD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B3CAD74-B2DA-F68F-47B4-E0AB70C65BDE}"/>
              </a:ext>
            </a:extLst>
          </p:cNvPr>
          <p:cNvSpPr txBox="1"/>
          <p:nvPr/>
        </p:nvSpPr>
        <p:spPr>
          <a:xfrm>
            <a:off x="151990" y="906301"/>
            <a:ext cx="8992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/>
              <a:t>Algoritmi </a:t>
            </a:r>
            <a:r>
              <a:rPr lang="it-IT" i="1" dirty="0" err="1"/>
              <a:t>Ensembled</a:t>
            </a:r>
            <a:r>
              <a:rPr lang="it-IT" i="1" dirty="0"/>
              <a:t>-Tree che combinano </a:t>
            </a:r>
            <a:r>
              <a:rPr lang="it-IT" i="1" dirty="0" err="1"/>
              <a:t>Bagging</a:t>
            </a:r>
            <a:r>
              <a:rPr lang="it-IT" i="1" dirty="0"/>
              <a:t> con una selezione randomica dei predittori </a:t>
            </a: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4517404B-8A70-8234-8104-8BCABACEFBC8}"/>
              </a:ext>
            </a:extLst>
          </p:cNvPr>
          <p:cNvSpPr/>
          <p:nvPr/>
        </p:nvSpPr>
        <p:spPr>
          <a:xfrm>
            <a:off x="1245939" y="2969472"/>
            <a:ext cx="1543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Punti</a:t>
            </a:r>
            <a:r>
              <a:rPr lang="en-US" sz="20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di Forza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22578E23-8F9B-0315-0C81-BE6A9025994D}"/>
              </a:ext>
            </a:extLst>
          </p:cNvPr>
          <p:cNvSpPr/>
          <p:nvPr/>
        </p:nvSpPr>
        <p:spPr>
          <a:xfrm>
            <a:off x="6011878" y="2974799"/>
            <a:ext cx="13564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0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Limitazioni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DFB4D02A-469E-372F-BF84-19765C64ACCC}"/>
              </a:ext>
            </a:extLst>
          </p:cNvPr>
          <p:cNvSpPr/>
          <p:nvPr/>
        </p:nvSpPr>
        <p:spPr>
          <a:xfrm>
            <a:off x="454173" y="1476768"/>
            <a:ext cx="3923893" cy="1014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Bagging</a:t>
            </a:r>
          </a:p>
          <a:p>
            <a:r>
              <a:rPr lang="it-IT" sz="1400" dirty="0"/>
              <a:t>Tecnica che genera più sotto-alberi via </a:t>
            </a:r>
            <a:r>
              <a:rPr lang="it-IT" sz="1400" b="1" dirty="0"/>
              <a:t>bootstrap </a:t>
            </a:r>
            <a:r>
              <a:rPr lang="it-IT" sz="1400" dirty="0"/>
              <a:t>e</a:t>
            </a:r>
            <a:r>
              <a:rPr lang="it-IT" sz="1400" b="1" dirty="0"/>
              <a:t> aggrega </a:t>
            </a:r>
            <a:r>
              <a:rPr lang="it-IT" sz="1400" dirty="0"/>
              <a:t>i risultati </a:t>
            </a:r>
          </a:p>
          <a:p>
            <a:r>
              <a:rPr lang="it-IT" sz="1400" dirty="0"/>
              <a:t>→ previsioni più stabili e accurate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B7645A7F-3689-F469-3D63-BC43BF877055}"/>
              </a:ext>
            </a:extLst>
          </p:cNvPr>
          <p:cNvSpPr/>
          <p:nvPr/>
        </p:nvSpPr>
        <p:spPr>
          <a:xfrm>
            <a:off x="4926556" y="1459090"/>
            <a:ext cx="3763272" cy="1049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Feature subsampling</a:t>
            </a:r>
          </a:p>
          <a:p>
            <a:r>
              <a:rPr lang="it-IT" sz="1400" dirty="0"/>
              <a:t>Ogni split usa un subset casuale di predittori (</a:t>
            </a:r>
            <a:r>
              <a:rPr lang="it-IT" sz="1400" b="1" dirty="0" err="1"/>
              <a:t>mtry</a:t>
            </a:r>
            <a:r>
              <a:rPr lang="it-IT" sz="1400" dirty="0"/>
              <a:t>) → minore correlazione e varianza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69415233-40B0-5D34-910F-03AC89829253}"/>
              </a:ext>
            </a:extLst>
          </p:cNvPr>
          <p:cNvSpPr txBox="1"/>
          <p:nvPr/>
        </p:nvSpPr>
        <p:spPr>
          <a:xfrm>
            <a:off x="151990" y="3319785"/>
            <a:ext cx="4359457" cy="1351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Robusto all’</a:t>
            </a:r>
            <a:r>
              <a:rPr lang="it-IT" sz="1400" dirty="0" err="1"/>
              <a:t>overfitting</a:t>
            </a:r>
            <a:endParaRPr lang="it-IT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Gestisce variabili continue, categoriali e dati mancanti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Forniscono una stima dell’errore di test (OOB </a:t>
            </a:r>
            <a:r>
              <a:rPr lang="it-IT" sz="1400" dirty="0" err="1"/>
              <a:t>error</a:t>
            </a:r>
            <a:r>
              <a:rPr lang="it-IT" sz="1400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Nessuna assunzione sulla distribuzione dei dati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A7AE40F0-2230-393D-113E-FA191FA978E3}"/>
              </a:ext>
            </a:extLst>
          </p:cNvPr>
          <p:cNvSpPr txBox="1"/>
          <p:nvPr/>
        </p:nvSpPr>
        <p:spPr>
          <a:xfrm>
            <a:off x="4970621" y="3319785"/>
            <a:ext cx="3562959" cy="102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Complesso da analizzare teoricamente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Difficile da interpretare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Costoso in memoria e in inferenza</a:t>
            </a:r>
          </a:p>
        </p:txBody>
      </p:sp>
      <p:cxnSp>
        <p:nvCxnSpPr>
          <p:cNvPr id="34" name="Connettore 2 33">
            <a:extLst>
              <a:ext uri="{FF2B5EF4-FFF2-40B4-BE49-F238E27FC236}">
                <a16:creationId xmlns:a16="http://schemas.microsoft.com/office/drawing/2014/main" id="{A29174C0-F434-9E67-AF61-D6442F666134}"/>
              </a:ext>
            </a:extLst>
          </p:cNvPr>
          <p:cNvCxnSpPr>
            <a:cxnSpLocks/>
          </p:cNvCxnSpPr>
          <p:nvPr/>
        </p:nvCxnSpPr>
        <p:spPr>
          <a:xfrm>
            <a:off x="4625323" y="2896800"/>
            <a:ext cx="7227" cy="2120997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6" name="Connettore 2 35">
            <a:extLst>
              <a:ext uri="{FF2B5EF4-FFF2-40B4-BE49-F238E27FC236}">
                <a16:creationId xmlns:a16="http://schemas.microsoft.com/office/drawing/2014/main" id="{3A5EFF77-74AD-DC2D-859E-94A1B39FE0B0}"/>
              </a:ext>
            </a:extLst>
          </p:cNvPr>
          <p:cNvCxnSpPr>
            <a:cxnSpLocks/>
          </p:cNvCxnSpPr>
          <p:nvPr/>
        </p:nvCxnSpPr>
        <p:spPr>
          <a:xfrm>
            <a:off x="835677" y="2788812"/>
            <a:ext cx="7412090" cy="0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5A269-B631-7B35-83D5-E5717DDA2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D24E4E5C-CB25-A9F7-7CDC-7299B1569750}"/>
              </a:ext>
            </a:extLst>
          </p:cNvPr>
          <p:cNvSpPr/>
          <p:nvPr/>
        </p:nvSpPr>
        <p:spPr>
          <a:xfrm>
            <a:off x="1305495" y="155656"/>
            <a:ext cx="75720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Contesto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: Variable Importance</a:t>
            </a:r>
            <a:endParaRPr lang="it-IT" sz="2800" dirty="0" err="1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8607534-A078-BC36-A076-6882E4FFC474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3/12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D869F9BE-6285-BEA5-D07F-08AEDEE889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4EFD1FFB-260E-6EC7-EBC5-8E3EEBC1EFB0}"/>
              </a:ext>
            </a:extLst>
          </p:cNvPr>
          <p:cNvSpPr txBox="1"/>
          <p:nvPr/>
        </p:nvSpPr>
        <p:spPr>
          <a:xfrm>
            <a:off x="181758" y="754500"/>
            <a:ext cx="89017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/>
              <a:t>È la misura del contributo specifico di ciascun predittore nel determinare il risultato della variabile target. Identifica quali fattori guidano maggiormente le previsioni del modello.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C2C63364-FDDE-5B59-26DB-5496F4D2D184}"/>
              </a:ext>
            </a:extLst>
          </p:cNvPr>
          <p:cNvSpPr/>
          <p:nvPr/>
        </p:nvSpPr>
        <p:spPr>
          <a:xfrm>
            <a:off x="289493" y="1548940"/>
            <a:ext cx="28167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MDI — Mean Decrease Impurity</a:t>
            </a:r>
            <a:endParaRPr lang="en-US" sz="1600" dirty="0"/>
          </a:p>
        </p:txBody>
      </p:sp>
      <p:sp>
        <p:nvSpPr>
          <p:cNvPr id="6" name="Text 15">
            <a:extLst>
              <a:ext uri="{FF2B5EF4-FFF2-40B4-BE49-F238E27FC236}">
                <a16:creationId xmlns:a16="http://schemas.microsoft.com/office/drawing/2014/main" id="{35E1AF7E-F757-514F-1970-E99A5137F52A}"/>
              </a:ext>
            </a:extLst>
          </p:cNvPr>
          <p:cNvSpPr/>
          <p:nvPr/>
        </p:nvSpPr>
        <p:spPr>
          <a:xfrm>
            <a:off x="4510973" y="1550921"/>
            <a:ext cx="457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MDA — Mean Decrease Accuracy</a:t>
            </a:r>
            <a:endParaRPr lang="en-US" sz="1600" dirty="0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D6CE5142-2088-38F4-3BFF-D7369EE74EE4}"/>
              </a:ext>
            </a:extLst>
          </p:cNvPr>
          <p:cNvCxnSpPr>
            <a:cxnSpLocks/>
          </p:cNvCxnSpPr>
          <p:nvPr/>
        </p:nvCxnSpPr>
        <p:spPr>
          <a:xfrm>
            <a:off x="4438170" y="1653187"/>
            <a:ext cx="7227" cy="3389797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1" name="Text 4">
            <a:extLst>
              <a:ext uri="{FF2B5EF4-FFF2-40B4-BE49-F238E27FC236}">
                <a16:creationId xmlns:a16="http://schemas.microsoft.com/office/drawing/2014/main" id="{C519DB50-9463-DF92-CCE4-9AC653350AED}"/>
              </a:ext>
            </a:extLst>
          </p:cNvPr>
          <p:cNvSpPr/>
          <p:nvPr/>
        </p:nvSpPr>
        <p:spPr>
          <a:xfrm>
            <a:off x="289493" y="1793284"/>
            <a:ext cx="1391596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(Gini Importance)</a:t>
            </a:r>
            <a:endParaRPr lang="en-US" sz="1000" dirty="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E945EFF0-CBBD-A2CA-D2DB-4BBE6DC4736C}"/>
              </a:ext>
            </a:extLst>
          </p:cNvPr>
          <p:cNvSpPr/>
          <p:nvPr/>
        </p:nvSpPr>
        <p:spPr>
          <a:xfrm>
            <a:off x="4510973" y="1805166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(Permutation Importance)</a:t>
            </a:r>
            <a:endParaRPr lang="en-US" sz="10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7D4EC59C-FC1E-BFAD-FD7E-51F4C610760C}"/>
              </a:ext>
            </a:extLst>
          </p:cNvPr>
          <p:cNvSpPr/>
          <p:nvPr/>
        </p:nvSpPr>
        <p:spPr>
          <a:xfrm>
            <a:off x="289493" y="2068672"/>
            <a:ext cx="4105317" cy="778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200" dirty="0"/>
              <a:t>Misura il contributo di ogni variabile alla riduzione dell’impurezza nei nodi degli alberi</a:t>
            </a:r>
          </a:p>
          <a:p>
            <a:endParaRPr lang="it-IT" sz="1000" dirty="0"/>
          </a:p>
          <a:p>
            <a:r>
              <a:rPr lang="it-IT" sz="1200" dirty="0"/>
              <a:t>La diminuzione di impurezza viene sommata e mediata su tutta la foresta </a:t>
            </a: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558A8865-7A16-75B2-7428-91F233491AF3}"/>
              </a:ext>
            </a:extLst>
          </p:cNvPr>
          <p:cNvSpPr/>
          <p:nvPr/>
        </p:nvSpPr>
        <p:spPr>
          <a:xfrm>
            <a:off x="289493" y="2896406"/>
            <a:ext cx="4069080" cy="666647"/>
          </a:xfrm>
          <a:prstGeom prst="rect">
            <a:avLst/>
          </a:prstGeom>
          <a:solidFill>
            <a:srgbClr val="EEF2FA"/>
          </a:solidFill>
          <a:ln w="6350">
            <a:solidFill>
              <a:srgbClr val="BDD0F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624253CA-2332-1D65-BD39-DDC38C15CD2A}"/>
                  </a:ext>
                </a:extLst>
              </p:cNvPr>
              <p:cNvSpPr txBox="1"/>
              <p:nvPr/>
            </p:nvSpPr>
            <p:spPr>
              <a:xfrm>
                <a:off x="289493" y="2883867"/>
                <a:ext cx="3862684" cy="6917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200" i="1" smtClean="0">
                          <a:latin typeface="Cambria Math" panose="02040503050406030204" pitchFamily="18" charset="0"/>
                        </a:rPr>
                        <m:t>𝑀𝐷𝐼</m:t>
                      </m:r>
                      <m:d>
                        <m:dPr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it-IT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1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it-IT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it-IT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it-IT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  <m:d>
                                    <m:dPr>
                                      <m:ctrlPr>
                                        <a:rPr lang="it-IT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it-IT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</m:eqAr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it-IT" sz="120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it-IT" sz="1200" i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d>
                                <m:d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it-IT" sz="1200" dirty="0"/>
              </a:p>
            </p:txBody>
          </p:sp>
        </mc:Choice>
        <mc:Fallback xmlns=""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624253CA-2332-1D65-BD39-DDC38C15CD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493" y="2883867"/>
                <a:ext cx="3862684" cy="691728"/>
              </a:xfrm>
              <a:prstGeom prst="rect">
                <a:avLst/>
              </a:prstGeom>
              <a:blipFill>
                <a:blip r:embed="rId4"/>
                <a:stretch>
                  <a:fillRect t="-90351" b="-10526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Shape 6">
            <a:extLst>
              <a:ext uri="{FF2B5EF4-FFF2-40B4-BE49-F238E27FC236}">
                <a16:creationId xmlns:a16="http://schemas.microsoft.com/office/drawing/2014/main" id="{AED1F80B-DB4E-E96F-22B4-19D92986FEE0}"/>
              </a:ext>
            </a:extLst>
          </p:cNvPr>
          <p:cNvSpPr/>
          <p:nvPr/>
        </p:nvSpPr>
        <p:spPr>
          <a:xfrm>
            <a:off x="4510973" y="2896406"/>
            <a:ext cx="4069080" cy="666647"/>
          </a:xfrm>
          <a:prstGeom prst="rect">
            <a:avLst/>
          </a:prstGeom>
          <a:solidFill>
            <a:srgbClr val="EEF2FA"/>
          </a:solidFill>
          <a:ln w="6350">
            <a:solidFill>
              <a:srgbClr val="BDD0F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asellaDiTesto 29">
                <a:extLst>
                  <a:ext uri="{FF2B5EF4-FFF2-40B4-BE49-F238E27FC236}">
                    <a16:creationId xmlns:a16="http://schemas.microsoft.com/office/drawing/2014/main" id="{BE154114-007B-B095-43EB-7806791B4602}"/>
                  </a:ext>
                </a:extLst>
              </p:cNvPr>
              <p:cNvSpPr txBox="1"/>
              <p:nvPr/>
            </p:nvSpPr>
            <p:spPr>
              <a:xfrm>
                <a:off x="4524994" y="2910820"/>
                <a:ext cx="4039636" cy="6116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200" i="1" smtClean="0">
                          <a:latin typeface="Cambria Math" panose="02040503050406030204" pitchFamily="18" charset="0"/>
                        </a:rPr>
                        <m:t>𝑀𝐷𝐴</m:t>
                      </m:r>
                      <m:d>
                        <m:dPr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it-IT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1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it-IT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d>
                            <m:dPr>
                              <m:ctrlPr>
                                <a:rPr lang="it-IT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𝐴𝑐</m:t>
                              </m:r>
                              <m:sSubSup>
                                <m:sSubSup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𝑂𝑂𝐵</m:t>
                                  </m:r>
                                </m:sup>
                              </m:sSubSup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𝐴𝑐</m:t>
                              </m:r>
                              <m:sSubSup>
                                <m:sSubSup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it-IT" sz="12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𝑂𝑂𝐵</m:t>
                                  </m:r>
                                </m:sup>
                              </m:sSubSup>
                            </m:e>
                          </m:d>
                        </m:e>
                      </m:nary>
                    </m:oMath>
                  </m:oMathPara>
                </a14:m>
                <a:endParaRPr lang="it-IT" sz="1200" dirty="0"/>
              </a:p>
            </p:txBody>
          </p:sp>
        </mc:Choice>
        <mc:Fallback xmlns="">
          <p:sp>
            <p:nvSpPr>
              <p:cNvPr id="30" name="CasellaDiTesto 29">
                <a:extLst>
                  <a:ext uri="{FF2B5EF4-FFF2-40B4-BE49-F238E27FC236}">
                    <a16:creationId xmlns:a16="http://schemas.microsoft.com/office/drawing/2014/main" id="{BE154114-007B-B095-43EB-7806791B4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994" y="2910820"/>
                <a:ext cx="4039636" cy="61164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 5">
            <a:extLst>
              <a:ext uri="{FF2B5EF4-FFF2-40B4-BE49-F238E27FC236}">
                <a16:creationId xmlns:a16="http://schemas.microsoft.com/office/drawing/2014/main" id="{A957CEBE-C14B-BF95-067F-2F4218231B43}"/>
              </a:ext>
            </a:extLst>
          </p:cNvPr>
          <p:cNvSpPr/>
          <p:nvPr/>
        </p:nvSpPr>
        <p:spPr>
          <a:xfrm>
            <a:off x="4524994" y="2126719"/>
            <a:ext cx="4105317" cy="778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200" dirty="0"/>
              <a:t>Valuta l’importanza di una variabile misurando il calo di accuratezza dopo il mescolamento dei valori OOB</a:t>
            </a:r>
          </a:p>
          <a:p>
            <a:endParaRPr lang="it-IT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dirty="0"/>
              <a:t>Grande calo di accuratezza → variabile importante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200" dirty="0"/>
              <a:t>Nessun cambiamento → variabile poco rilevante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00" dirty="0"/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E7FFCB67-5622-A350-F5DC-C797E8391F48}"/>
              </a:ext>
            </a:extLst>
          </p:cNvPr>
          <p:cNvSpPr/>
          <p:nvPr/>
        </p:nvSpPr>
        <p:spPr>
          <a:xfrm>
            <a:off x="289493" y="3638431"/>
            <a:ext cx="417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</a:t>
            </a:r>
            <a:endParaRPr lang="en-US" sz="1200" dirty="0"/>
          </a:p>
        </p:txBody>
      </p:sp>
      <p:sp>
        <p:nvSpPr>
          <p:cNvPr id="37" name="Text 10">
            <a:extLst>
              <a:ext uri="{FF2B5EF4-FFF2-40B4-BE49-F238E27FC236}">
                <a16:creationId xmlns:a16="http://schemas.microsoft.com/office/drawing/2014/main" id="{52C49751-4617-F061-01EB-B06F3F03CECB}"/>
              </a:ext>
            </a:extLst>
          </p:cNvPr>
          <p:cNvSpPr/>
          <p:nvPr/>
        </p:nvSpPr>
        <p:spPr>
          <a:xfrm>
            <a:off x="426653" y="3867031"/>
            <a:ext cx="40315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Calcolata a costo zero durante il training, non richiede dati aggiuntivi.</a:t>
            </a:r>
            <a:endParaRPr lang="en-US" sz="1100" dirty="0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FA81110F-7C2E-F516-5633-DE1674349ED0}"/>
              </a:ext>
            </a:extLst>
          </p:cNvPr>
          <p:cNvSpPr/>
          <p:nvPr/>
        </p:nvSpPr>
        <p:spPr>
          <a:xfrm>
            <a:off x="289493" y="4095631"/>
            <a:ext cx="417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Problema fondamentale</a:t>
            </a:r>
            <a:endParaRPr lang="en-US" sz="1200" dirty="0"/>
          </a:p>
        </p:txBody>
      </p:sp>
      <p:sp>
        <p:nvSpPr>
          <p:cNvPr id="39" name="Text 12">
            <a:extLst>
              <a:ext uri="{FF2B5EF4-FFF2-40B4-BE49-F238E27FC236}">
                <a16:creationId xmlns:a16="http://schemas.microsoft.com/office/drawing/2014/main" id="{DF3383FA-F3CE-82E0-E9BF-B89BB0B388E4}"/>
              </a:ext>
            </a:extLst>
          </p:cNvPr>
          <p:cNvSpPr/>
          <p:nvPr/>
        </p:nvSpPr>
        <p:spPr>
          <a:xfrm>
            <a:off x="426653" y="4345333"/>
            <a:ext cx="4031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sistematico verso variabili ad </a:t>
            </a:r>
            <a:r>
              <a:rPr lang="en-US" sz="11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cardinalità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E[MDI(Xⱼ)] &gt; 0 anche se Xⱼ ⊥ Y.</a:t>
            </a:r>
            <a:endParaRPr lang="en-US" sz="1100" dirty="0"/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819D0759-0BC4-42B9-9FD6-7626B6BBD1BF}"/>
              </a:ext>
            </a:extLst>
          </p:cNvPr>
          <p:cNvSpPr/>
          <p:nvPr/>
        </p:nvSpPr>
        <p:spPr>
          <a:xfrm>
            <a:off x="426653" y="4697731"/>
            <a:ext cx="4031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bias cresce col numero di valori distinti, indipendentemente dalla rilevanza reale.</a:t>
            </a:r>
            <a:endParaRPr lang="en-US" sz="1100" dirty="0"/>
          </a:p>
        </p:txBody>
      </p:sp>
      <p:sp>
        <p:nvSpPr>
          <p:cNvPr id="41" name="Text 25">
            <a:extLst>
              <a:ext uri="{FF2B5EF4-FFF2-40B4-BE49-F238E27FC236}">
                <a16:creationId xmlns:a16="http://schemas.microsoft.com/office/drawing/2014/main" id="{F0F92313-55B6-7E05-739A-1A0B98C70729}"/>
              </a:ext>
            </a:extLst>
          </p:cNvPr>
          <p:cNvSpPr/>
          <p:nvPr/>
        </p:nvSpPr>
        <p:spPr>
          <a:xfrm>
            <a:off x="4524994" y="3736467"/>
            <a:ext cx="4069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 sensibile alla cardinalità rispetto alla MDI</a:t>
            </a:r>
            <a:endParaRPr lang="en-US" sz="1200" b="1" dirty="0"/>
          </a:p>
        </p:txBody>
      </p:sp>
      <p:sp>
        <p:nvSpPr>
          <p:cNvPr id="42" name="Text 26">
            <a:extLst>
              <a:ext uri="{FF2B5EF4-FFF2-40B4-BE49-F238E27FC236}">
                <a16:creationId xmlns:a16="http://schemas.microsoft.com/office/drawing/2014/main" id="{C0DEEE7F-04B6-AE7D-7E9A-8E0D061FE21E}"/>
              </a:ext>
            </a:extLst>
          </p:cNvPr>
          <p:cNvSpPr/>
          <p:nvPr/>
        </p:nvSpPr>
        <p:spPr>
          <a:xfrm>
            <a:off x="4537806" y="4063378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00" b="1" dirty="0" err="1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Limitazioni</a:t>
            </a:r>
            <a:endParaRPr lang="en-US" sz="1200" dirty="0"/>
          </a:p>
        </p:txBody>
      </p:sp>
      <p:sp>
        <p:nvSpPr>
          <p:cNvPr id="43" name="Text 27">
            <a:extLst>
              <a:ext uri="{FF2B5EF4-FFF2-40B4-BE49-F238E27FC236}">
                <a16:creationId xmlns:a16="http://schemas.microsoft.com/office/drawing/2014/main" id="{0C595636-99DD-8272-BA2B-4B597FA8E4D6}"/>
              </a:ext>
            </a:extLst>
          </p:cNvPr>
          <p:cNvSpPr/>
          <p:nvPr/>
        </p:nvSpPr>
        <p:spPr>
          <a:xfrm>
            <a:off x="4662153" y="4315087"/>
            <a:ext cx="40098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variabili correlate </a:t>
            </a:r>
            <a:r>
              <a:rPr lang="en-US" sz="11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distribuisce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l’importanza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arbitrariamente tra variabili simili.</a:t>
            </a:r>
            <a:endParaRPr lang="en-US" sz="1100" dirty="0"/>
          </a:p>
        </p:txBody>
      </p:sp>
      <p:sp>
        <p:nvSpPr>
          <p:cNvPr id="44" name="Text 28">
            <a:extLst>
              <a:ext uri="{FF2B5EF4-FFF2-40B4-BE49-F238E27FC236}">
                <a16:creationId xmlns:a16="http://schemas.microsoft.com/office/drawing/2014/main" id="{07C68074-6E71-129C-4342-B1FEE9EFE9B4}"/>
              </a:ext>
            </a:extLst>
          </p:cNvPr>
          <p:cNvSpPr/>
          <p:nvPr/>
        </p:nvSpPr>
        <p:spPr>
          <a:xfrm>
            <a:off x="4662154" y="458231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più lento da calcolare.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431209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Il bias della MDI: perché favorisce alta cardinalità</a:t>
            </a:r>
          </a:p>
        </p:txBody>
      </p:sp>
      <p:sp>
        <p:nvSpPr>
          <p:cNvPr id="2" name="Text 29">
            <a:extLst>
              <a:ext uri="{FF2B5EF4-FFF2-40B4-BE49-F238E27FC236}">
                <a16:creationId xmlns:a16="http://schemas.microsoft.com/office/drawing/2014/main" id="{6E33B095-E968-8AF7-7F3E-9A1EC44DB335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4/12</a:t>
            </a:r>
            <a:endParaRPr lang="en-US" sz="900" dirty="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0A601F60-F0CD-83C7-C6E9-256CB43ACC20}"/>
              </a:ext>
            </a:extLst>
          </p:cNvPr>
          <p:cNvSpPr/>
          <p:nvPr/>
        </p:nvSpPr>
        <p:spPr>
          <a:xfrm>
            <a:off x="181758" y="889555"/>
            <a:ext cx="7502719" cy="3296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it-IT" sz="20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Più valori possibili = più opportunità di sembrare utile per caso.</a:t>
            </a:r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53928D39-5B27-8CA2-CB49-047F62615E14}"/>
              </a:ext>
            </a:extLst>
          </p:cNvPr>
          <p:cNvSpPr/>
          <p:nvPr/>
        </p:nvSpPr>
        <p:spPr>
          <a:xfrm>
            <a:off x="182880" y="2322356"/>
            <a:ext cx="8609428" cy="3296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it-IT" sz="20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Il feature </a:t>
            </a:r>
            <a:r>
              <a:rPr lang="it-IT" sz="20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subsampling</a:t>
            </a:r>
            <a:r>
              <a:rPr lang="it-IT" sz="20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amplifica il problema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AF249C96-CD25-D2D0-61B9-5ABB136B5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352" y="3599929"/>
            <a:ext cx="8377300" cy="951268"/>
          </a:xfrm>
          <a:prstGeom prst="rect">
            <a:avLst/>
          </a:prstGeom>
        </p:spPr>
      </p:pic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5CA141BE-9370-549D-D4A0-D0471DEB920B}"/>
              </a:ext>
            </a:extLst>
          </p:cNvPr>
          <p:cNvSpPr txBox="1"/>
          <p:nvPr/>
        </p:nvSpPr>
        <p:spPr>
          <a:xfrm>
            <a:off x="505651" y="1228190"/>
            <a:ext cx="83291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Le variabili continue offrono </a:t>
            </a:r>
            <a:r>
              <a:rPr lang="it-IT" sz="1400" b="1" dirty="0"/>
              <a:t>centinaia di soglie </a:t>
            </a:r>
            <a:r>
              <a:rPr lang="it-IT" sz="1400" dirty="0"/>
              <a:t>rispetto all'unico taglio di una binaria. </a:t>
            </a:r>
          </a:p>
          <a:p>
            <a:r>
              <a:rPr lang="it-IT" sz="1400" dirty="0"/>
              <a:t>Questo eccesso di tentativi permette al </a:t>
            </a:r>
            <a:r>
              <a:rPr lang="it-IT" sz="1400" b="1" dirty="0"/>
              <a:t>puro rumore</a:t>
            </a:r>
            <a:r>
              <a:rPr lang="it-IT" sz="1400" dirty="0"/>
              <a:t> di simulare, per puro caso, una </a:t>
            </a:r>
            <a:r>
              <a:rPr lang="it-IT" sz="1400" b="1" dirty="0"/>
              <a:t>soglia utile</a:t>
            </a:r>
            <a:r>
              <a:rPr lang="it-IT" sz="1400" dirty="0"/>
              <a:t>. 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5893660E-93AF-0EF7-FDF1-F724943C7BA2}"/>
              </a:ext>
            </a:extLst>
          </p:cNvPr>
          <p:cNvSpPr txBox="1"/>
          <p:nvPr/>
        </p:nvSpPr>
        <p:spPr>
          <a:xfrm>
            <a:off x="581851" y="2666698"/>
            <a:ext cx="82104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 ogni split si considerano solo </a:t>
            </a:r>
            <a:r>
              <a:rPr kumimoji="0" lang="it-IT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</a:t>
            </a:r>
            <a:r>
              <a:rPr kumimoji="0" lang="it-IT" sz="1400" b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try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&lt; p variabili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una variabile ad alta cardinalità ha più probabilità di risultare la “migliore” nel sottoinsieme estratto per puro caso</a:t>
            </a:r>
            <a:endParaRPr lang="it-IT" dirty="0"/>
          </a:p>
        </p:txBody>
      </p: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398E5D50-AB98-EC93-2CDB-D36E6BFD65BE}"/>
              </a:ext>
            </a:extLst>
          </p:cNvPr>
          <p:cNvCxnSpPr>
            <a:cxnSpLocks/>
          </p:cNvCxnSpPr>
          <p:nvPr/>
        </p:nvCxnSpPr>
        <p:spPr>
          <a:xfrm>
            <a:off x="181758" y="2179212"/>
            <a:ext cx="8528488" cy="0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6D66274C-37F7-C6AC-44D5-F836A684B280}"/>
              </a:ext>
            </a:extLst>
          </p:cNvPr>
          <p:cNvCxnSpPr>
            <a:cxnSpLocks/>
          </p:cNvCxnSpPr>
          <p:nvPr/>
        </p:nvCxnSpPr>
        <p:spPr>
          <a:xfrm>
            <a:off x="136424" y="3415996"/>
            <a:ext cx="8528488" cy="0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83F3A-223C-4FFD-3380-55DFF0BD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>
            <a:extLst>
              <a:ext uri="{FF2B5EF4-FFF2-40B4-BE49-F238E27FC236}">
                <a16:creationId xmlns:a16="http://schemas.microsoft.com/office/drawing/2014/main" id="{43B012AA-5B62-CB2B-B759-DD31D3595D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2" name="Title">
            <a:extLst>
              <a:ext uri="{FF2B5EF4-FFF2-40B4-BE49-F238E27FC236}">
                <a16:creationId xmlns:a16="http://schemas.microsoft.com/office/drawing/2014/main" id="{1CCC4608-3BD0-0700-E7E8-49DDC398BC5F}"/>
              </a:ext>
            </a:extLst>
          </p:cNvPr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Esperimento 1 — Bias MDI</a:t>
            </a:r>
          </a:p>
        </p:txBody>
      </p:sp>
      <p:sp>
        <p:nvSpPr>
          <p:cNvPr id="10" name="SetupBg">
            <a:extLst>
              <a:ext uri="{FF2B5EF4-FFF2-40B4-BE49-F238E27FC236}">
                <a16:creationId xmlns:a16="http://schemas.microsoft.com/office/drawing/2014/main" id="{D2EAC83E-B0DF-FDB3-A5B7-C7647DC53441}"/>
              </a:ext>
            </a:extLst>
          </p:cNvPr>
          <p:cNvSpPr/>
          <p:nvPr/>
        </p:nvSpPr>
        <p:spPr>
          <a:xfrm>
            <a:off x="182000" y="810000"/>
            <a:ext cx="8780000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SetupTxt">
            <a:extLst>
              <a:ext uri="{FF2B5EF4-FFF2-40B4-BE49-F238E27FC236}">
                <a16:creationId xmlns:a16="http://schemas.microsoft.com/office/drawing/2014/main" id="{8A6C1D28-4957-5078-B4EF-554916A4673F}"/>
              </a:ext>
            </a:extLst>
          </p:cNvPr>
          <p:cNvSpPr/>
          <p:nvPr/>
        </p:nvSpPr>
        <p:spPr>
          <a:xfrm>
            <a:off x="242000" y="810000"/>
            <a:ext cx="866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n=600, Y = rumore puro, 4 predittori tutti rumore con cardinalità crescente</a:t>
            </a:r>
          </a:p>
        </p:txBody>
      </p:sp>
      <p:sp>
        <p:nvSpPr>
          <p:cNvPr id="22" name="Arr0">
            <a:extLst>
              <a:ext uri="{FF2B5EF4-FFF2-40B4-BE49-F238E27FC236}">
                <a16:creationId xmlns:a16="http://schemas.microsoft.com/office/drawing/2014/main" id="{29BAD6EF-75D3-F5E8-0231-9AC8F6293C2A}"/>
              </a:ext>
            </a:extLst>
          </p:cNvPr>
          <p:cNvSpPr/>
          <p:nvPr/>
        </p:nvSpPr>
        <p:spPr>
          <a:xfrm>
            <a:off x="2327000" y="1260000"/>
            <a:ext cx="6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endParaRPr lang="it-IT" sz="1800" b="1" dirty="0">
              <a:solidFill>
                <a:srgbClr val="546E7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VCTxt1">
            <a:extLst>
              <a:ext uri="{FF2B5EF4-FFF2-40B4-BE49-F238E27FC236}">
                <a16:creationId xmlns:a16="http://schemas.microsoft.com/office/drawing/2014/main" id="{A6DAE7DA-3296-34D6-382C-51E3DF19F987}"/>
              </a:ext>
            </a:extLst>
          </p:cNvPr>
          <p:cNvSpPr/>
          <p:nvPr/>
        </p:nvSpPr>
        <p:spPr>
          <a:xfrm>
            <a:off x="2397000" y="1260000"/>
            <a:ext cx="2135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 cat5</a:t>
            </a:r>
          </a:p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(5 cat)</a:t>
            </a:r>
          </a:p>
        </p:txBody>
      </p:sp>
      <p:sp>
        <p:nvSpPr>
          <p:cNvPr id="27" name="Arr1">
            <a:extLst>
              <a:ext uri="{FF2B5EF4-FFF2-40B4-BE49-F238E27FC236}">
                <a16:creationId xmlns:a16="http://schemas.microsoft.com/office/drawing/2014/main" id="{6BE26101-4FFE-47ED-3B3F-49FA70DA9B31}"/>
              </a:ext>
            </a:extLst>
          </p:cNvPr>
          <p:cNvSpPr/>
          <p:nvPr/>
        </p:nvSpPr>
        <p:spPr>
          <a:xfrm>
            <a:off x="4542000" y="1260000"/>
            <a:ext cx="6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endParaRPr lang="it-IT" sz="1800" b="1" dirty="0">
              <a:solidFill>
                <a:srgbClr val="546E7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" name="VCTxt2">
            <a:extLst>
              <a:ext uri="{FF2B5EF4-FFF2-40B4-BE49-F238E27FC236}">
                <a16:creationId xmlns:a16="http://schemas.microsoft.com/office/drawing/2014/main" id="{1DE43079-6BCE-4D8F-B99C-B27672EE7826}"/>
              </a:ext>
            </a:extLst>
          </p:cNvPr>
          <p:cNvSpPr/>
          <p:nvPr/>
        </p:nvSpPr>
        <p:spPr>
          <a:xfrm>
            <a:off x="4612000" y="1260000"/>
            <a:ext cx="2135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 cat15</a:t>
            </a:r>
          </a:p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(15 cat)</a:t>
            </a:r>
          </a:p>
        </p:txBody>
      </p:sp>
      <p:sp>
        <p:nvSpPr>
          <p:cNvPr id="32" name="Arr2">
            <a:extLst>
              <a:ext uri="{FF2B5EF4-FFF2-40B4-BE49-F238E27FC236}">
                <a16:creationId xmlns:a16="http://schemas.microsoft.com/office/drawing/2014/main" id="{3634995F-7611-7F23-A19C-FD9824B03107}"/>
              </a:ext>
            </a:extLst>
          </p:cNvPr>
          <p:cNvSpPr/>
          <p:nvPr/>
        </p:nvSpPr>
        <p:spPr>
          <a:xfrm>
            <a:off x="6757000" y="1260000"/>
            <a:ext cx="6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endParaRPr lang="it-IT" sz="1800" b="1" dirty="0">
              <a:solidFill>
                <a:srgbClr val="546E7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VCTxt3">
            <a:extLst>
              <a:ext uri="{FF2B5EF4-FFF2-40B4-BE49-F238E27FC236}">
                <a16:creationId xmlns:a16="http://schemas.microsoft.com/office/drawing/2014/main" id="{B370BA28-BE68-58AB-A6D5-3A3BEA923F7E}"/>
              </a:ext>
            </a:extLst>
          </p:cNvPr>
          <p:cNvSpPr/>
          <p:nvPr/>
        </p:nvSpPr>
        <p:spPr>
          <a:xfrm>
            <a:off x="6827000" y="1260000"/>
            <a:ext cx="2135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 cont</a:t>
            </a:r>
          </a:p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(continua)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915BD9D-4263-2441-A336-EFBFBA9B4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969" y="1379370"/>
            <a:ext cx="6630079" cy="3500888"/>
          </a:xfrm>
          <a:prstGeom prst="rect">
            <a:avLst/>
          </a:prstGeom>
        </p:spPr>
      </p:pic>
      <p:sp>
        <p:nvSpPr>
          <p:cNvPr id="5" name="Text 29">
            <a:extLst>
              <a:ext uri="{FF2B5EF4-FFF2-40B4-BE49-F238E27FC236}">
                <a16:creationId xmlns:a16="http://schemas.microsoft.com/office/drawing/2014/main" id="{1FF86554-45FC-76D2-A2A3-CD9F49C6ABF8}"/>
              </a:ext>
            </a:extLst>
          </p:cNvPr>
          <p:cNvSpPr/>
          <p:nvPr/>
        </p:nvSpPr>
        <p:spPr>
          <a:xfrm>
            <a:off x="181758" y="4887585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5/12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82760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6">
            <a:extLst>
              <a:ext uri="{FF2B5EF4-FFF2-40B4-BE49-F238E27FC236}">
                <a16:creationId xmlns:a16="http://schemas.microsoft.com/office/drawing/2014/main" id="{5882D6BD-ACA5-5FB2-1A09-D7B650E3A4D4}"/>
              </a:ext>
            </a:extLst>
          </p:cNvPr>
          <p:cNvSpPr/>
          <p:nvPr/>
        </p:nvSpPr>
        <p:spPr>
          <a:xfrm>
            <a:off x="3157118" y="1845944"/>
            <a:ext cx="2864682" cy="563158"/>
          </a:xfrm>
          <a:prstGeom prst="rect">
            <a:avLst/>
          </a:prstGeom>
          <a:solidFill>
            <a:srgbClr val="EEF2FA"/>
          </a:solidFill>
          <a:ln w="6350">
            <a:solidFill>
              <a:srgbClr val="BDD0F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FE69D547-D75D-BB4A-EB9E-D693BE1BD126}"/>
              </a:ext>
            </a:extLst>
          </p:cNvPr>
          <p:cNvSpPr/>
          <p:nvPr/>
        </p:nvSpPr>
        <p:spPr>
          <a:xfrm>
            <a:off x="211758" y="1833771"/>
            <a:ext cx="2806666" cy="563158"/>
          </a:xfrm>
          <a:prstGeom prst="rect">
            <a:avLst/>
          </a:prstGeom>
          <a:solidFill>
            <a:srgbClr val="EEF2FA"/>
          </a:solidFill>
          <a:ln w="6350">
            <a:solidFill>
              <a:srgbClr val="BDD0F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Il problema della correlazione e l’instabilità</a:t>
            </a:r>
          </a:p>
        </p:txBody>
      </p:sp>
      <p:sp>
        <p:nvSpPr>
          <p:cNvPr id="10" name="QBg"/>
          <p:cNvSpPr/>
          <p:nvPr/>
        </p:nvSpPr>
        <p:spPr>
          <a:xfrm>
            <a:off x="182000" y="820000"/>
            <a:ext cx="8780000" cy="3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" name="QTxt"/>
          <p:cNvSpPr/>
          <p:nvPr/>
        </p:nvSpPr>
        <p:spPr>
          <a:xfrm>
            <a:off x="182000" y="820000"/>
            <a:ext cx="86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800" b="1" dirty="0">
                <a:solidFill>
                  <a:srgbClr val="004180"/>
                </a:solidFill>
                <a:latin typeface="Calibri"/>
                <a:ea typeface="Calibri"/>
                <a:cs typeface="Calibri"/>
              </a:rPr>
              <a:t>Cosa succede quando due predittori sono fortemente correlati?</a:t>
            </a:r>
          </a:p>
        </p:txBody>
      </p:sp>
      <p:sp>
        <p:nvSpPr>
          <p:cNvPr id="22" name="CTxt0"/>
          <p:cNvSpPr/>
          <p:nvPr/>
        </p:nvSpPr>
        <p:spPr>
          <a:xfrm>
            <a:off x="222000" y="1440686"/>
            <a:ext cx="2806666" cy="41156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ctr">
              <a:buNone/>
            </a:pPr>
            <a:r>
              <a:rPr lang="it-IT" b="1" dirty="0">
                <a:solidFill>
                  <a:srgbClr val="004180"/>
                </a:solidFill>
                <a:latin typeface="Calibri"/>
                <a:ea typeface="Calibri"/>
                <a:cs typeface="Calibri"/>
              </a:rPr>
              <a:t>Premessa</a:t>
            </a:r>
            <a:endParaRPr lang="it-IT" sz="1300" b="1" dirty="0">
              <a:solidFill>
                <a:srgbClr val="00418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C652395-B74D-8E97-3EEA-561AC36EA4E7}"/>
              </a:ext>
            </a:extLst>
          </p:cNvPr>
          <p:cNvSpPr txBox="1"/>
          <p:nvPr/>
        </p:nvSpPr>
        <p:spPr>
          <a:xfrm>
            <a:off x="191758" y="1845943"/>
            <a:ext cx="28466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i="1" dirty="0">
                <a:solidFill>
                  <a:srgbClr val="004180"/>
                </a:solidFill>
              </a:rPr>
              <a:t>Entrambe le variabili sembrano ugualmente utili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F3B16B9F-3537-4567-BDA3-415C0EFE7B5F}"/>
              </a:ext>
            </a:extLst>
          </p:cNvPr>
          <p:cNvSpPr txBox="1"/>
          <p:nvPr/>
        </p:nvSpPr>
        <p:spPr>
          <a:xfrm>
            <a:off x="222000" y="2526332"/>
            <a:ext cx="284666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Con </a:t>
            </a:r>
            <a:r>
              <a:rPr lang="it-IT" sz="1400" b="1" dirty="0"/>
              <a:t>ρ alta</a:t>
            </a:r>
            <a:r>
              <a:rPr lang="it-IT" sz="1400" dirty="0"/>
              <a:t>, X₁ e X₂ producono quasi lo stesso guadagno di MSE</a:t>
            </a:r>
          </a:p>
          <a:p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La foresta </a:t>
            </a:r>
            <a:r>
              <a:rPr lang="it-IT" sz="1400" b="1" dirty="0"/>
              <a:t>non distingue</a:t>
            </a:r>
            <a:r>
              <a:rPr lang="it-IT" sz="1400" dirty="0"/>
              <a:t> quale sia davvero </a:t>
            </a:r>
            <a:r>
              <a:rPr lang="it-IT" sz="1400" b="1" dirty="0"/>
              <a:t>causale</a:t>
            </a:r>
          </a:p>
        </p:txBody>
      </p:sp>
      <p:cxnSp>
        <p:nvCxnSpPr>
          <p:cNvPr id="6" name="Connettore 2 5">
            <a:extLst>
              <a:ext uri="{FF2B5EF4-FFF2-40B4-BE49-F238E27FC236}">
                <a16:creationId xmlns:a16="http://schemas.microsoft.com/office/drawing/2014/main" id="{F6F69BAD-A95A-DA30-769E-FF4E62A0D183}"/>
              </a:ext>
            </a:extLst>
          </p:cNvPr>
          <p:cNvCxnSpPr>
            <a:cxnSpLocks/>
          </p:cNvCxnSpPr>
          <p:nvPr/>
        </p:nvCxnSpPr>
        <p:spPr>
          <a:xfrm flipH="1">
            <a:off x="3068666" y="1399686"/>
            <a:ext cx="16144" cy="2932615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8" name="CTxt0">
            <a:extLst>
              <a:ext uri="{FF2B5EF4-FFF2-40B4-BE49-F238E27FC236}">
                <a16:creationId xmlns:a16="http://schemas.microsoft.com/office/drawing/2014/main" id="{FF93BB77-9D99-31EA-735F-DDDB33A34E63}"/>
              </a:ext>
            </a:extLst>
          </p:cNvPr>
          <p:cNvSpPr/>
          <p:nvPr/>
        </p:nvSpPr>
        <p:spPr>
          <a:xfrm>
            <a:off x="3149972" y="1434374"/>
            <a:ext cx="2806666" cy="41156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ctr">
              <a:buNone/>
            </a:pPr>
            <a:r>
              <a:rPr lang="it-IT" b="1" dirty="0">
                <a:solidFill>
                  <a:srgbClr val="004180"/>
                </a:solidFill>
                <a:latin typeface="Calibri"/>
                <a:ea typeface="Calibri"/>
                <a:cs typeface="Calibri"/>
              </a:rPr>
              <a:t>Meccanismo</a:t>
            </a:r>
            <a:endParaRPr lang="it-IT" sz="1300" b="1" dirty="0">
              <a:solidFill>
                <a:srgbClr val="00418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A4F1E74-559C-2B13-2E2A-C439283A1299}"/>
              </a:ext>
            </a:extLst>
          </p:cNvPr>
          <p:cNvSpPr txBox="1"/>
          <p:nvPr/>
        </p:nvSpPr>
        <p:spPr>
          <a:xfrm>
            <a:off x="3175134" y="1933943"/>
            <a:ext cx="28466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i="1" dirty="0">
                <a:solidFill>
                  <a:srgbClr val="004180"/>
                </a:solidFill>
              </a:rPr>
              <a:t>Chi vince dipende dal caso</a:t>
            </a:r>
            <a:endParaRPr lang="it-IT" sz="1400" i="1" dirty="0">
              <a:solidFill>
                <a:srgbClr val="004180"/>
              </a:solidFill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F5893225-B40B-AB2B-4831-801292C6E143}"/>
              </a:ext>
            </a:extLst>
          </p:cNvPr>
          <p:cNvSpPr txBox="1"/>
          <p:nvPr/>
        </p:nvSpPr>
        <p:spPr>
          <a:xfrm>
            <a:off x="3161522" y="2526332"/>
            <a:ext cx="284666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b="1" dirty="0"/>
              <a:t>Bootstrap</a:t>
            </a:r>
            <a:r>
              <a:rPr lang="it-IT" sz="1400" dirty="0"/>
              <a:t> e </a:t>
            </a:r>
            <a:r>
              <a:rPr lang="it-IT" sz="1400" b="1" dirty="0" err="1"/>
              <a:t>mtry</a:t>
            </a:r>
            <a:r>
              <a:rPr lang="it-IT" sz="1400" dirty="0"/>
              <a:t> scelgono casualmente quale variabile è disponibile ad ogni split.</a:t>
            </a:r>
          </a:p>
          <a:p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La "vincitrice" accumula importanza per pura fortuna</a:t>
            </a:r>
            <a:endParaRPr lang="it-IT" sz="1400" b="1" dirty="0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E56E0C87-5AFC-7335-B856-E5BC326BD1C2}"/>
              </a:ext>
            </a:extLst>
          </p:cNvPr>
          <p:cNvSpPr/>
          <p:nvPr/>
        </p:nvSpPr>
        <p:spPr>
          <a:xfrm>
            <a:off x="6116988" y="1845943"/>
            <a:ext cx="2864682" cy="563158"/>
          </a:xfrm>
          <a:prstGeom prst="rect">
            <a:avLst/>
          </a:prstGeom>
          <a:solidFill>
            <a:srgbClr val="EEF2FA"/>
          </a:solidFill>
          <a:ln w="6350">
            <a:solidFill>
              <a:srgbClr val="BDD0F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p:sp>
        <p:nvSpPr>
          <p:cNvPr id="17" name="CTxt0">
            <a:extLst>
              <a:ext uri="{FF2B5EF4-FFF2-40B4-BE49-F238E27FC236}">
                <a16:creationId xmlns:a16="http://schemas.microsoft.com/office/drawing/2014/main" id="{32E99013-2908-AF38-C50D-72C704B3BE18}"/>
              </a:ext>
            </a:extLst>
          </p:cNvPr>
          <p:cNvSpPr/>
          <p:nvPr/>
        </p:nvSpPr>
        <p:spPr>
          <a:xfrm>
            <a:off x="6090170" y="1434374"/>
            <a:ext cx="2806666" cy="41156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ctr">
              <a:buNone/>
            </a:pPr>
            <a:r>
              <a:rPr lang="it-IT" b="1" dirty="0">
                <a:solidFill>
                  <a:srgbClr val="004180"/>
                </a:solidFill>
                <a:latin typeface="Calibri"/>
                <a:ea typeface="Calibri"/>
                <a:cs typeface="Calibri"/>
              </a:rPr>
              <a:t>Effetto</a:t>
            </a:r>
            <a:endParaRPr lang="it-IT" sz="1300" b="1" dirty="0">
              <a:solidFill>
                <a:srgbClr val="00418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C8BEA4D-0C51-D87D-96E0-D7BD419D8502}"/>
              </a:ext>
            </a:extLst>
          </p:cNvPr>
          <p:cNvSpPr txBox="1"/>
          <p:nvPr/>
        </p:nvSpPr>
        <p:spPr>
          <a:xfrm>
            <a:off x="6106324" y="1816220"/>
            <a:ext cx="28066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rgbClr val="004180"/>
                </a:solidFill>
              </a:rPr>
              <a:t> </a:t>
            </a:r>
            <a:r>
              <a:rPr lang="it-IT" sz="1600" i="1" dirty="0">
                <a:solidFill>
                  <a:srgbClr val="004180"/>
                </a:solidFill>
              </a:rPr>
              <a:t>L'importanza si distribuisce arbitrariamente</a:t>
            </a:r>
            <a:endParaRPr lang="it-IT" sz="1400" i="1" dirty="0">
              <a:solidFill>
                <a:srgbClr val="004180"/>
              </a:solidFill>
            </a:endParaRP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A4AE563-B5C1-5211-DA69-B3E0CAA1747E}"/>
              </a:ext>
            </a:extLst>
          </p:cNvPr>
          <p:cNvSpPr txBox="1"/>
          <p:nvPr/>
        </p:nvSpPr>
        <p:spPr>
          <a:xfrm>
            <a:off x="6090170" y="2520020"/>
            <a:ext cx="28466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La </a:t>
            </a:r>
            <a:r>
              <a:rPr lang="it-IT" sz="1400" b="1" dirty="0"/>
              <a:t>classifica</a:t>
            </a:r>
            <a:r>
              <a:rPr lang="it-IT" sz="1400" dirty="0"/>
              <a:t> cambia ad ogni </a:t>
            </a:r>
            <a:r>
              <a:rPr lang="it-IT" sz="1400" b="1" dirty="0" err="1"/>
              <a:t>run</a:t>
            </a:r>
            <a:r>
              <a:rPr lang="it-IT" sz="1400" dirty="0"/>
              <a:t>, anche sugli stessi dati.</a:t>
            </a:r>
          </a:p>
        </p:txBody>
      </p:sp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799C616E-1708-E764-AB97-E36E85D38413}"/>
              </a:ext>
            </a:extLst>
          </p:cNvPr>
          <p:cNvCxnSpPr>
            <a:cxnSpLocks/>
          </p:cNvCxnSpPr>
          <p:nvPr/>
        </p:nvCxnSpPr>
        <p:spPr>
          <a:xfrm>
            <a:off x="6060824" y="1399686"/>
            <a:ext cx="31888" cy="2984745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675B2952-9B67-5B36-2439-A9C82CDE1763}"/>
              </a:ext>
            </a:extLst>
          </p:cNvPr>
          <p:cNvCxnSpPr>
            <a:cxnSpLocks/>
          </p:cNvCxnSpPr>
          <p:nvPr/>
        </p:nvCxnSpPr>
        <p:spPr>
          <a:xfrm>
            <a:off x="181758" y="1320686"/>
            <a:ext cx="8610550" cy="0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5" name="Text 29">
            <a:extLst>
              <a:ext uri="{FF2B5EF4-FFF2-40B4-BE49-F238E27FC236}">
                <a16:creationId xmlns:a16="http://schemas.microsoft.com/office/drawing/2014/main" id="{3B0EA4BD-286A-75B2-CF93-24AF3CF304CB}"/>
              </a:ext>
            </a:extLst>
          </p:cNvPr>
          <p:cNvSpPr/>
          <p:nvPr/>
        </p:nvSpPr>
        <p:spPr>
          <a:xfrm>
            <a:off x="181758" y="4887585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6/12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Esperimento 2 — L’effetto della Correlazione</a:t>
            </a:r>
          </a:p>
        </p:txBody>
      </p:sp>
      <p:sp>
        <p:nvSpPr>
          <p:cNvPr id="2" name="SetupBg">
            <a:extLst>
              <a:ext uri="{FF2B5EF4-FFF2-40B4-BE49-F238E27FC236}">
                <a16:creationId xmlns:a16="http://schemas.microsoft.com/office/drawing/2014/main" id="{BA8CD6CA-ABEF-8EC5-EFFE-04CED07EECA3}"/>
              </a:ext>
            </a:extLst>
          </p:cNvPr>
          <p:cNvSpPr/>
          <p:nvPr/>
        </p:nvSpPr>
        <p:spPr>
          <a:xfrm>
            <a:off x="182000" y="758692"/>
            <a:ext cx="8780000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4" name="SetupTxt">
            <a:extLst>
              <a:ext uri="{FF2B5EF4-FFF2-40B4-BE49-F238E27FC236}">
                <a16:creationId xmlns:a16="http://schemas.microsoft.com/office/drawing/2014/main" id="{DFEEA9E2-1B9D-9AE3-9C95-4B357FE642A0}"/>
              </a:ext>
            </a:extLst>
          </p:cNvPr>
          <p:cNvSpPr/>
          <p:nvPr/>
        </p:nvSpPr>
        <p:spPr>
          <a:xfrm>
            <a:off x="242000" y="758692"/>
            <a:ext cx="866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p=12 predittori - struttura AR(1) con ρ=0.95 - solo X₁ è causale - n=150 - 30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run</a:t>
            </a: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con diversi </a:t>
            </a:r>
            <a:r>
              <a:rPr lang="it-IT" sz="13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seeds</a:t>
            </a:r>
            <a:endParaRPr lang="it-IT" sz="1300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D3F88270-18EB-E482-18E9-D5607A31F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122" y="1358845"/>
            <a:ext cx="6355003" cy="3306940"/>
          </a:xfrm>
          <a:prstGeom prst="rect">
            <a:avLst/>
          </a:prstGeom>
        </p:spPr>
      </p:pic>
      <p:sp>
        <p:nvSpPr>
          <p:cNvPr id="7" name="Text 29">
            <a:extLst>
              <a:ext uri="{FF2B5EF4-FFF2-40B4-BE49-F238E27FC236}">
                <a16:creationId xmlns:a16="http://schemas.microsoft.com/office/drawing/2014/main" id="{818F7926-0FE1-9E1A-A62A-20721AC6A725}"/>
              </a:ext>
            </a:extLst>
          </p:cNvPr>
          <p:cNvSpPr/>
          <p:nvPr/>
        </p:nvSpPr>
        <p:spPr>
          <a:xfrm>
            <a:off x="181758" y="4887585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7/12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17C8C-3323-DBB1-CFEE-388932B79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>
            <a:extLst>
              <a:ext uri="{FF2B5EF4-FFF2-40B4-BE49-F238E27FC236}">
                <a16:creationId xmlns:a16="http://schemas.microsoft.com/office/drawing/2014/main" id="{E807D0A3-CD08-FC47-8FAE-DC8174D0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2" name="Title">
            <a:extLst>
              <a:ext uri="{FF2B5EF4-FFF2-40B4-BE49-F238E27FC236}">
                <a16:creationId xmlns:a16="http://schemas.microsoft.com/office/drawing/2014/main" id="{5B90A0E9-E561-6F25-92B3-27DBC363D410}"/>
              </a:ext>
            </a:extLst>
          </p:cNvPr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Possibile soluzione: </a:t>
            </a:r>
            <a:r>
              <a:rPr lang="it-IT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Conditional</a:t>
            </a: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Importance</a:t>
            </a:r>
            <a:endParaRPr lang="it-IT" sz="2800" b="1" dirty="0">
              <a:solidFill>
                <a:srgbClr val="1B3D7D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ext 29">
            <a:extLst>
              <a:ext uri="{FF2B5EF4-FFF2-40B4-BE49-F238E27FC236}">
                <a16:creationId xmlns:a16="http://schemas.microsoft.com/office/drawing/2014/main" id="{1E8AE4CD-9326-56D1-86EC-352FC3B349C5}"/>
              </a:ext>
            </a:extLst>
          </p:cNvPr>
          <p:cNvSpPr/>
          <p:nvPr/>
        </p:nvSpPr>
        <p:spPr>
          <a:xfrm>
            <a:off x="181758" y="4887585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8/12</a:t>
            </a:r>
            <a:endParaRPr lang="en-US" sz="900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FF42EC1-946D-B25C-C5E2-563FB2F1CDB2}"/>
              </a:ext>
            </a:extLst>
          </p:cNvPr>
          <p:cNvSpPr txBox="1"/>
          <p:nvPr/>
        </p:nvSpPr>
        <p:spPr>
          <a:xfrm>
            <a:off x="270387" y="1880010"/>
            <a:ext cx="369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4180"/>
                </a:solidFill>
              </a:rPr>
              <a:t>Meccanismo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0A2782E7-C3CF-DB58-82D5-572A6B840289}"/>
              </a:ext>
            </a:extLst>
          </p:cNvPr>
          <p:cNvSpPr txBox="1"/>
          <p:nvPr/>
        </p:nvSpPr>
        <p:spPr>
          <a:xfrm>
            <a:off x="456078" y="978188"/>
            <a:ext cx="8619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i="1" dirty="0"/>
              <a:t>Estensione della MDA </a:t>
            </a:r>
            <a:r>
              <a:rPr lang="it-IT" sz="1400" i="1" dirty="0"/>
              <a:t>che permuta Xⱼ rispetto alla sua distribuzione </a:t>
            </a:r>
            <a:r>
              <a:rPr lang="it-IT" sz="1400" b="1" i="1" dirty="0"/>
              <a:t>condizionale Xⱼ | Z</a:t>
            </a:r>
            <a:r>
              <a:rPr lang="it-IT" sz="1400" i="1" dirty="0"/>
              <a:t>, anziché rispetto alla distribuzione marginale.</a:t>
            </a:r>
          </a:p>
          <a:p>
            <a:r>
              <a:rPr lang="it-IT" sz="1400" i="1" dirty="0"/>
              <a:t>In questo modo isola il </a:t>
            </a:r>
            <a:r>
              <a:rPr lang="it-IT" sz="1400" b="1" i="1" dirty="0"/>
              <a:t>contributo unico </a:t>
            </a:r>
            <a:r>
              <a:rPr lang="it-IT" sz="1400" i="1" dirty="0"/>
              <a:t>di Xⱼ al netto delle variabili correlate Z.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15DC8F57-DC0D-0CE9-86AA-B7C7639C1889}"/>
              </a:ext>
            </a:extLst>
          </p:cNvPr>
          <p:cNvCxnSpPr>
            <a:cxnSpLocks/>
          </p:cNvCxnSpPr>
          <p:nvPr/>
        </p:nvCxnSpPr>
        <p:spPr>
          <a:xfrm>
            <a:off x="312271" y="1859947"/>
            <a:ext cx="8610550" cy="0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94357AB7-D10F-1188-FFA5-427641BB2D05}"/>
              </a:ext>
            </a:extLst>
          </p:cNvPr>
          <p:cNvCxnSpPr>
            <a:cxnSpLocks/>
          </p:cNvCxnSpPr>
          <p:nvPr/>
        </p:nvCxnSpPr>
        <p:spPr>
          <a:xfrm flipH="1">
            <a:off x="4182358" y="1907459"/>
            <a:ext cx="16144" cy="2932615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4136DCB-8B6C-207D-4F96-F353D9BE4635}"/>
              </a:ext>
            </a:extLst>
          </p:cNvPr>
          <p:cNvSpPr txBox="1"/>
          <p:nvPr/>
        </p:nvSpPr>
        <p:spPr>
          <a:xfrm>
            <a:off x="312271" y="705354"/>
            <a:ext cx="8282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4180"/>
                </a:solidFill>
              </a:rPr>
              <a:t>Definizione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540AF6F8-4D41-896C-8BF6-0B9B70D3BBDA}"/>
                  </a:ext>
                </a:extLst>
              </p:cNvPr>
              <p:cNvSpPr txBox="1"/>
              <p:nvPr/>
            </p:nvSpPr>
            <p:spPr>
              <a:xfrm>
                <a:off x="390090" y="2191053"/>
                <a:ext cx="3808412" cy="14023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Le </a:t>
                </a:r>
                <a:r>
                  <a:rPr lang="it-IT" sz="1400" b="1" dirty="0"/>
                  <a:t>osservazioni OOB </a:t>
                </a:r>
                <a:r>
                  <a:rPr lang="it-IT" sz="1400" dirty="0"/>
                  <a:t>vengono raggruppate in base alle variabili </a:t>
                </a:r>
                <a:r>
                  <a:rPr lang="it-IT" sz="1400" b="1" dirty="0"/>
                  <a:t>correlate Z</a:t>
                </a:r>
                <a:r>
                  <a:rPr lang="it-IT" sz="1400" dirty="0"/>
                  <a:t> </a:t>
                </a:r>
              </a:p>
              <a:p>
                <a:r>
                  <a:rPr lang="it-IT" sz="1400" dirty="0"/>
                  <a:t>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it-IT" sz="1400" dirty="0"/>
                  <a:t>La variabile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400" b="1"/>
                        </m:ctrlPr>
                      </m:sSubPr>
                      <m:e>
                        <m:r>
                          <a:rPr lang="ar-AE" sz="1400" b="1" i="1"/>
                          <m:t>𝑿</m:t>
                        </m:r>
                      </m:e>
                      <m:sub>
                        <m:r>
                          <a:rPr lang="ar-AE" sz="1400" b="1" i="1"/>
                          <m:t>𝒋</m:t>
                        </m:r>
                      </m:sub>
                    </m:sSub>
                  </m:oMath>
                </a14:m>
                <a:r>
                  <a:rPr lang="it-IT" sz="1400" dirty="0"/>
                  <a:t> viene permutata all’interno di </a:t>
                </a:r>
                <a:r>
                  <a:rPr lang="it-IT" sz="1400" b="1" dirty="0"/>
                  <a:t>ciascun gruppo</a:t>
                </a:r>
                <a:r>
                  <a:rPr lang="it-IT" sz="1400" dirty="0"/>
                  <a:t>, mantenendo la </a:t>
                </a:r>
                <a:r>
                  <a:rPr lang="it-IT" sz="1400" b="1" dirty="0"/>
                  <a:t>dipendenza</a:t>
                </a:r>
                <a:r>
                  <a:rPr lang="it-IT" sz="1400" dirty="0"/>
                  <a:t> tra variabili</a:t>
                </a:r>
              </a:p>
            </p:txBody>
          </p:sp>
        </mc:Choice>
        <mc:Fallback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540AF6F8-4D41-896C-8BF6-0B9B70D3BB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090" y="2191053"/>
                <a:ext cx="3808412" cy="1402307"/>
              </a:xfrm>
              <a:prstGeom prst="rect">
                <a:avLst/>
              </a:prstGeom>
              <a:blipFill>
                <a:blip r:embed="rId3"/>
                <a:stretch>
                  <a:fillRect l="-320" t="-435" r="-800" b="-43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Shape 6">
            <a:extLst>
              <a:ext uri="{FF2B5EF4-FFF2-40B4-BE49-F238E27FC236}">
                <a16:creationId xmlns:a16="http://schemas.microsoft.com/office/drawing/2014/main" id="{3033512C-A9C0-D3AD-1BC4-2C0F33656D6C}"/>
              </a:ext>
            </a:extLst>
          </p:cNvPr>
          <p:cNvSpPr/>
          <p:nvPr/>
        </p:nvSpPr>
        <p:spPr>
          <a:xfrm>
            <a:off x="391436" y="3600730"/>
            <a:ext cx="3679556" cy="1133998"/>
          </a:xfrm>
          <a:prstGeom prst="rect">
            <a:avLst/>
          </a:prstGeom>
          <a:solidFill>
            <a:srgbClr val="EEF2FA"/>
          </a:solidFill>
          <a:ln w="6350">
            <a:solidFill>
              <a:srgbClr val="BDD0F0"/>
            </a:solidFill>
            <a:prstDash val="solid"/>
          </a:ln>
        </p:spPr>
        <p:txBody>
          <a:bodyPr/>
          <a:lstStyle/>
          <a:p>
            <a:endParaRPr lang="it-IT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58F5D58C-F527-B62D-73AD-CD2791E55CE8}"/>
                  </a:ext>
                </a:extLst>
              </p:cNvPr>
              <p:cNvSpPr txBox="1"/>
              <p:nvPr/>
            </p:nvSpPr>
            <p:spPr>
              <a:xfrm>
                <a:off x="-233019" y="3653973"/>
                <a:ext cx="5178519" cy="6116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it-IT" sz="1200" i="0" smtClean="0">
                          <a:latin typeface="Cambria Math" panose="02040503050406030204" pitchFamily="18" charset="0"/>
                        </a:rPr>
                        <m:t>CPI</m:t>
                      </m:r>
                      <m:d>
                        <m:dPr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it-IT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it-IT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it-IT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nor/>
                                    </m:rPr>
                                    <a:rPr lang="it-IT" sz="1200" i="0">
                                      <a:latin typeface="Cambria Math" panose="02040503050406030204" pitchFamily="18" charset="0"/>
                                    </a:rPr>
                                    <m:t>Acc</m:t>
                                  </m:r>
                                </m:e>
                                <m:sub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it-IT" sz="1200" i="0">
                                          <a:latin typeface="Cambria Math" panose="02040503050406030204" pitchFamily="18" charset="0"/>
                                        </a:rPr>
                                        <m:t>OOB</m:t>
                                      </m:r>
                                    </m:e>
                                    <m:sub>
                                      <m: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it-IT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nor/>
                                    </m:rPr>
                                    <a:rPr lang="it-IT" sz="1200" i="0">
                                      <a:latin typeface="Cambria Math" panose="02040503050406030204" pitchFamily="18" charset="0"/>
                                    </a:rPr>
                                    <m:t>Acc</m:t>
                                  </m:r>
                                </m:e>
                                <m:sub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it-IT" sz="1200" i="0">
                                          <a:latin typeface="Cambria Math" panose="02040503050406030204" pitchFamily="18" charset="0"/>
                                        </a:rPr>
                                        <m:t>OOB</m:t>
                                      </m:r>
                                    </m:e>
                                    <m:sub>
                                      <m:r>
                                        <a:rPr lang="it-IT" sz="1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58F5D58C-F527-B62D-73AD-CD2791E55C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33019" y="3653973"/>
                <a:ext cx="5178519" cy="61164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sellaDiTesto 28">
                <a:extLst>
                  <a:ext uri="{FF2B5EF4-FFF2-40B4-BE49-F238E27FC236}">
                    <a16:creationId xmlns:a16="http://schemas.microsoft.com/office/drawing/2014/main" id="{3DA3237C-B034-6E0D-6807-89886FBB4872}"/>
                  </a:ext>
                </a:extLst>
              </p:cNvPr>
              <p:cNvSpPr txBox="1"/>
              <p:nvPr/>
            </p:nvSpPr>
            <p:spPr>
              <a:xfrm>
                <a:off x="514693" y="4312295"/>
                <a:ext cx="3340930" cy="3075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200" i="0">
                              <a:latin typeface="Cambria Math" panose="02040503050406030204" pitchFamily="18" charset="0"/>
                            </a:rPr>
                            <m:t>𝒵</m:t>
                          </m:r>
                        </m:e>
                        <m:sub>
                          <m:r>
                            <a:rPr lang="it-IT" sz="1200" i="0">
                              <a:latin typeface="Cambria Math" panose="02040503050406030204" pitchFamily="18" charset="0"/>
                            </a:rPr>
                            <m:t>𝒿</m:t>
                          </m:r>
                        </m:sub>
                      </m:sSub>
                      <m:r>
                        <a:rPr lang="it-IT" sz="1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</m:rPr>
                        <a:rPr lang="it-IT" sz="1200" i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1200" i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 sz="1200" i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it-IT" sz="1200" i="0">
                          <a:latin typeface="Cambria Math" panose="02040503050406030204" pitchFamily="18" charset="0"/>
                        </a:rPr>
                        <m:t>:</m:t>
                      </m:r>
                      <m:d>
                        <m:dPr>
                          <m:begChr m:val="|"/>
                          <m:endChr m:val="|"/>
                          <m:ctrlPr>
                            <a:rPr lang="it-IT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it-IT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it-IT" sz="1200" i="0">
                                  <a:latin typeface="Cambria Math" panose="02040503050406030204" pitchFamily="18" charset="0"/>
                                </a:rPr>
                                <m:t>ρ</m:t>
                              </m:r>
                            </m:e>
                          </m:acc>
                          <m:d>
                            <m:dPr>
                              <m:ctrlPr>
                                <a:rPr lang="it-IT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it-IT" sz="1200" i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it-IT" sz="1200" i="0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  <m:r>
                                <a:rPr lang="it-IT" sz="1200" i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it-IT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it-IT" sz="1200" i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it-IT" sz="1200" i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it-IT" sz="1200" i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m:rPr>
                          <m:sty m:val="p"/>
                        </m:rPr>
                        <a:rPr lang="it-IT" sz="1200" i="0">
                          <a:latin typeface="Cambria Math" panose="02040503050406030204" pitchFamily="18" charset="0"/>
                        </a:rPr>
                        <m:t>λ</m:t>
                      </m:r>
                      <m:r>
                        <m:rPr>
                          <m:lit/>
                        </m:rPr>
                        <a:rPr lang="it-IT" sz="1200" i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it-IT" sz="1600" dirty="0"/>
              </a:p>
            </p:txBody>
          </p:sp>
        </mc:Choice>
        <mc:Fallback xmlns="">
          <p:sp>
            <p:nvSpPr>
              <p:cNvPr id="29" name="CasellaDiTesto 28">
                <a:extLst>
                  <a:ext uri="{FF2B5EF4-FFF2-40B4-BE49-F238E27FC236}">
                    <a16:creationId xmlns:a16="http://schemas.microsoft.com/office/drawing/2014/main" id="{3DA3237C-B034-6E0D-6807-89886FBB4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693" y="4312295"/>
                <a:ext cx="3340930" cy="307520"/>
              </a:xfrm>
              <a:prstGeom prst="rect">
                <a:avLst/>
              </a:prstGeom>
              <a:blipFill>
                <a:blip r:embed="rId5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CB6C74B4-A7CC-723D-627E-DAF7DC18B0BC}"/>
              </a:ext>
            </a:extLst>
          </p:cNvPr>
          <p:cNvSpPr txBox="1"/>
          <p:nvPr/>
        </p:nvSpPr>
        <p:spPr>
          <a:xfrm>
            <a:off x="4198502" y="1877342"/>
            <a:ext cx="369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04180"/>
                </a:solidFill>
              </a:rPr>
              <a:t>Proprietà</a:t>
            </a:r>
          </a:p>
        </p:txBody>
      </p:sp>
      <p:sp>
        <p:nvSpPr>
          <p:cNvPr id="64" name="Text 9">
            <a:extLst>
              <a:ext uri="{FF2B5EF4-FFF2-40B4-BE49-F238E27FC236}">
                <a16:creationId xmlns:a16="http://schemas.microsoft.com/office/drawing/2014/main" id="{BE1E2D1A-B491-3127-6BFA-5B4B09C1DC83}"/>
              </a:ext>
            </a:extLst>
          </p:cNvPr>
          <p:cNvSpPr/>
          <p:nvPr/>
        </p:nvSpPr>
        <p:spPr>
          <a:xfrm>
            <a:off x="4309868" y="2291891"/>
            <a:ext cx="417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Non </a:t>
            </a:r>
            <a:r>
              <a:rPr lang="en-US" sz="1600" b="1" dirty="0" err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distorta</a:t>
            </a:r>
            <a:endParaRPr lang="en-US" sz="1600" dirty="0"/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D2B540D2-67B7-D9A1-2B0A-ACF96301B7EA}"/>
              </a:ext>
            </a:extLst>
          </p:cNvPr>
          <p:cNvSpPr txBox="1"/>
          <p:nvPr/>
        </p:nvSpPr>
        <p:spPr>
          <a:xfrm>
            <a:off x="4454770" y="2518974"/>
            <a:ext cx="46892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/>
              <a:t>Elimina il </a:t>
            </a:r>
            <a:r>
              <a:rPr lang="it-IT" sz="1400" dirty="0" err="1"/>
              <a:t>bias</a:t>
            </a:r>
            <a:r>
              <a:rPr lang="it-IT" sz="1400" dirty="0"/>
              <a:t> da cardinalità a livello di splitting </a:t>
            </a:r>
          </a:p>
          <a:p>
            <a:r>
              <a:rPr lang="it-IT" sz="1400" dirty="0"/>
              <a:t>E[CPI(Xⱼ)] = 0 se Xⱼ ⊥ Y | Z</a:t>
            </a:r>
            <a:endParaRPr lang="it-IT" sz="1100" dirty="0"/>
          </a:p>
        </p:txBody>
      </p:sp>
      <p:sp>
        <p:nvSpPr>
          <p:cNvPr id="71" name="Text 9">
            <a:extLst>
              <a:ext uri="{FF2B5EF4-FFF2-40B4-BE49-F238E27FC236}">
                <a16:creationId xmlns:a16="http://schemas.microsoft.com/office/drawing/2014/main" id="{6FEA3F87-13B0-EF93-DDE4-3DFFB841FE7D}"/>
              </a:ext>
            </a:extLst>
          </p:cNvPr>
          <p:cNvSpPr/>
          <p:nvPr/>
        </p:nvSpPr>
        <p:spPr>
          <a:xfrm>
            <a:off x="4309868" y="3095169"/>
            <a:ext cx="417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it-IT" sz="1600" b="1" dirty="0">
                <a:solidFill>
                  <a:srgbClr val="2E7D32"/>
                </a:solidFill>
              </a:rPr>
              <a:t>Stabile con variabili correlate</a:t>
            </a:r>
            <a:endParaRPr lang="en-US" sz="1600" dirty="0">
              <a:solidFill>
                <a:srgbClr val="2E7D32"/>
              </a:solidFill>
            </a:endParaRPr>
          </a:p>
        </p:txBody>
      </p: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098F9634-B0D2-3E20-32D6-0C4BD62A64A1}"/>
              </a:ext>
            </a:extLst>
          </p:cNvPr>
          <p:cNvSpPr txBox="1"/>
          <p:nvPr/>
        </p:nvSpPr>
        <p:spPr>
          <a:xfrm>
            <a:off x="4454770" y="3338855"/>
            <a:ext cx="46892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/>
              <a:t>Permutando dentro Z, l'importanza non viene distribuita arbitrariamente tra Xⱼ e Z</a:t>
            </a:r>
          </a:p>
        </p:txBody>
      </p:sp>
      <p:sp>
        <p:nvSpPr>
          <p:cNvPr id="80" name="CasellaDiTesto 79">
            <a:extLst>
              <a:ext uri="{FF2B5EF4-FFF2-40B4-BE49-F238E27FC236}">
                <a16:creationId xmlns:a16="http://schemas.microsoft.com/office/drawing/2014/main" id="{DC290C67-60FD-4705-E7DD-251AE26917EF}"/>
              </a:ext>
            </a:extLst>
          </p:cNvPr>
          <p:cNvSpPr txBox="1"/>
          <p:nvPr/>
        </p:nvSpPr>
        <p:spPr>
          <a:xfrm>
            <a:off x="4256317" y="3972587"/>
            <a:ext cx="46892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C62828"/>
                </a:solidFill>
              </a:rPr>
              <a:t>✗ Implementazione: </a:t>
            </a:r>
            <a:r>
              <a:rPr lang="it-IT" sz="1600" b="1" dirty="0" err="1">
                <a:solidFill>
                  <a:srgbClr val="C62828"/>
                </a:solidFill>
              </a:rPr>
              <a:t>cforest</a:t>
            </a:r>
            <a:r>
              <a:rPr lang="it-IT" sz="1600" b="1" dirty="0">
                <a:solidFill>
                  <a:srgbClr val="C62828"/>
                </a:solidFill>
              </a:rPr>
              <a:t> (R)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372A74F-25F9-BF0D-DD1C-016E853EBDE1}"/>
              </a:ext>
            </a:extLst>
          </p:cNvPr>
          <p:cNvSpPr txBox="1"/>
          <p:nvPr/>
        </p:nvSpPr>
        <p:spPr>
          <a:xfrm>
            <a:off x="4449965" y="4297186"/>
            <a:ext cx="4597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/>
              <a:t>Elevato costo computazionale</a:t>
            </a:r>
          </a:p>
        </p:txBody>
      </p:sp>
    </p:spTree>
    <p:extLst>
      <p:ext uri="{BB962C8B-B14F-4D97-AF65-F5344CB8AC3E}">
        <p14:creationId xmlns:p14="http://schemas.microsoft.com/office/powerpoint/2010/main" val="2031704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41080" y="6476"/>
            <a:ext cx="800187" cy="670190"/>
          </a:xfrm>
          <a:prstGeom prst="rect">
            <a:avLst/>
          </a:prstGeom>
        </p:spPr>
      </p:pic>
      <p:sp>
        <p:nvSpPr>
          <p:cNvPr id="92" name="Title"/>
          <p:cNvSpPr/>
          <p:nvPr/>
        </p:nvSpPr>
        <p:spPr>
          <a:xfrm>
            <a:off x="794133" y="91272"/>
            <a:ext cx="8215002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7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Esp. 3 — MDI vs Permutation vs Conditional Importance</a:t>
            </a:r>
          </a:p>
        </p:txBody>
      </p:sp>
      <p:sp>
        <p:nvSpPr>
          <p:cNvPr id="32" name="MHdr0"/>
          <p:cNvSpPr/>
          <p:nvPr/>
        </p:nvSpPr>
        <p:spPr>
          <a:xfrm>
            <a:off x="342465" y="1386084"/>
            <a:ext cx="1824818" cy="3465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MDI</a:t>
            </a:r>
          </a:p>
        </p:txBody>
      </p:sp>
      <p:sp>
        <p:nvSpPr>
          <p:cNvPr id="33" name="MTxt0"/>
          <p:cNvSpPr/>
          <p:nvPr/>
        </p:nvSpPr>
        <p:spPr>
          <a:xfrm>
            <a:off x="595512" y="1681303"/>
            <a:ext cx="2757287" cy="7722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Distribuisce importanza su X₂ (≈0.6) e X₃–X₄ (≈0.3). </a:t>
            </a:r>
          </a:p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Profilo ‘sfumato’.</a:t>
            </a:r>
          </a:p>
        </p:txBody>
      </p:sp>
      <p:sp>
        <p:nvSpPr>
          <p:cNvPr id="36" name="MHdr1"/>
          <p:cNvSpPr/>
          <p:nvPr/>
        </p:nvSpPr>
        <p:spPr>
          <a:xfrm>
            <a:off x="342465" y="2448665"/>
            <a:ext cx="1824818" cy="34252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b="1" dirty="0" err="1">
                <a:solidFill>
                  <a:srgbClr val="F4A261"/>
                </a:solidFill>
                <a:latin typeface="Calibri"/>
                <a:ea typeface="Calibri"/>
                <a:cs typeface="Calibri"/>
              </a:rPr>
              <a:t>Permutation</a:t>
            </a:r>
            <a:endParaRPr lang="it-IT" b="1" dirty="0">
              <a:solidFill>
                <a:srgbClr val="F4A26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" name="MTxt1"/>
          <p:cNvSpPr/>
          <p:nvPr/>
        </p:nvSpPr>
        <p:spPr>
          <a:xfrm>
            <a:off x="595512" y="2748787"/>
            <a:ext cx="2698671" cy="7722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Simile a MDI nelle prime posizioni, importanza residua su molte variabili lontane.</a:t>
            </a:r>
          </a:p>
        </p:txBody>
      </p:sp>
      <p:sp>
        <p:nvSpPr>
          <p:cNvPr id="40" name="MHdr2"/>
          <p:cNvSpPr/>
          <p:nvPr/>
        </p:nvSpPr>
        <p:spPr>
          <a:xfrm>
            <a:off x="342465" y="3600927"/>
            <a:ext cx="1824818" cy="34252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Conditional</a:t>
            </a:r>
            <a:endParaRPr lang="it-IT" sz="1500" b="1" dirty="0">
              <a:solidFill>
                <a:srgbClr val="2A9D8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1" name="MTxt2"/>
          <p:cNvSpPr/>
          <p:nvPr/>
        </p:nvSpPr>
        <p:spPr>
          <a:xfrm>
            <a:off x="595512" y="3943456"/>
            <a:ext cx="2546271" cy="7722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Concentra ≈0.95 su X₁. X₂ scende a ≈0.45. </a:t>
            </a:r>
          </a:p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Tutto il resto vicino a zero. ✓</a:t>
            </a:r>
          </a:p>
        </p:txBody>
      </p:sp>
      <p:sp>
        <p:nvSpPr>
          <p:cNvPr id="4" name="SetupBg">
            <a:extLst>
              <a:ext uri="{FF2B5EF4-FFF2-40B4-BE49-F238E27FC236}">
                <a16:creationId xmlns:a16="http://schemas.microsoft.com/office/drawing/2014/main" id="{1D539A29-A3C0-65DD-4F73-0130BF5E86F7}"/>
              </a:ext>
            </a:extLst>
          </p:cNvPr>
          <p:cNvSpPr/>
          <p:nvPr/>
        </p:nvSpPr>
        <p:spPr>
          <a:xfrm>
            <a:off x="242000" y="717823"/>
            <a:ext cx="8780000" cy="45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5" name="SetupTxt">
            <a:extLst>
              <a:ext uri="{FF2B5EF4-FFF2-40B4-BE49-F238E27FC236}">
                <a16:creationId xmlns:a16="http://schemas.microsoft.com/office/drawing/2014/main" id="{58AAB149-C0C8-6D2F-8329-8B0A224E4B81}"/>
              </a:ext>
            </a:extLst>
          </p:cNvPr>
          <p:cNvSpPr/>
          <p:nvPr/>
        </p:nvSpPr>
        <p:spPr>
          <a:xfrm>
            <a:off x="302000" y="717823"/>
            <a:ext cx="866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p=12 predittori - struttura AR(1) con ρ=0.95 - solo X₁ è causale - n=150 - output normalizzato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F63521D4-D40F-04E9-9646-8D442FA88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8283" y="1209097"/>
            <a:ext cx="4871588" cy="3864751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A9C67F3C-A30A-D23D-5151-7AA79CFD7AF5}"/>
              </a:ext>
            </a:extLst>
          </p:cNvPr>
          <p:cNvCxnSpPr>
            <a:cxnSpLocks/>
          </p:cNvCxnSpPr>
          <p:nvPr/>
        </p:nvCxnSpPr>
        <p:spPr>
          <a:xfrm>
            <a:off x="3448161" y="1301262"/>
            <a:ext cx="0" cy="3628292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3" name="Text 29">
            <a:extLst>
              <a:ext uri="{FF2B5EF4-FFF2-40B4-BE49-F238E27FC236}">
                <a16:creationId xmlns:a16="http://schemas.microsoft.com/office/drawing/2014/main" id="{486D807E-310A-FA51-1EDE-3CD33C198356}"/>
              </a:ext>
            </a:extLst>
          </p:cNvPr>
          <p:cNvSpPr/>
          <p:nvPr/>
        </p:nvSpPr>
        <p:spPr>
          <a:xfrm>
            <a:off x="158985" y="4887585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9/12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Esperimento 4 — Validazione Quantitativa</a:t>
            </a:r>
          </a:p>
        </p:txBody>
      </p:sp>
      <p:sp>
        <p:nvSpPr>
          <p:cNvPr id="2" name="SetupBg">
            <a:extLst>
              <a:ext uri="{FF2B5EF4-FFF2-40B4-BE49-F238E27FC236}">
                <a16:creationId xmlns:a16="http://schemas.microsoft.com/office/drawing/2014/main" id="{C41E5EF4-57FC-9A83-3A87-3E073EACF028}"/>
              </a:ext>
            </a:extLst>
          </p:cNvPr>
          <p:cNvSpPr/>
          <p:nvPr/>
        </p:nvSpPr>
        <p:spPr>
          <a:xfrm>
            <a:off x="242000" y="650537"/>
            <a:ext cx="8780000" cy="667175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4" name="SetupTxt">
            <a:extLst>
              <a:ext uri="{FF2B5EF4-FFF2-40B4-BE49-F238E27FC236}">
                <a16:creationId xmlns:a16="http://schemas.microsoft.com/office/drawing/2014/main" id="{CBD5E8F6-2139-D956-CF5E-0967E189B66F}"/>
              </a:ext>
            </a:extLst>
          </p:cNvPr>
          <p:cNvSpPr/>
          <p:nvPr/>
        </p:nvSpPr>
        <p:spPr>
          <a:xfrm>
            <a:off x="302000" y="686166"/>
            <a:ext cx="8660000" cy="57999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p=12 predittori - struttura AR(1) con ρ=0.95 </a:t>
            </a:r>
            <a:r>
              <a:rPr lang="it-IT" sz="1200" dirty="0">
                <a:solidFill>
                  <a:srgbClr val="1A1A1A"/>
                </a:solidFill>
                <a:ea typeface="Calibri"/>
                <a:cs typeface="Calibri"/>
              </a:rPr>
              <a:t>- X₁, X</a:t>
            </a:r>
            <a:r>
              <a:rPr lang="it-IT" sz="1200" baseline="-25000" dirty="0">
                <a:solidFill>
                  <a:srgbClr val="1A1A1A"/>
                </a:solidFill>
                <a:ea typeface="Calibri"/>
                <a:cs typeface="Calibri"/>
              </a:rPr>
              <a:t>4</a:t>
            </a:r>
            <a:r>
              <a:rPr lang="it-IT" sz="1200" dirty="0">
                <a:solidFill>
                  <a:srgbClr val="1A1A1A"/>
                </a:solidFill>
                <a:ea typeface="Calibri"/>
                <a:cs typeface="Calibri"/>
              </a:rPr>
              <a:t>, X</a:t>
            </a:r>
            <a:r>
              <a:rPr lang="it-IT" sz="1200" baseline="-25000" dirty="0">
                <a:solidFill>
                  <a:srgbClr val="1A1A1A"/>
                </a:solidFill>
                <a:ea typeface="Calibri"/>
                <a:cs typeface="Calibri"/>
              </a:rPr>
              <a:t>7</a:t>
            </a:r>
            <a:r>
              <a:rPr lang="it-IT" sz="1200" dirty="0">
                <a:solidFill>
                  <a:srgbClr val="1A1A1A"/>
                </a:solidFill>
                <a:ea typeface="Calibri"/>
                <a:cs typeface="Calibri"/>
              </a:rPr>
              <a:t> </a:t>
            </a: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sono causali - n=100</a:t>
            </a:r>
            <a:b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</a:b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Scelte 3 variabili per simulare un caso più reale. 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ADB2C423-EBFD-5360-43ED-199DDFB53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7584" y="1661075"/>
            <a:ext cx="5175562" cy="2570955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4B137733-C451-4C5B-6A6A-7D5CF125EE59}"/>
              </a:ext>
            </a:extLst>
          </p:cNvPr>
          <p:cNvSpPr txBox="1"/>
          <p:nvPr/>
        </p:nvSpPr>
        <p:spPr>
          <a:xfrm>
            <a:off x="301999" y="1462215"/>
            <a:ext cx="3478693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it-IT" sz="1200" b="1" dirty="0"/>
              <a:t>MDI (Inaffidabile e distorto):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it-IT" sz="1200" dirty="0"/>
              <a:t>F1-score mediano più basso (circa 35%).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it-IT" sz="1200" dirty="0"/>
              <a:t>Fortemente instabile (punti dispersi da 0% a 75%).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kumimoji="0" lang="it-IT" altLang="it-IT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it-IT" sz="1200" b="1" dirty="0"/>
              <a:t>MDA (Migliore ma instabile):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it-IT" sz="1200" dirty="0"/>
              <a:t>Netto salto predittivo con una mediana più alta (circa 60%).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it-IT" sz="1200" dirty="0"/>
              <a:t>Massima variabilità verticale (scatola molto ampia).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it-IT" sz="1200" dirty="0"/>
              <a:t>Risente della multicollinearità.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endParaRPr kumimoji="0" lang="it-IT" altLang="it-IT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it-IT" sz="1200" b="1" dirty="0" err="1"/>
              <a:t>Conditional</a:t>
            </a:r>
            <a:r>
              <a:rPr lang="it-IT" sz="1200" b="1" dirty="0"/>
              <a:t> </a:t>
            </a:r>
            <a:r>
              <a:rPr lang="it-IT" sz="1200" b="1" dirty="0" err="1"/>
              <a:t>Importance</a:t>
            </a:r>
            <a:r>
              <a:rPr lang="it-IT" sz="1200" b="1" dirty="0"/>
              <a:t>: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it-IT" sz="1200" dirty="0"/>
              <a:t>Garantisce la massima stabilità e consistenza.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it-IT" sz="1200" dirty="0"/>
              <a:t>La scatola è estremamente compatta e schiacciata sulla mediana (circa 66%): azzera i crolli verso il basso tipici di MDI e MDA.</a:t>
            </a:r>
            <a:endParaRPr kumimoji="0" lang="it-IT" altLang="it-IT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Text 29">
            <a:extLst>
              <a:ext uri="{FF2B5EF4-FFF2-40B4-BE49-F238E27FC236}">
                <a16:creationId xmlns:a16="http://schemas.microsoft.com/office/drawing/2014/main" id="{6ADDF957-714B-DDC5-ED0A-132CE24F7C60}"/>
              </a:ext>
            </a:extLst>
          </p:cNvPr>
          <p:cNvSpPr/>
          <p:nvPr/>
        </p:nvSpPr>
        <p:spPr>
          <a:xfrm>
            <a:off x="158985" y="4887585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10/12</a:t>
            </a:r>
            <a:endParaRPr lang="en-US" sz="900" dirty="0"/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DA7C1F86-C0C2-96BA-D9B5-3B837499457F}"/>
              </a:ext>
            </a:extLst>
          </p:cNvPr>
          <p:cNvCxnSpPr>
            <a:cxnSpLocks/>
          </p:cNvCxnSpPr>
          <p:nvPr/>
        </p:nvCxnSpPr>
        <p:spPr>
          <a:xfrm flipH="1">
            <a:off x="3780692" y="1387597"/>
            <a:ext cx="16144" cy="3496626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068E2-9D85-FE2F-DC57-7D898EF8A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>
            <a:extLst>
              <a:ext uri="{FF2B5EF4-FFF2-40B4-BE49-F238E27FC236}">
                <a16:creationId xmlns:a16="http://schemas.microsoft.com/office/drawing/2014/main" id="{B1EAEA79-41CC-91AF-9797-63EAE182F3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10" name="THdr0">
            <a:extLst>
              <a:ext uri="{FF2B5EF4-FFF2-40B4-BE49-F238E27FC236}">
                <a16:creationId xmlns:a16="http://schemas.microsoft.com/office/drawing/2014/main" id="{5F70F6A9-E57C-8352-F007-35C8A3E190CF}"/>
              </a:ext>
            </a:extLst>
          </p:cNvPr>
          <p:cNvSpPr/>
          <p:nvPr/>
        </p:nvSpPr>
        <p:spPr>
          <a:xfrm>
            <a:off x="697809" y="1433055"/>
            <a:ext cx="260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1" name="THdrTxt0">
            <a:extLst>
              <a:ext uri="{FF2B5EF4-FFF2-40B4-BE49-F238E27FC236}">
                <a16:creationId xmlns:a16="http://schemas.microsoft.com/office/drawing/2014/main" id="{ACA217C3-3D3B-B381-291D-F332A0D09BB8}"/>
              </a:ext>
            </a:extLst>
          </p:cNvPr>
          <p:cNvSpPr/>
          <p:nvPr/>
        </p:nvSpPr>
        <p:spPr>
          <a:xfrm>
            <a:off x="697809" y="1433055"/>
            <a:ext cx="26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Metodo</a:t>
            </a:r>
          </a:p>
        </p:txBody>
      </p:sp>
      <p:sp>
        <p:nvSpPr>
          <p:cNvPr id="11" name="THdr1">
            <a:extLst>
              <a:ext uri="{FF2B5EF4-FFF2-40B4-BE49-F238E27FC236}">
                <a16:creationId xmlns:a16="http://schemas.microsoft.com/office/drawing/2014/main" id="{3FC2BAD1-112C-5F3C-4BED-9550632D5888}"/>
              </a:ext>
            </a:extLst>
          </p:cNvPr>
          <p:cNvSpPr/>
          <p:nvPr/>
        </p:nvSpPr>
        <p:spPr>
          <a:xfrm>
            <a:off x="3297809" y="1433055"/>
            <a:ext cx="132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3" name="THdrTxt1">
            <a:extLst>
              <a:ext uri="{FF2B5EF4-FFF2-40B4-BE49-F238E27FC236}">
                <a16:creationId xmlns:a16="http://schemas.microsoft.com/office/drawing/2014/main" id="{C6054B3A-8756-0765-D04D-F4033996B042}"/>
              </a:ext>
            </a:extLst>
          </p:cNvPr>
          <p:cNvSpPr/>
          <p:nvPr/>
        </p:nvSpPr>
        <p:spPr>
          <a:xfrm>
            <a:off x="3297809" y="1433055"/>
            <a:ext cx="132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Bias
cardinalità</a:t>
            </a:r>
          </a:p>
        </p:txBody>
      </p:sp>
      <p:sp>
        <p:nvSpPr>
          <p:cNvPr id="12" name="THdr2">
            <a:extLst>
              <a:ext uri="{FF2B5EF4-FFF2-40B4-BE49-F238E27FC236}">
                <a16:creationId xmlns:a16="http://schemas.microsoft.com/office/drawing/2014/main" id="{A16F2FD0-234D-3D9F-4F89-4831C3DF8889}"/>
              </a:ext>
            </a:extLst>
          </p:cNvPr>
          <p:cNvSpPr/>
          <p:nvPr/>
        </p:nvSpPr>
        <p:spPr>
          <a:xfrm>
            <a:off x="4617809" y="1433055"/>
            <a:ext cx="132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5" name="THdrTxt2">
            <a:extLst>
              <a:ext uri="{FF2B5EF4-FFF2-40B4-BE49-F238E27FC236}">
                <a16:creationId xmlns:a16="http://schemas.microsoft.com/office/drawing/2014/main" id="{3E4AA741-8F0C-F5CF-6D90-E32F53BE434D}"/>
              </a:ext>
            </a:extLst>
          </p:cNvPr>
          <p:cNvSpPr/>
          <p:nvPr/>
        </p:nvSpPr>
        <p:spPr>
          <a:xfrm>
            <a:off x="4617809" y="1433055"/>
            <a:ext cx="132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Instabilità
Correlazione</a:t>
            </a:r>
          </a:p>
        </p:txBody>
      </p:sp>
      <p:sp>
        <p:nvSpPr>
          <p:cNvPr id="13" name="THdr3">
            <a:extLst>
              <a:ext uri="{FF2B5EF4-FFF2-40B4-BE49-F238E27FC236}">
                <a16:creationId xmlns:a16="http://schemas.microsoft.com/office/drawing/2014/main" id="{789FADBF-2F84-732C-A4A4-50EE11D0D8B4}"/>
              </a:ext>
            </a:extLst>
          </p:cNvPr>
          <p:cNvSpPr/>
          <p:nvPr/>
        </p:nvSpPr>
        <p:spPr>
          <a:xfrm>
            <a:off x="5937809" y="1433055"/>
            <a:ext cx="132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7" name="THdrTxt3">
            <a:extLst>
              <a:ext uri="{FF2B5EF4-FFF2-40B4-BE49-F238E27FC236}">
                <a16:creationId xmlns:a16="http://schemas.microsoft.com/office/drawing/2014/main" id="{FF012BF9-8255-DFDE-1A32-E466DC6E6929}"/>
              </a:ext>
            </a:extLst>
          </p:cNvPr>
          <p:cNvSpPr/>
          <p:nvPr/>
        </p:nvSpPr>
        <p:spPr>
          <a:xfrm>
            <a:off x="5937809" y="1433055"/>
            <a:ext cx="132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X₁
identificata</a:t>
            </a:r>
          </a:p>
        </p:txBody>
      </p:sp>
      <p:sp>
        <p:nvSpPr>
          <p:cNvPr id="15" name="THdr5">
            <a:extLst>
              <a:ext uri="{FF2B5EF4-FFF2-40B4-BE49-F238E27FC236}">
                <a16:creationId xmlns:a16="http://schemas.microsoft.com/office/drawing/2014/main" id="{21B05542-C226-F29B-022F-080B94BB8B19}"/>
              </a:ext>
            </a:extLst>
          </p:cNvPr>
          <p:cNvSpPr/>
          <p:nvPr/>
        </p:nvSpPr>
        <p:spPr>
          <a:xfrm>
            <a:off x="7255116" y="1433055"/>
            <a:ext cx="90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1" name="THdrTxt5">
            <a:extLst>
              <a:ext uri="{FF2B5EF4-FFF2-40B4-BE49-F238E27FC236}">
                <a16:creationId xmlns:a16="http://schemas.microsoft.com/office/drawing/2014/main" id="{8A02B9FE-6A9A-BDC0-EC91-630A322A223D}"/>
              </a:ext>
            </a:extLst>
          </p:cNvPr>
          <p:cNvSpPr/>
          <p:nvPr/>
        </p:nvSpPr>
        <p:spPr>
          <a:xfrm>
            <a:off x="7255116" y="1433055"/>
            <a:ext cx="9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Costo</a:t>
            </a:r>
          </a:p>
        </p:txBody>
      </p:sp>
      <p:sp>
        <p:nvSpPr>
          <p:cNvPr id="200" name="TD00">
            <a:extLst>
              <a:ext uri="{FF2B5EF4-FFF2-40B4-BE49-F238E27FC236}">
                <a16:creationId xmlns:a16="http://schemas.microsoft.com/office/drawing/2014/main" id="{CD66C2EF-07B3-4D8B-A52F-EDA1EDC0D894}"/>
              </a:ext>
            </a:extLst>
          </p:cNvPr>
          <p:cNvSpPr/>
          <p:nvPr/>
        </p:nvSpPr>
        <p:spPr>
          <a:xfrm>
            <a:off x="697809" y="1993055"/>
            <a:ext cx="26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1" name="TInd0">
            <a:extLst>
              <a:ext uri="{FF2B5EF4-FFF2-40B4-BE49-F238E27FC236}">
                <a16:creationId xmlns:a16="http://schemas.microsoft.com/office/drawing/2014/main" id="{64BDE302-2A3C-843B-76AC-B83B9232BD21}"/>
              </a:ext>
            </a:extLst>
          </p:cNvPr>
          <p:cNvSpPr/>
          <p:nvPr/>
        </p:nvSpPr>
        <p:spPr>
          <a:xfrm>
            <a:off x="697809" y="1993055"/>
            <a:ext cx="18000" cy="48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02" name="TDTxt00">
            <a:extLst>
              <a:ext uri="{FF2B5EF4-FFF2-40B4-BE49-F238E27FC236}">
                <a16:creationId xmlns:a16="http://schemas.microsoft.com/office/drawing/2014/main" id="{9929BE1C-D1A5-549D-A965-A7D892145BB1}"/>
              </a:ext>
            </a:extLst>
          </p:cNvPr>
          <p:cNvSpPr/>
          <p:nvPr/>
        </p:nvSpPr>
        <p:spPr>
          <a:xfrm>
            <a:off x="737809" y="1993055"/>
            <a:ext cx="25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MDI</a:t>
            </a: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(randomForest)</a:t>
            </a:r>
          </a:p>
        </p:txBody>
      </p:sp>
      <p:sp>
        <p:nvSpPr>
          <p:cNvPr id="2" name="TD01">
            <a:extLst>
              <a:ext uri="{FF2B5EF4-FFF2-40B4-BE49-F238E27FC236}">
                <a16:creationId xmlns:a16="http://schemas.microsoft.com/office/drawing/2014/main" id="{9627FBC3-6D03-11E8-48F7-F3CCC7807357}"/>
              </a:ext>
            </a:extLst>
          </p:cNvPr>
          <p:cNvSpPr/>
          <p:nvPr/>
        </p:nvSpPr>
        <p:spPr>
          <a:xfrm>
            <a:off x="3297809" y="1993055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3" name="TDTxt01">
            <a:extLst>
              <a:ext uri="{FF2B5EF4-FFF2-40B4-BE49-F238E27FC236}">
                <a16:creationId xmlns:a16="http://schemas.microsoft.com/office/drawing/2014/main" id="{F9A8356C-4764-FCD6-DE06-0410D68C033E}"/>
              </a:ext>
            </a:extLst>
          </p:cNvPr>
          <p:cNvSpPr/>
          <p:nvPr/>
        </p:nvSpPr>
        <p:spPr>
          <a:xfrm>
            <a:off x="3297809" y="1993055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3" name="TD02">
            <a:extLst>
              <a:ext uri="{FF2B5EF4-FFF2-40B4-BE49-F238E27FC236}">
                <a16:creationId xmlns:a16="http://schemas.microsoft.com/office/drawing/2014/main" id="{4DB4422C-71F0-C476-7A39-3579FFDD72DD}"/>
              </a:ext>
            </a:extLst>
          </p:cNvPr>
          <p:cNvSpPr/>
          <p:nvPr/>
        </p:nvSpPr>
        <p:spPr>
          <a:xfrm>
            <a:off x="4617809" y="1993055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4" name="TDTxt02">
            <a:extLst>
              <a:ext uri="{FF2B5EF4-FFF2-40B4-BE49-F238E27FC236}">
                <a16:creationId xmlns:a16="http://schemas.microsoft.com/office/drawing/2014/main" id="{5296A3FB-E8A3-B314-02AA-95041F536AE7}"/>
              </a:ext>
            </a:extLst>
          </p:cNvPr>
          <p:cNvSpPr/>
          <p:nvPr/>
        </p:nvSpPr>
        <p:spPr>
          <a:xfrm>
            <a:off x="4617809" y="1993055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4" name="TD03">
            <a:extLst>
              <a:ext uri="{FF2B5EF4-FFF2-40B4-BE49-F238E27FC236}">
                <a16:creationId xmlns:a16="http://schemas.microsoft.com/office/drawing/2014/main" id="{2F7385EB-026A-9092-1786-CC2CA2CAC69A}"/>
              </a:ext>
            </a:extLst>
          </p:cNvPr>
          <p:cNvSpPr/>
          <p:nvPr/>
        </p:nvSpPr>
        <p:spPr>
          <a:xfrm>
            <a:off x="5937809" y="1993055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5" name="TDTxt03">
            <a:extLst>
              <a:ext uri="{FF2B5EF4-FFF2-40B4-BE49-F238E27FC236}">
                <a16:creationId xmlns:a16="http://schemas.microsoft.com/office/drawing/2014/main" id="{ADBFC5F9-D3E2-F440-3B0C-C8AA8D8237B2}"/>
              </a:ext>
            </a:extLst>
          </p:cNvPr>
          <p:cNvSpPr/>
          <p:nvPr/>
        </p:nvSpPr>
        <p:spPr>
          <a:xfrm>
            <a:off x="5937809" y="1993055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Sì (instabile)</a:t>
            </a:r>
          </a:p>
        </p:txBody>
      </p:sp>
      <p:sp>
        <p:nvSpPr>
          <p:cNvPr id="6" name="TD05">
            <a:extLst>
              <a:ext uri="{FF2B5EF4-FFF2-40B4-BE49-F238E27FC236}">
                <a16:creationId xmlns:a16="http://schemas.microsoft.com/office/drawing/2014/main" id="{05521039-BA4A-8704-63AD-4CF48AFF0D4E}"/>
              </a:ext>
            </a:extLst>
          </p:cNvPr>
          <p:cNvSpPr/>
          <p:nvPr/>
        </p:nvSpPr>
        <p:spPr>
          <a:xfrm>
            <a:off x="7255116" y="1993055"/>
            <a:ext cx="9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7" name="TDTxt05">
            <a:extLst>
              <a:ext uri="{FF2B5EF4-FFF2-40B4-BE49-F238E27FC236}">
                <a16:creationId xmlns:a16="http://schemas.microsoft.com/office/drawing/2014/main" id="{A8306669-673B-BC40-9E47-E6092648350A}"/>
              </a:ext>
            </a:extLst>
          </p:cNvPr>
          <p:cNvSpPr/>
          <p:nvPr/>
        </p:nvSpPr>
        <p:spPr>
          <a:xfrm>
            <a:off x="7260978" y="1993055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Basso</a:t>
            </a:r>
          </a:p>
        </p:txBody>
      </p:sp>
      <p:sp>
        <p:nvSpPr>
          <p:cNvPr id="220" name="TD10">
            <a:extLst>
              <a:ext uri="{FF2B5EF4-FFF2-40B4-BE49-F238E27FC236}">
                <a16:creationId xmlns:a16="http://schemas.microsoft.com/office/drawing/2014/main" id="{9DE2F950-C117-29C7-A215-03A3E0E05325}"/>
              </a:ext>
            </a:extLst>
          </p:cNvPr>
          <p:cNvSpPr/>
          <p:nvPr/>
        </p:nvSpPr>
        <p:spPr>
          <a:xfrm>
            <a:off x="697809" y="2473055"/>
            <a:ext cx="26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1" name="TInd1">
            <a:extLst>
              <a:ext uri="{FF2B5EF4-FFF2-40B4-BE49-F238E27FC236}">
                <a16:creationId xmlns:a16="http://schemas.microsoft.com/office/drawing/2014/main" id="{42821874-556A-C2FB-83BB-EF2DA8F1B7A6}"/>
              </a:ext>
            </a:extLst>
          </p:cNvPr>
          <p:cNvSpPr/>
          <p:nvPr/>
        </p:nvSpPr>
        <p:spPr>
          <a:xfrm>
            <a:off x="697809" y="2473055"/>
            <a:ext cx="18000" cy="480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22" name="TDTxt10">
            <a:extLst>
              <a:ext uri="{FF2B5EF4-FFF2-40B4-BE49-F238E27FC236}">
                <a16:creationId xmlns:a16="http://schemas.microsoft.com/office/drawing/2014/main" id="{E6E3EA4A-211A-1970-98C1-551F45BE02DD}"/>
              </a:ext>
            </a:extLst>
          </p:cNvPr>
          <p:cNvSpPr/>
          <p:nvPr/>
        </p:nvSpPr>
        <p:spPr>
          <a:xfrm>
            <a:off x="737809" y="2473055"/>
            <a:ext cx="25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MDA </a:t>
            </a: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(randomForest)</a:t>
            </a:r>
          </a:p>
        </p:txBody>
      </p:sp>
      <p:sp>
        <p:nvSpPr>
          <p:cNvPr id="7" name="TD11">
            <a:extLst>
              <a:ext uri="{FF2B5EF4-FFF2-40B4-BE49-F238E27FC236}">
                <a16:creationId xmlns:a16="http://schemas.microsoft.com/office/drawing/2014/main" id="{D282239C-E14C-165F-E99D-378C1F04CF1E}"/>
              </a:ext>
            </a:extLst>
          </p:cNvPr>
          <p:cNvSpPr/>
          <p:nvPr/>
        </p:nvSpPr>
        <p:spPr>
          <a:xfrm>
            <a:off x="3297809" y="2473055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3" name="TDTxt11">
            <a:extLst>
              <a:ext uri="{FF2B5EF4-FFF2-40B4-BE49-F238E27FC236}">
                <a16:creationId xmlns:a16="http://schemas.microsoft.com/office/drawing/2014/main" id="{94625274-6CB7-7313-7C13-ABF96929461B}"/>
              </a:ext>
            </a:extLst>
          </p:cNvPr>
          <p:cNvSpPr/>
          <p:nvPr/>
        </p:nvSpPr>
        <p:spPr>
          <a:xfrm>
            <a:off x="3297809" y="2473055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Parzialmente</a:t>
            </a:r>
          </a:p>
        </p:txBody>
      </p:sp>
      <p:sp>
        <p:nvSpPr>
          <p:cNvPr id="8" name="TD12">
            <a:extLst>
              <a:ext uri="{FF2B5EF4-FFF2-40B4-BE49-F238E27FC236}">
                <a16:creationId xmlns:a16="http://schemas.microsoft.com/office/drawing/2014/main" id="{C5F17A3B-36DB-1215-3E01-A2910BC906EC}"/>
              </a:ext>
            </a:extLst>
          </p:cNvPr>
          <p:cNvSpPr/>
          <p:nvPr/>
        </p:nvSpPr>
        <p:spPr>
          <a:xfrm>
            <a:off x="4617809" y="2473055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4" name="TDTxt12">
            <a:extLst>
              <a:ext uri="{FF2B5EF4-FFF2-40B4-BE49-F238E27FC236}">
                <a16:creationId xmlns:a16="http://schemas.microsoft.com/office/drawing/2014/main" id="{AEB9E801-A304-7467-9555-70D2523EAF35}"/>
              </a:ext>
            </a:extLst>
          </p:cNvPr>
          <p:cNvSpPr/>
          <p:nvPr/>
        </p:nvSpPr>
        <p:spPr>
          <a:xfrm>
            <a:off x="4617809" y="2473055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9" name="TD13">
            <a:extLst>
              <a:ext uri="{FF2B5EF4-FFF2-40B4-BE49-F238E27FC236}">
                <a16:creationId xmlns:a16="http://schemas.microsoft.com/office/drawing/2014/main" id="{E6F2E142-55B6-EAC1-C311-75191B8256BB}"/>
              </a:ext>
            </a:extLst>
          </p:cNvPr>
          <p:cNvSpPr/>
          <p:nvPr/>
        </p:nvSpPr>
        <p:spPr>
          <a:xfrm>
            <a:off x="5937809" y="2473055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5" name="TDTxt13">
            <a:extLst>
              <a:ext uri="{FF2B5EF4-FFF2-40B4-BE49-F238E27FC236}">
                <a16:creationId xmlns:a16="http://schemas.microsoft.com/office/drawing/2014/main" id="{2785159D-CE11-3B39-C9AE-68AAE39768C2}"/>
              </a:ext>
            </a:extLst>
          </p:cNvPr>
          <p:cNvSpPr/>
          <p:nvPr/>
        </p:nvSpPr>
        <p:spPr>
          <a:xfrm>
            <a:off x="5937809" y="2473055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17" name="TD15">
            <a:extLst>
              <a:ext uri="{FF2B5EF4-FFF2-40B4-BE49-F238E27FC236}">
                <a16:creationId xmlns:a16="http://schemas.microsoft.com/office/drawing/2014/main" id="{BDD30949-C13C-B1B8-C3C1-92CE7C734EE4}"/>
              </a:ext>
            </a:extLst>
          </p:cNvPr>
          <p:cNvSpPr/>
          <p:nvPr/>
        </p:nvSpPr>
        <p:spPr>
          <a:xfrm>
            <a:off x="7255116" y="2473055"/>
            <a:ext cx="9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7" name="TDTxt15">
            <a:extLst>
              <a:ext uri="{FF2B5EF4-FFF2-40B4-BE49-F238E27FC236}">
                <a16:creationId xmlns:a16="http://schemas.microsoft.com/office/drawing/2014/main" id="{5376C084-A071-6032-0F94-2D40B1E37FA4}"/>
              </a:ext>
            </a:extLst>
          </p:cNvPr>
          <p:cNvSpPr/>
          <p:nvPr/>
        </p:nvSpPr>
        <p:spPr>
          <a:xfrm>
            <a:off x="7260978" y="2473055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Medio</a:t>
            </a:r>
          </a:p>
        </p:txBody>
      </p:sp>
      <p:sp>
        <p:nvSpPr>
          <p:cNvPr id="240" name="TD20">
            <a:extLst>
              <a:ext uri="{FF2B5EF4-FFF2-40B4-BE49-F238E27FC236}">
                <a16:creationId xmlns:a16="http://schemas.microsoft.com/office/drawing/2014/main" id="{80BD4D25-4FA0-B092-2617-832CDC7A0493}"/>
              </a:ext>
            </a:extLst>
          </p:cNvPr>
          <p:cNvSpPr/>
          <p:nvPr/>
        </p:nvSpPr>
        <p:spPr>
          <a:xfrm>
            <a:off x="697809" y="2953055"/>
            <a:ext cx="26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1" name="TInd2">
            <a:extLst>
              <a:ext uri="{FF2B5EF4-FFF2-40B4-BE49-F238E27FC236}">
                <a16:creationId xmlns:a16="http://schemas.microsoft.com/office/drawing/2014/main" id="{BE91AF24-4B1E-534B-9155-7253F47AD476}"/>
              </a:ext>
            </a:extLst>
          </p:cNvPr>
          <p:cNvSpPr/>
          <p:nvPr/>
        </p:nvSpPr>
        <p:spPr>
          <a:xfrm>
            <a:off x="697809" y="2953055"/>
            <a:ext cx="18000" cy="480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42" name="TDTxt20">
            <a:extLst>
              <a:ext uri="{FF2B5EF4-FFF2-40B4-BE49-F238E27FC236}">
                <a16:creationId xmlns:a16="http://schemas.microsoft.com/office/drawing/2014/main" id="{B90FB980-ADD6-B935-27F3-A58B3AB3C89B}"/>
              </a:ext>
            </a:extLst>
          </p:cNvPr>
          <p:cNvSpPr/>
          <p:nvPr/>
        </p:nvSpPr>
        <p:spPr>
          <a:xfrm>
            <a:off x="737809" y="2953055"/>
            <a:ext cx="25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Conditional</a:t>
            </a:r>
            <a:r>
              <a:rPr lang="it-IT" sz="12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200" b="1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Importance</a:t>
            </a:r>
            <a:r>
              <a:rPr lang="it-IT" sz="12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(cforest)</a:t>
            </a:r>
          </a:p>
        </p:txBody>
      </p:sp>
      <p:sp>
        <p:nvSpPr>
          <p:cNvPr id="18" name="TD21">
            <a:extLst>
              <a:ext uri="{FF2B5EF4-FFF2-40B4-BE49-F238E27FC236}">
                <a16:creationId xmlns:a16="http://schemas.microsoft.com/office/drawing/2014/main" id="{390F7C94-182B-EFA0-D91F-65054AE1FFDF}"/>
              </a:ext>
            </a:extLst>
          </p:cNvPr>
          <p:cNvSpPr/>
          <p:nvPr/>
        </p:nvSpPr>
        <p:spPr>
          <a:xfrm>
            <a:off x="3297809" y="2953055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3" name="TDTxt21">
            <a:extLst>
              <a:ext uri="{FF2B5EF4-FFF2-40B4-BE49-F238E27FC236}">
                <a16:creationId xmlns:a16="http://schemas.microsoft.com/office/drawing/2014/main" id="{33E24C13-8939-9445-C841-CDFA7057B49B}"/>
              </a:ext>
            </a:extLst>
          </p:cNvPr>
          <p:cNvSpPr/>
          <p:nvPr/>
        </p:nvSpPr>
        <p:spPr>
          <a:xfrm>
            <a:off x="3297809" y="2953055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19" name="TD22">
            <a:extLst>
              <a:ext uri="{FF2B5EF4-FFF2-40B4-BE49-F238E27FC236}">
                <a16:creationId xmlns:a16="http://schemas.microsoft.com/office/drawing/2014/main" id="{330BF377-4602-D0E2-AFCB-3D9F13D6AB16}"/>
              </a:ext>
            </a:extLst>
          </p:cNvPr>
          <p:cNvSpPr/>
          <p:nvPr/>
        </p:nvSpPr>
        <p:spPr>
          <a:xfrm>
            <a:off x="4617809" y="2953055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4" name="TDTxt22">
            <a:extLst>
              <a:ext uri="{FF2B5EF4-FFF2-40B4-BE49-F238E27FC236}">
                <a16:creationId xmlns:a16="http://schemas.microsoft.com/office/drawing/2014/main" id="{B3ACFB99-E065-92F5-CBF1-F9AEF0BED53E}"/>
              </a:ext>
            </a:extLst>
          </p:cNvPr>
          <p:cNvSpPr/>
          <p:nvPr/>
        </p:nvSpPr>
        <p:spPr>
          <a:xfrm>
            <a:off x="4617809" y="2953055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20" name="TD23">
            <a:extLst>
              <a:ext uri="{FF2B5EF4-FFF2-40B4-BE49-F238E27FC236}">
                <a16:creationId xmlns:a16="http://schemas.microsoft.com/office/drawing/2014/main" id="{8DF27755-EA62-3D4A-492A-A637D73CEB1F}"/>
              </a:ext>
            </a:extLst>
          </p:cNvPr>
          <p:cNvSpPr/>
          <p:nvPr/>
        </p:nvSpPr>
        <p:spPr>
          <a:xfrm>
            <a:off x="5937809" y="2953055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5" name="TDTxt23">
            <a:extLst>
              <a:ext uri="{FF2B5EF4-FFF2-40B4-BE49-F238E27FC236}">
                <a16:creationId xmlns:a16="http://schemas.microsoft.com/office/drawing/2014/main" id="{AA0E5C1D-1689-8B2F-9723-C67B26506939}"/>
              </a:ext>
            </a:extLst>
          </p:cNvPr>
          <p:cNvSpPr/>
          <p:nvPr/>
        </p:nvSpPr>
        <p:spPr>
          <a:xfrm>
            <a:off x="5937809" y="2953055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22" name="TD25">
            <a:extLst>
              <a:ext uri="{FF2B5EF4-FFF2-40B4-BE49-F238E27FC236}">
                <a16:creationId xmlns:a16="http://schemas.microsoft.com/office/drawing/2014/main" id="{D99EC27B-4F5F-09F9-F39F-8033E08E3B4B}"/>
              </a:ext>
            </a:extLst>
          </p:cNvPr>
          <p:cNvSpPr/>
          <p:nvPr/>
        </p:nvSpPr>
        <p:spPr>
          <a:xfrm>
            <a:off x="7255116" y="2953055"/>
            <a:ext cx="9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7" name="TDTxt25">
            <a:extLst>
              <a:ext uri="{FF2B5EF4-FFF2-40B4-BE49-F238E27FC236}">
                <a16:creationId xmlns:a16="http://schemas.microsoft.com/office/drawing/2014/main" id="{51A39E12-F36B-0F1D-B608-25DD6A99A971}"/>
              </a:ext>
            </a:extLst>
          </p:cNvPr>
          <p:cNvSpPr/>
          <p:nvPr/>
        </p:nvSpPr>
        <p:spPr>
          <a:xfrm>
            <a:off x="7260978" y="2953055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Alto</a:t>
            </a:r>
          </a:p>
        </p:txBody>
      </p:sp>
      <p:sp>
        <p:nvSpPr>
          <p:cNvPr id="28" name="Title">
            <a:extLst>
              <a:ext uri="{FF2B5EF4-FFF2-40B4-BE49-F238E27FC236}">
                <a16:creationId xmlns:a16="http://schemas.microsoft.com/office/drawing/2014/main" id="{2AE09941-0C8B-EB2A-9739-CD654205BE35}"/>
              </a:ext>
            </a:extLst>
          </p:cNvPr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Conclusioni - Riepilogo</a:t>
            </a:r>
          </a:p>
        </p:txBody>
      </p:sp>
      <p:sp>
        <p:nvSpPr>
          <p:cNvPr id="30" name="Text 29">
            <a:extLst>
              <a:ext uri="{FF2B5EF4-FFF2-40B4-BE49-F238E27FC236}">
                <a16:creationId xmlns:a16="http://schemas.microsoft.com/office/drawing/2014/main" id="{63B0585F-4AAB-A354-FF4A-2B2C7FDDD7C7}"/>
              </a:ext>
            </a:extLst>
          </p:cNvPr>
          <p:cNvSpPr/>
          <p:nvPr/>
        </p:nvSpPr>
        <p:spPr>
          <a:xfrm>
            <a:off x="158985" y="4887585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11/12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53125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EA1AD-4C9A-1BF0-035D-46B80869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magine 32">
            <a:extLst>
              <a:ext uri="{FF2B5EF4-FFF2-40B4-BE49-F238E27FC236}">
                <a16:creationId xmlns:a16="http://schemas.microsoft.com/office/drawing/2014/main" id="{E58DD92B-B830-7CCD-A258-69209AE790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70FAACB5-2DD5-4EF5-22ED-C0F387F9F02D}"/>
              </a:ext>
            </a:extLst>
          </p:cNvPr>
          <p:cNvSpPr/>
          <p:nvPr/>
        </p:nvSpPr>
        <p:spPr>
          <a:xfrm>
            <a:off x="3617397" y="209461"/>
            <a:ext cx="190920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References</a:t>
            </a:r>
            <a:endParaRPr lang="en-US" sz="3200" b="1" dirty="0">
              <a:solidFill>
                <a:srgbClr val="1B3D7D"/>
              </a:solidFill>
              <a:ea typeface="Calibri"/>
              <a:cs typeface="Calibri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298D74-F56D-5BC1-408F-ED87B18157FA}"/>
              </a:ext>
            </a:extLst>
          </p:cNvPr>
          <p:cNvSpPr txBox="1"/>
          <p:nvPr/>
        </p:nvSpPr>
        <p:spPr>
          <a:xfrm>
            <a:off x="359764" y="1048256"/>
            <a:ext cx="8559999" cy="36009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Slides del corso riguardanti </a:t>
            </a:r>
            <a:r>
              <a:rPr lang="it-IT" sz="2000" i="1" dirty="0">
                <a:ea typeface="Calibri"/>
                <a:cs typeface="Calibri"/>
              </a:rPr>
              <a:t>Random Forest</a:t>
            </a:r>
            <a:r>
              <a:rPr lang="it-IT" sz="2000" dirty="0">
                <a:ea typeface="Calibri"/>
                <a:cs typeface="Calibri"/>
              </a:rPr>
              <a:t> e </a:t>
            </a:r>
            <a:r>
              <a:rPr lang="it-IT" sz="2000" i="1" dirty="0" err="1">
                <a:ea typeface="Calibri"/>
                <a:cs typeface="Calibri"/>
              </a:rPr>
              <a:t>Variable</a:t>
            </a:r>
            <a:r>
              <a:rPr lang="it-IT" sz="2000" i="1" dirty="0">
                <a:ea typeface="Calibri"/>
                <a:cs typeface="Calibri"/>
              </a:rPr>
              <a:t> </a:t>
            </a:r>
            <a:r>
              <a:rPr lang="it-IT" sz="2000" i="1" dirty="0" err="1">
                <a:ea typeface="Calibri"/>
                <a:cs typeface="Calibri"/>
              </a:rPr>
              <a:t>Importance</a:t>
            </a:r>
            <a:endParaRPr lang="it-IT" sz="2000" i="1" dirty="0">
              <a:ea typeface="Calibri"/>
              <a:cs typeface="Calibri"/>
            </a:endParaRPr>
          </a:p>
          <a:p>
            <a:endParaRPr lang="it-IT" sz="2000" i="1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/>
              <a:t>Strobl, C., Boulesteix, A.-L., </a:t>
            </a:r>
            <a:r>
              <a:rPr lang="it-IT" sz="2000" dirty="0" err="1"/>
              <a:t>Zeileis</a:t>
            </a:r>
            <a:r>
              <a:rPr lang="it-IT" sz="2000" dirty="0"/>
              <a:t>, A., </a:t>
            </a:r>
            <a:r>
              <a:rPr lang="it-IT" sz="2000" dirty="0" err="1"/>
              <a:t>Hothorn</a:t>
            </a:r>
            <a:r>
              <a:rPr lang="it-IT" sz="2000" dirty="0"/>
              <a:t>, T. (2007). </a:t>
            </a:r>
            <a:r>
              <a:rPr lang="it-IT" i="1" dirty="0"/>
              <a:t>Bias in Random Forest </a:t>
            </a:r>
            <a:r>
              <a:rPr lang="it-IT" i="1" dirty="0" err="1"/>
              <a:t>Variable</a:t>
            </a:r>
            <a:r>
              <a:rPr lang="it-IT" i="1" dirty="0"/>
              <a:t> </a:t>
            </a:r>
            <a:r>
              <a:rPr lang="it-IT" i="1" dirty="0" err="1"/>
              <a:t>Importance</a:t>
            </a:r>
            <a:r>
              <a:rPr lang="it-IT" i="1" dirty="0"/>
              <a:t> Measures: </a:t>
            </a:r>
            <a:r>
              <a:rPr lang="it-IT" i="1" dirty="0" err="1"/>
              <a:t>Illustrations</a:t>
            </a:r>
            <a:r>
              <a:rPr lang="it-IT" i="1" dirty="0"/>
              <a:t>, Sources and a Solution. BMC </a:t>
            </a:r>
            <a:r>
              <a:rPr lang="it-IT" i="1" dirty="0" err="1"/>
              <a:t>Bioinformatics</a:t>
            </a:r>
            <a:r>
              <a:rPr lang="it-IT" i="1" dirty="0"/>
              <a:t>, 8, 25.</a:t>
            </a:r>
          </a:p>
          <a:p>
            <a:endParaRPr lang="it-IT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/>
              <a:t>Strobl, C., Boulesteix, A.-L., Kneib, T., Augustin, T., </a:t>
            </a:r>
            <a:r>
              <a:rPr lang="it-IT" sz="2000" dirty="0" err="1"/>
              <a:t>Zeileis</a:t>
            </a:r>
            <a:r>
              <a:rPr lang="it-IT" sz="2000" dirty="0"/>
              <a:t>, A. (2008). </a:t>
            </a:r>
            <a:r>
              <a:rPr lang="it-IT" i="1" dirty="0" err="1"/>
              <a:t>Conditional</a:t>
            </a:r>
            <a:r>
              <a:rPr lang="it-IT" i="1" dirty="0"/>
              <a:t> </a:t>
            </a:r>
            <a:r>
              <a:rPr lang="it-IT" i="1" dirty="0" err="1"/>
              <a:t>Variable</a:t>
            </a:r>
            <a:r>
              <a:rPr lang="it-IT" i="1" dirty="0"/>
              <a:t> </a:t>
            </a:r>
            <a:r>
              <a:rPr lang="it-IT" i="1" dirty="0" err="1"/>
              <a:t>Importance</a:t>
            </a:r>
            <a:r>
              <a:rPr lang="it-IT" i="1" dirty="0"/>
              <a:t> for Random </a:t>
            </a:r>
            <a:r>
              <a:rPr lang="it-IT" i="1" dirty="0" err="1"/>
              <a:t>Forests</a:t>
            </a:r>
            <a:r>
              <a:rPr lang="it-IT" i="1" dirty="0"/>
              <a:t>. BMC </a:t>
            </a:r>
            <a:r>
              <a:rPr lang="it-IT" i="1" dirty="0" err="1"/>
              <a:t>Bioinformatics</a:t>
            </a:r>
            <a:r>
              <a:rPr lang="it-IT" i="1" dirty="0"/>
              <a:t>, 9, 307.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i="1" dirty="0">
                <a:hlinkClick r:id="rId4"/>
              </a:rPr>
              <a:t>https://erwanscornet.github.io/talks/mdi.pdf</a:t>
            </a:r>
            <a:r>
              <a:rPr lang="it-IT" i="1" dirty="0"/>
              <a:t> </a:t>
            </a:r>
          </a:p>
          <a:p>
            <a:endParaRPr lang="it-IT" sz="20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Claude per aiuto sul codice e impaginazione slide</a:t>
            </a:r>
          </a:p>
        </p:txBody>
      </p:sp>
      <p:sp>
        <p:nvSpPr>
          <p:cNvPr id="4" name="Text 29">
            <a:extLst>
              <a:ext uri="{FF2B5EF4-FFF2-40B4-BE49-F238E27FC236}">
                <a16:creationId xmlns:a16="http://schemas.microsoft.com/office/drawing/2014/main" id="{67F0807F-F10C-7EA6-D598-D6DF53E74D33}"/>
              </a:ext>
            </a:extLst>
          </p:cNvPr>
          <p:cNvSpPr/>
          <p:nvPr/>
        </p:nvSpPr>
        <p:spPr>
          <a:xfrm>
            <a:off x="158985" y="4887585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12/12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0285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FCD87CF2A8CCE46999F14E89D2397A7" ma:contentTypeVersion="9" ma:contentTypeDescription="Create a new document." ma:contentTypeScope="" ma:versionID="04c6c9a53cca2dc0747056af3e59128d">
  <xsd:schema xmlns:xsd="http://www.w3.org/2001/XMLSchema" xmlns:xs="http://www.w3.org/2001/XMLSchema" xmlns:p="http://schemas.microsoft.com/office/2006/metadata/properties" xmlns:ns3="df5b7411-0bd9-441c-a587-7944a4ab8ce9" targetNamespace="http://schemas.microsoft.com/office/2006/metadata/properties" ma:root="true" ma:fieldsID="a84b1cfebefeb2fc1e8a376aeec60261" ns3:_="">
    <xsd:import namespace="df5b7411-0bd9-441c-a587-7944a4ab8ce9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5b7411-0bd9-441c-a587-7944a4ab8ce9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f5b7411-0bd9-441c-a587-7944a4ab8ce9" xsi:nil="true"/>
  </documentManagement>
</p:properties>
</file>

<file path=customXml/itemProps1.xml><?xml version="1.0" encoding="utf-8"?>
<ds:datastoreItem xmlns:ds="http://schemas.openxmlformats.org/officeDocument/2006/customXml" ds:itemID="{86BD5B09-5F77-4A89-B4D1-4081243486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f5b7411-0bd9-441c-a587-7944a4ab8ce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F6E7083-04CE-4148-8822-E3F79A2926B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3AD13D0-A941-4301-90CA-BF751F48A029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df5b7411-0bd9-441c-a587-7944a4ab8ce9"/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2562</TotalTime>
  <Words>1119</Words>
  <Application>Microsoft Office PowerPoint</Application>
  <PresentationFormat>Presentazione su schermo (16:9)</PresentationFormat>
  <Paragraphs>170</Paragraphs>
  <Slides>12</Slides>
  <Notes>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 Math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francesco faillace</cp:lastModifiedBy>
  <cp:revision>624</cp:revision>
  <dcterms:created xsi:type="dcterms:W3CDTF">2026-03-12T12:19:20Z</dcterms:created>
  <dcterms:modified xsi:type="dcterms:W3CDTF">2026-05-25T09:52:25Z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0x010100FFCD87CF2A8CCE46999F14E89D2397A7</vt:lpwstr>
  </property>
</Properties>
</file>