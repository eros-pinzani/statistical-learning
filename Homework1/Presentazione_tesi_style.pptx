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80992-9EB8-41D0-E416-506F02DE4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4D884B-8796-6FFD-497D-D5B0A0C888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9176F-E745-14A7-60C4-A0DBEEEC7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A6193-61EF-6F18-E405-5E90F6438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49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 rot="780000">
            <a:off x="3566160" y="-457200"/>
            <a:ext cx="2011680" cy="658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91440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1: </a:t>
            </a:r>
            <a:r>
              <a:rPr lang="en-US" sz="17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r>
              <a:rPr lang="en-US" sz="17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della </a:t>
            </a:r>
            <a:r>
              <a:rPr lang="en-US" sz="17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Variabile</a:t>
            </a:r>
            <a:r>
              <a:rPr lang="en-US" sz="17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b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Omessa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114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Francesco Faillace</a:t>
            </a:r>
            <a:endParaRPr lang="en-US" sz="1100" dirty="0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5" name="Text 4">
            <a:extLst>
              <a:ext uri="{FF2B5EF4-FFF2-40B4-BE49-F238E27FC236}">
                <a16:creationId xmlns:a16="http://schemas.microsoft.com/office/drawing/2014/main" id="{9E5F7317-9BEE-D425-1B51-65793C82F008}"/>
              </a:ext>
            </a:extLst>
          </p:cNvPr>
          <p:cNvSpPr/>
          <p:nvPr/>
        </p:nvSpPr>
        <p:spPr>
          <a:xfrm>
            <a:off x="411480" y="31119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Lorenzo Maria </a:t>
            </a:r>
            <a:r>
              <a:rPr lang="en-US" sz="1100" i="1" dirty="0" err="1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Pennelli</a:t>
            </a:r>
            <a:endParaRPr lang="en-US" sz="11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11480" y="3346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 Pinzani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201168" y="594360"/>
            <a:ext cx="8741664" cy="0"/>
          </a:xfrm>
          <a:prstGeom prst="line">
            <a:avLst/>
          </a:prstGeom>
          <a:noFill/>
          <a:ln w="762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169718" y="73152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Titolo</a:t>
            </a:r>
          </a:p>
        </p:txBody>
      </p:sp>
      <p:sp>
        <p:nvSpPr>
          <p:cNvPr id="6" name="Text 4"/>
          <p:cNvSpPr/>
          <p:nvPr/>
        </p:nvSpPr>
        <p:spPr>
          <a:xfrm>
            <a:off x="256032" y="7498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Closest Point (ICP)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" y="1060704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iterativo per allineare due nuvole di punti consecutive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Stima trasformazione rigida 2D: rotazione R (2×2) + traslazione t (2D)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938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dell'algoritmo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6032" y="2249424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Inizializzazione: stima iniziale (R₀, t₀)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iterativo:</a:t>
            </a:r>
            <a:endParaRPr lang="en-US" sz="1100" dirty="0"/>
          </a:p>
          <a:p>
            <a:pPr marL="685800" lvl="1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neighbor matching: associazione punti source ↔ target</a:t>
            </a:r>
            <a:endParaRPr lang="en-US" sz="1100" dirty="0"/>
          </a:p>
          <a:p>
            <a:pPr marL="685800" lvl="1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 SVD: calcolo trasformazione ottimale</a:t>
            </a:r>
            <a:endParaRPr lang="en-US" sz="1100" dirty="0"/>
          </a:p>
          <a:p>
            <a:pPr marL="685800" lvl="1" indent="-342900" algn="l"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Aggiornamento: applicazione trasformazione</a:t>
            </a:r>
            <a:endParaRPr lang="en-US" sz="1100" dirty="0"/>
          </a:p>
          <a:p>
            <a:pPr marL="342900" indent="-342900" algn="l">
              <a:buSzPct val="100000"/>
              <a:buFont typeface="+mj-lt"/>
              <a:buAutoNum type="arabicPeriod"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Convergenza: RMSE &lt; tolerance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749808"/>
            <a:ext cx="4206240" cy="4023360"/>
          </a:xfrm>
          <a:prstGeom prst="rect">
            <a:avLst/>
          </a:prstGeom>
          <a:solidFill>
            <a:srgbClr val="EEF2FA"/>
          </a:solidFill>
          <a:ln w="12700">
            <a:solidFill>
              <a:srgbClr val="C8D4E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 quadratico medio (RMSE)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B3D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= √( Σᵢ ||R·pᵢ + t − qᵢ||² / N 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8745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dove  pᵢ = source,  qᵢ =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2423160"/>
            <a:ext cx="658368" cy="64008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4800600" y="2423160"/>
            <a:ext cx="658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(R₀, t₀)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58968" y="2743200"/>
            <a:ext cx="137160" cy="0"/>
          </a:xfrm>
          <a:prstGeom prst="line">
            <a:avLst/>
          </a:prstGeom>
          <a:noFill/>
          <a:ln w="1905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Shape 15"/>
          <p:cNvSpPr/>
          <p:nvPr/>
        </p:nvSpPr>
        <p:spPr>
          <a:xfrm>
            <a:off x="5596128" y="2423160"/>
            <a:ext cx="658368" cy="6400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596128" y="2423160"/>
            <a:ext cx="658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254496" y="2743200"/>
            <a:ext cx="137160" cy="0"/>
          </a:xfrm>
          <a:prstGeom prst="line">
            <a:avLst/>
          </a:prstGeom>
          <a:noFill/>
          <a:ln w="1905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8"/>
          <p:cNvSpPr/>
          <p:nvPr/>
        </p:nvSpPr>
        <p:spPr>
          <a:xfrm>
            <a:off x="6391656" y="2423160"/>
            <a:ext cx="658368" cy="640080"/>
          </a:xfrm>
          <a:prstGeom prst="rect">
            <a:avLst/>
          </a:prstGeom>
          <a:solidFill>
            <a:srgbClr val="1F5EAA"/>
          </a:solidFill>
          <a:ln w="12700">
            <a:solidFill>
              <a:srgbClr val="1F5EA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6391656" y="2423160"/>
            <a:ext cx="658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SVD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50024" y="2743200"/>
            <a:ext cx="137160" cy="0"/>
          </a:xfrm>
          <a:prstGeom prst="line">
            <a:avLst/>
          </a:prstGeom>
          <a:noFill/>
          <a:ln w="1905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Shape 21"/>
          <p:cNvSpPr/>
          <p:nvPr/>
        </p:nvSpPr>
        <p:spPr>
          <a:xfrm>
            <a:off x="7187184" y="2423160"/>
            <a:ext cx="658368" cy="640080"/>
          </a:xfrm>
          <a:prstGeom prst="rect">
            <a:avLst/>
          </a:prstGeom>
          <a:solidFill>
            <a:srgbClr val="174988"/>
          </a:solidFill>
          <a:ln w="12700">
            <a:solidFill>
              <a:srgbClr val="17498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7187184" y="2423160"/>
            <a:ext cx="658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845552" y="2743200"/>
            <a:ext cx="137160" cy="0"/>
          </a:xfrm>
          <a:prstGeom prst="line">
            <a:avLst/>
          </a:prstGeom>
          <a:noFill/>
          <a:ln w="1905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Shape 24"/>
          <p:cNvSpPr/>
          <p:nvPr/>
        </p:nvSpPr>
        <p:spPr>
          <a:xfrm>
            <a:off x="7982712" y="2423160"/>
            <a:ext cx="658368" cy="640080"/>
          </a:xfrm>
          <a:prstGeom prst="rect">
            <a:avLst/>
          </a:prstGeom>
          <a:solidFill>
            <a:srgbClr val="0D3470"/>
          </a:solidFill>
          <a:ln w="12700">
            <a:solidFill>
              <a:srgbClr val="0D347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7982712" y="2423160"/>
            <a:ext cx="65836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750" dirty="0"/>
          </a:p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754880" y="32004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 fino a convergenza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3566160"/>
            <a:ext cx="4023360" cy="731520"/>
          </a:xfrm>
          <a:prstGeom prst="rect">
            <a:avLst/>
          </a:prstGeom>
          <a:solidFill>
            <a:srgbClr val="1B3D7D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4754880" y="35661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filtrato: 8–12 iter.    |    ICP raw: 20–35 iter.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8288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1" y="-202901"/>
            <a:ext cx="639045" cy="760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C23E4-FBF1-502F-E50C-AD140CC9C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7B58BD1-012E-C790-4CB6-BDB7858E6958}"/>
              </a:ext>
            </a:extLst>
          </p:cNvPr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7D9ACD2-9A7F-47DA-3E17-9C87AA8862A3}"/>
              </a:ext>
            </a:extLst>
          </p:cNvPr>
          <p:cNvSpPr/>
          <p:nvPr/>
        </p:nvSpPr>
        <p:spPr>
          <a:xfrm rot="780000">
            <a:off x="3566160" y="-457200"/>
            <a:ext cx="2011680" cy="6583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08D038E3-92BB-B136-1ECB-A45C88EFB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</p:spTree>
    <p:extLst>
      <p:ext uri="{BB962C8B-B14F-4D97-AF65-F5344CB8AC3E}">
        <p14:creationId xmlns:p14="http://schemas.microsoft.com/office/powerpoint/2010/main" val="27616289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159</Words>
  <Application>Microsoft Office PowerPoint</Application>
  <PresentationFormat>Presentazione su schermo (16:9)</PresentationFormat>
  <Paragraphs>35</Paragraphs>
  <Slides>3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2</cp:revision>
  <dcterms:created xsi:type="dcterms:W3CDTF">2026-03-12T12:19:20Z</dcterms:created>
  <dcterms:modified xsi:type="dcterms:W3CDTF">2026-03-12T12:31:06Z</dcterms:modified>
</cp:coreProperties>
</file>