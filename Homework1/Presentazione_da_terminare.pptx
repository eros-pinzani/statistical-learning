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61" r:id="rId5"/>
    <p:sldId id="262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FBFE79-F34D-5D26-24B0-6A50C7510943}" v="245" dt="2026-03-15T10:55:34.6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0" d="100"/>
          <a:sy n="12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BAB0-515A-C560-AC7C-75B37A2C8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CF899-314A-0742-8307-63390B56B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034FC9-1AC8-D62F-E5DA-0843C0D615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69B3C-ADA4-C46E-C325-3D827B5939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7074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3646-88D6-537C-A36D-DC0D7C4B2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C287E-350B-8FF5-77D7-84CA4F989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928A3-B79B-0C88-0CAD-1F54E0EA0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8426C-F6AC-4BBF-7B5A-969C5F9FD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8620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369481"/>
            <a:ext cx="5738391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360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Homework 1:</a:t>
            </a:r>
            <a:endParaRPr lang="en-US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</a:t>
            </a:r>
            <a:r>
              <a:rPr lang="en-US" sz="36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Problema</a:t>
            </a:r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della </a:t>
            </a:r>
            <a:r>
              <a:rPr lang="en-US" sz="36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Variabile</a:t>
            </a:r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36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Omessa</a:t>
            </a:r>
            <a:endParaRPr lang="en-US" sz="36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2606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AUTORI: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2880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Francesco Faillace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9E5F7317-9BEE-D425-1B51-65793C82F008}"/>
              </a:ext>
            </a:extLst>
          </p:cNvPr>
          <p:cNvSpPr/>
          <p:nvPr/>
        </p:nvSpPr>
        <p:spPr>
          <a:xfrm>
            <a:off x="411480" y="3111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Lorenzo Maria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Pennelli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3267519" y="155656"/>
            <a:ext cx="18656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Panoramica</a:t>
            </a:r>
            <a:endParaRPr lang="it-IT" sz="2800" dirty="0" err="1"/>
          </a:p>
        </p:txBody>
      </p:sp>
      <p:sp>
        <p:nvSpPr>
          <p:cNvPr id="6" name="Text 4"/>
          <p:cNvSpPr/>
          <p:nvPr/>
        </p:nvSpPr>
        <p:spPr>
          <a:xfrm>
            <a:off x="1574006" y="7513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Obiettivo</a:t>
            </a:r>
            <a:r>
              <a:rPr lang="en-US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400" dirty="0">
              <a:ea typeface="Calibri" panose="020F0502020204030204"/>
              <a:cs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457200" y="1008935"/>
                <a:ext cx="3283552" cy="822960"/>
              </a:xfrm>
              <a:prstGeom prst="rect">
                <a:avLst/>
              </a:prstGeom>
              <a:noFill/>
              <a:ln/>
            </p:spPr>
            <p:txBody>
              <a:bodyPr wrap="square" lIns="91440" tIns="45720" rIns="91440" bIns="45720" rtlCol="0" anchor="t"/>
              <a:lstStyle/>
              <a:p>
                <a:pPr algn="ctr">
                  <a:buSzPct val="100000"/>
                </a:pP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Osservare</a:t>
                </a:r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l’influenza</a:t>
                </a:r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di </a:t>
                </a: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una</a:t>
                </a:r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covariata</a:t>
                </a:r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importante</a:t>
                </a:r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</m:t>
                        </m:r>
                        <m:r>
                          <a:rPr lang="it-IT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𝛽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it-IT" b="0" i="1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all’interno</a:t>
                </a:r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di un </a:t>
                </a: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modello</a:t>
                </a:r>
                <a:r>
                  <a:rPr lang="en-US" dirty="0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statistico</a:t>
                </a:r>
                <a:endParaRPr lang="en-US" dirty="0">
                  <a:solidFill>
                    <a:srgbClr val="333333"/>
                  </a:solidFill>
                  <a:latin typeface="Calibri"/>
                  <a:ea typeface="Calibri"/>
                  <a:cs typeface="Calibri"/>
                </a:endParaRPr>
              </a:p>
              <a:p>
                <a:pPr>
                  <a:buSzPct val="100000"/>
                </a:pPr>
                <a:endParaRPr lang="en-US" sz="1100" dirty="0">
                  <a:solidFill>
                    <a:srgbClr val="333333"/>
                  </a:solidFill>
                  <a:ea typeface="Calibri"/>
                  <a:cs typeface="Calibri"/>
                </a:endParaRPr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08935"/>
                <a:ext cx="3283552" cy="822960"/>
              </a:xfrm>
              <a:prstGeom prst="rect">
                <a:avLst/>
              </a:prstGeom>
              <a:blipFill>
                <a:blip r:embed="rId3"/>
                <a:stretch>
                  <a:fillRect t="-4444" b="-56296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5939529" y="769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 err="1">
                <a:solidFill>
                  <a:srgbClr val="1B3D7D"/>
                </a:solidFill>
                <a:ea typeface="Calibri"/>
                <a:cs typeface="Calibri"/>
              </a:rPr>
              <a:t>Procedimento</a:t>
            </a:r>
            <a:r>
              <a:rPr lang="en-US" b="1" dirty="0">
                <a:solidFill>
                  <a:srgbClr val="1B3D7D"/>
                </a:solidFill>
                <a:ea typeface="Calibri"/>
                <a:cs typeface="Calibri"/>
              </a:rPr>
              <a:t>:</a:t>
            </a:r>
          </a:p>
        </p:txBody>
      </p:sp>
      <p:sp>
        <p:nvSpPr>
          <p:cNvPr id="9" name="Text 7"/>
          <p:cNvSpPr/>
          <p:nvPr/>
        </p:nvSpPr>
        <p:spPr>
          <a:xfrm>
            <a:off x="263266" y="2538791"/>
            <a:ext cx="4114800" cy="21945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 algn="l">
              <a:buSzPct val="100000"/>
              <a:buFont typeface="+mj-lt"/>
              <a:buAutoNum type="arabicPeriod"/>
            </a:pPr>
            <a:endParaRPr lang="en-US" sz="11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31436C73-6C73-8E81-872C-0EFCE6CFAD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885DB-339C-919E-E359-E92F48F43056}"/>
              </a:ext>
            </a:extLst>
          </p:cNvPr>
          <p:cNvSpPr txBox="1"/>
          <p:nvPr/>
        </p:nvSpPr>
        <p:spPr>
          <a:xfrm>
            <a:off x="5631678" y="1077184"/>
            <a:ext cx="314361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ea typeface="Calibri"/>
                <a:cs typeface="Calibri"/>
              </a:rPr>
              <a:t>DGP</a:t>
            </a:r>
            <a:endParaRPr lang="it-IT" b="0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Scenari e Monte Carlo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Convergenza e </a:t>
            </a:r>
            <a:r>
              <a:rPr lang="it-IT" dirty="0" err="1"/>
              <a:t>Bias</a:t>
            </a:r>
            <a:r>
              <a:rPr lang="it-IT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6946149-05AB-76FF-3F2B-B4F8C2F2BCE7}"/>
                  </a:ext>
                </a:extLst>
              </p:cNvPr>
              <p:cNvSpPr txBox="1"/>
              <p:nvPr/>
            </p:nvSpPr>
            <p:spPr>
              <a:xfrm>
                <a:off x="2634878" y="2964835"/>
                <a:ext cx="3373872" cy="3888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 smtClean="0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𝑦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𝛽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𝛽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it-IT" i="1"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1,</m:t>
                              </m:r>
                              <m:r>
                                <a:rPr lang="it-IT" i="1"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e>
                          </m:d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𝛽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it-IT" i="1"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2,</m:t>
                              </m:r>
                              <m:r>
                                <a:rPr lang="it-IT" i="1"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e>
                          </m:d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+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b="0" i="1" smtClean="0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ε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6946149-05AB-76FF-3F2B-B4F8C2F2B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4878" y="2964835"/>
                <a:ext cx="3373872" cy="388889"/>
              </a:xfrm>
              <a:prstGeom prst="rect">
                <a:avLst/>
              </a:prstGeom>
              <a:blipFill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B1960039-73F9-3EB8-B2A9-92719AADB30E}"/>
                  </a:ext>
                </a:extLst>
              </p:cNvPr>
              <p:cNvSpPr txBox="1"/>
              <p:nvPr/>
            </p:nvSpPr>
            <p:spPr>
              <a:xfrm>
                <a:off x="3821196" y="3485869"/>
                <a:ext cx="10012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B1960039-73F9-3EB8-B2A9-92719AADB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96" y="3485869"/>
                <a:ext cx="1001236" cy="276999"/>
              </a:xfrm>
              <a:prstGeom prst="rect">
                <a:avLst/>
              </a:prstGeom>
              <a:blipFill>
                <a:blip r:embed="rId6"/>
                <a:stretch>
                  <a:fillRect l="-3049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C17C5DED-FBB2-A515-5FD9-A56E30EEE83B}"/>
                  </a:ext>
                </a:extLst>
              </p:cNvPr>
              <p:cNvSpPr txBox="1"/>
              <p:nvPr/>
            </p:nvSpPr>
            <p:spPr>
              <a:xfrm>
                <a:off x="3510438" y="3902546"/>
                <a:ext cx="16227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C17C5DED-FBB2-A515-5FD9-A56E30EEE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0438" y="3902546"/>
                <a:ext cx="1622752" cy="276999"/>
              </a:xfrm>
              <a:prstGeom prst="rect">
                <a:avLst/>
              </a:prstGeom>
              <a:blipFill>
                <a:blip r:embed="rId7"/>
                <a:stretch>
                  <a:fillRect l="-1504" b="-13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E8F8DFE5-37CA-2192-A683-008F8FE04613}"/>
                  </a:ext>
                </a:extLst>
              </p:cNvPr>
              <p:cNvSpPr txBox="1"/>
              <p:nvPr/>
            </p:nvSpPr>
            <p:spPr>
              <a:xfrm>
                <a:off x="4507334" y="3858871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u="sng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it-IT" u="sng" dirty="0"/>
              </a:p>
            </p:txBody>
          </p:sp>
        </mc:Choice>
        <mc:Fallback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E8F8DFE5-37CA-2192-A683-008F8FE046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334" y="3858871"/>
                <a:ext cx="3658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D8693F4-0D21-B18E-B71A-292BA1383E03}"/>
              </a:ext>
            </a:extLst>
          </p:cNvPr>
          <p:cNvSpPr txBox="1"/>
          <p:nvPr/>
        </p:nvSpPr>
        <p:spPr>
          <a:xfrm>
            <a:off x="4025900" y="2595503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DGP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3475AA-0977-BF23-B388-1A52C0F4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9F09402-773D-5660-6BC5-BB20B4B6282B}"/>
              </a:ext>
            </a:extLst>
          </p:cNvPr>
          <p:cNvSpPr/>
          <p:nvPr/>
        </p:nvSpPr>
        <p:spPr>
          <a:xfrm>
            <a:off x="1191421" y="102089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b="1" dirty="0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0CAC635-A312-9C36-BBA1-B7A2258D6E65}"/>
              </a:ext>
            </a:extLst>
          </p:cNvPr>
          <p:cNvSpPr/>
          <p:nvPr/>
        </p:nvSpPr>
        <p:spPr>
          <a:xfrm>
            <a:off x="446284" y="251654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b="1" dirty="0">
              <a:solidFill>
                <a:srgbClr val="1B3D7D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0E9F1F7-DBE4-62F3-E64F-D29642CD5031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3/5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AB88C96F-80B0-372E-92C8-EAD68A6E6E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E9B11C01-73E1-7421-7FF0-24493C7E453F}"/>
              </a:ext>
            </a:extLst>
          </p:cNvPr>
          <p:cNvSpPr/>
          <p:nvPr/>
        </p:nvSpPr>
        <p:spPr>
          <a:xfrm>
            <a:off x="3271206" y="100177"/>
            <a:ext cx="2579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Risultati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Ottenuti</a:t>
            </a:r>
            <a:endParaRPr lang="it-IT" sz="2800" dirty="0" err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61C3AB1-D86D-6743-0BDA-E9717783AE00}"/>
                  </a:ext>
                </a:extLst>
              </p:cNvPr>
              <p:cNvSpPr txBox="1"/>
              <p:nvPr/>
            </p:nvSpPr>
            <p:spPr>
              <a:xfrm>
                <a:off x="3007521" y="3634866"/>
                <a:ext cx="2648353" cy="582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𝐵𝑖𝑎𝑠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𝐶𝑜𝑣</m:t>
                          </m:r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𝑉𝑎𝑟</m:t>
                          </m:r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561C3AB1-D86D-6743-0BDA-E9717783A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521" y="3634866"/>
                <a:ext cx="2648353" cy="582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67E6F6D8-F5F0-D9F5-B286-2855F4F5B73B}"/>
                  </a:ext>
                </a:extLst>
              </p:cNvPr>
              <p:cNvSpPr txBox="1"/>
              <p:nvPr/>
            </p:nvSpPr>
            <p:spPr>
              <a:xfrm>
                <a:off x="618019" y="671368"/>
                <a:ext cx="3280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dirty="0"/>
                  <a:t>Scenario 1: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m:rPr>
                          <m:sty m:val="p"/>
                        </m:rPr>
                        <a:rPr lang="it-IT" i="1">
                          <a:latin typeface="Cambria Math" panose="02040503050406030204" pitchFamily="18" charset="0"/>
                        </a:rPr>
                        <m:t>ono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it-IT" i="1">
                          <a:latin typeface="Cambria Math" panose="02040503050406030204" pitchFamily="18" charset="0"/>
                        </a:rPr>
                        <m:t>correlate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it-IT" i="1">
                          <a:latin typeface="Cambria Math" panose="02040503050406030204" pitchFamily="18" charset="0"/>
                        </a:rPr>
                        <m:t>ρ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67E6F6D8-F5F0-D9F5-B286-2855F4F5B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19" y="671368"/>
                <a:ext cx="3280000" cy="646331"/>
              </a:xfrm>
              <a:prstGeom prst="rect">
                <a:avLst/>
              </a:prstGeom>
              <a:blipFill>
                <a:blip r:embed="rId5"/>
                <a:stretch>
                  <a:fillRect l="-1487" t="-4717" b="-377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magine 10">
            <a:extLst>
              <a:ext uri="{FF2B5EF4-FFF2-40B4-BE49-F238E27FC236}">
                <a16:creationId xmlns:a16="http://schemas.microsoft.com/office/drawing/2014/main" id="{0DE774CF-6105-E363-5A69-27BF818E5D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51" y="1326596"/>
            <a:ext cx="4503600" cy="18977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98ECFBA-3545-F6FE-9A43-27F085A94A70}"/>
                  </a:ext>
                </a:extLst>
              </p:cNvPr>
              <p:cNvSpPr txBox="1"/>
              <p:nvPr/>
            </p:nvSpPr>
            <p:spPr>
              <a:xfrm>
                <a:off x="5033648" y="671367"/>
                <a:ext cx="336816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dirty="0"/>
                  <a:t>Scenario 2: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𝑠</m:t>
                    </m:r>
                    <m:r>
                      <m:rPr>
                        <m:sty m:val="p"/>
                      </m:rPr>
                      <a:rPr lang="it-IT" i="1">
                        <a:latin typeface="Cambria Math" panose="02040503050406030204" pitchFamily="18" charset="0"/>
                      </a:rPr>
                      <m:t>ono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it-IT" i="1">
                        <a:latin typeface="Cambria Math" panose="02040503050406030204" pitchFamily="18" charset="0"/>
                      </a:rPr>
                      <m:t>indipendenti</m:t>
                    </m:r>
                  </m:oMath>
                </a14:m>
                <a:r>
                  <a:rPr lang="it-IT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i="1">
                        <a:latin typeface="Cambria Math" panose="02040503050406030204" pitchFamily="18" charset="0"/>
                      </a:rPr>
                      <m:t>ρ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98ECFBA-3545-F6FE-9A43-27F085A9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3648" y="671367"/>
                <a:ext cx="3368166" cy="646331"/>
              </a:xfrm>
              <a:prstGeom prst="rect">
                <a:avLst/>
              </a:prstGeom>
              <a:blipFill>
                <a:blip r:embed="rId7"/>
                <a:stretch>
                  <a:fillRect l="-1630" t="-4717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magine 13">
            <a:extLst>
              <a:ext uri="{FF2B5EF4-FFF2-40B4-BE49-F238E27FC236}">
                <a16:creationId xmlns:a16="http://schemas.microsoft.com/office/drawing/2014/main" id="{C11C00D2-CEC7-F241-B854-B77954A151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5834" y="1278259"/>
            <a:ext cx="4503795" cy="1994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061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502E0-4F9F-9789-0B0F-2A3FFC4D3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29">
            <a:extLst>
              <a:ext uri="{FF2B5EF4-FFF2-40B4-BE49-F238E27FC236}">
                <a16:creationId xmlns:a16="http://schemas.microsoft.com/office/drawing/2014/main" id="{33DC9DD3-30A1-D0FA-976C-7C77A80052F3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B68292EC-8EAA-E24F-EDD3-DDC5FC5344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D762451F-9228-DC6B-4886-5D0B8BCC9B02}"/>
              </a:ext>
            </a:extLst>
          </p:cNvPr>
          <p:cNvSpPr/>
          <p:nvPr/>
        </p:nvSpPr>
        <p:spPr>
          <a:xfrm>
            <a:off x="1820794" y="102089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Ulteriori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8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casi</a:t>
            </a:r>
            <a:r>
              <a:rPr lang="en-US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di studio</a:t>
            </a:r>
            <a:endParaRPr lang="it-IT" dirty="0"/>
          </a:p>
        </p:txBody>
      </p: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A29174C0-F434-9E67-AF61-D6442F666134}"/>
              </a:ext>
            </a:extLst>
          </p:cNvPr>
          <p:cNvCxnSpPr/>
          <p:nvPr/>
        </p:nvCxnSpPr>
        <p:spPr>
          <a:xfrm>
            <a:off x="4337740" y="820903"/>
            <a:ext cx="7227" cy="4119080"/>
          </a:xfrm>
          <a:prstGeom prst="straightConnector1">
            <a:avLst/>
          </a:prstGeom>
          <a:ln w="28575">
            <a:solidFill>
              <a:schemeClr val="bg2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1" name="Text 4">
            <a:extLst>
              <a:ext uri="{FF2B5EF4-FFF2-40B4-BE49-F238E27FC236}">
                <a16:creationId xmlns:a16="http://schemas.microsoft.com/office/drawing/2014/main" id="{7CCF26C0-AB7C-5941-8FE5-82401EB320EE}"/>
              </a:ext>
            </a:extLst>
          </p:cNvPr>
          <p:cNvSpPr/>
          <p:nvPr/>
        </p:nvSpPr>
        <p:spPr>
          <a:xfrm>
            <a:off x="183690" y="82215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Convergenza</a:t>
            </a:r>
            <a:r>
              <a:rPr lang="en-US" sz="22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 con  Monte Carlo</a:t>
            </a:r>
            <a:endParaRPr lang="en-US" sz="2200" b="1">
              <a:solidFill>
                <a:srgbClr val="1B3D7D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1C14D6D8-DB7A-69DE-E8F1-117327115C6B}"/>
              </a:ext>
            </a:extLst>
          </p:cNvPr>
          <p:cNvSpPr/>
          <p:nvPr/>
        </p:nvSpPr>
        <p:spPr>
          <a:xfrm>
            <a:off x="4654409" y="822149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2200" b="1" dirty="0">
                <a:solidFill>
                  <a:srgbClr val="004180"/>
                </a:solidFill>
              </a:rPr>
              <a:t>Bias al </a:t>
            </a:r>
            <a:r>
              <a:rPr lang="en-US" sz="2200" b="1" dirty="0" err="1">
                <a:solidFill>
                  <a:srgbClr val="004180"/>
                </a:solidFill>
              </a:rPr>
              <a:t>variare</a:t>
            </a:r>
            <a:r>
              <a:rPr lang="en-US" sz="2200" b="1" dirty="0">
                <a:solidFill>
                  <a:srgbClr val="004180"/>
                </a:solidFill>
              </a:rPr>
              <a:t> di ρ e β₂</a:t>
            </a:r>
            <a:endParaRPr lang="it-IT" sz="2200" b="1">
              <a:solidFill>
                <a:srgbClr val="004180"/>
              </a:solidFill>
              <a:ea typeface="Calibri"/>
              <a:cs typeface="Calibri"/>
            </a:endParaRPr>
          </a:p>
          <a:p>
            <a:pPr algn="ctr"/>
            <a:endParaRPr lang="en-US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 descr="Immagine che contiene testo, schermata, Carattere, numero&#10;&#10;Il contenuto generato dall&amp;#39;IA potrebbe non essere corretto.">
            <a:extLst>
              <a:ext uri="{FF2B5EF4-FFF2-40B4-BE49-F238E27FC236}">
                <a16:creationId xmlns:a16="http://schemas.microsoft.com/office/drawing/2014/main" id="{0D763DB7-FD53-9532-4031-008F0FE76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495" y="1208831"/>
            <a:ext cx="3878968" cy="2805413"/>
          </a:xfrm>
          <a:prstGeom prst="rect">
            <a:avLst/>
          </a:prstGeom>
          <a:ln>
            <a:noFill/>
          </a:ln>
        </p:spPr>
      </p:pic>
      <p:pic>
        <p:nvPicPr>
          <p:cNvPr id="15" name="Immagine 14" descr="Immagine che contiene testo, linea, diagramma, Parallelo&#10;&#10;Il contenuto generato dall&amp;#39;IA potrebbe non essere corretto.">
            <a:extLst>
              <a:ext uri="{FF2B5EF4-FFF2-40B4-BE49-F238E27FC236}">
                <a16:creationId xmlns:a16="http://schemas.microsoft.com/office/drawing/2014/main" id="{5B415F3D-6A1E-1BE2-5664-4F243EE4E26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763" t="2765" r="2927" b="2995"/>
          <a:stretch>
            <a:fillRect/>
          </a:stretch>
        </p:blipFill>
        <p:spPr>
          <a:xfrm>
            <a:off x="4339468" y="1207644"/>
            <a:ext cx="4748109" cy="302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414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EA1AD-4C9A-1BF0-035D-46B80869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29">
            <a:extLst>
              <a:ext uri="{FF2B5EF4-FFF2-40B4-BE49-F238E27FC236}">
                <a16:creationId xmlns:a16="http://schemas.microsoft.com/office/drawing/2014/main" id="{16277178-7293-3369-D132-C1E9CCC46BC4}"/>
              </a:ext>
            </a:extLst>
          </p:cNvPr>
          <p:cNvSpPr/>
          <p:nvPr/>
        </p:nvSpPr>
        <p:spPr>
          <a:xfrm>
            <a:off x="182880" y="49452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4/5</a:t>
            </a:r>
            <a:endParaRPr lang="en-US" sz="900" dirty="0"/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E58DD92B-B830-7CCD-A258-69209AE79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3" name="Text 3">
            <a:extLst>
              <a:ext uri="{FF2B5EF4-FFF2-40B4-BE49-F238E27FC236}">
                <a16:creationId xmlns:a16="http://schemas.microsoft.com/office/drawing/2014/main" id="{70FAACB5-2DD5-4EF5-22ED-C0F387F9F02D}"/>
              </a:ext>
            </a:extLst>
          </p:cNvPr>
          <p:cNvSpPr/>
          <p:nvPr/>
        </p:nvSpPr>
        <p:spPr>
          <a:xfrm>
            <a:off x="1350572" y="196133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References</a:t>
            </a:r>
            <a:endParaRPr lang="en-US" sz="3200" b="1">
              <a:solidFill>
                <a:srgbClr val="1B3D7D"/>
              </a:solidFill>
              <a:ea typeface="Calibri"/>
              <a:cs typeface="Calibri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298D74-F56D-5BC1-408F-ED87B18157FA}"/>
              </a:ext>
            </a:extLst>
          </p:cNvPr>
          <p:cNvSpPr txBox="1"/>
          <p:nvPr/>
        </p:nvSpPr>
        <p:spPr>
          <a:xfrm>
            <a:off x="361637" y="886011"/>
            <a:ext cx="85599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>
                <a:ea typeface="Calibri"/>
                <a:cs typeface="Calibri"/>
              </a:rPr>
              <a:t>Da trovare le referenze da inserire principalmente si pensava le slide di teoria e laboratorio della professore</a:t>
            </a:r>
            <a:r>
              <a:rPr lang="it-IT">
                <a:ea typeface="Calibri"/>
                <a:cs typeface="Calibri"/>
              </a:rPr>
              <a:t>ssa </a:t>
            </a:r>
          </a:p>
          <a:p>
            <a:r>
              <a:rPr lang="it-IT" dirty="0">
                <a:ea typeface="Calibri"/>
                <a:cs typeface="Calibri"/>
              </a:rPr>
              <a:t>Non so se ha senso inserire nelle referenze </a:t>
            </a:r>
            <a:r>
              <a:rPr lang="it-IT" dirty="0" err="1">
                <a:ea typeface="Calibri"/>
                <a:cs typeface="Calibri"/>
              </a:rPr>
              <a:t>wikipedia</a:t>
            </a:r>
            <a:r>
              <a:rPr lang="it-IT" dirty="0">
                <a:ea typeface="Calibri"/>
                <a:cs typeface="Calibri"/>
              </a:rPr>
              <a:t> link (</a:t>
            </a:r>
            <a:r>
              <a:rPr lang="it-IT" dirty="0">
                <a:ea typeface="+mn-lt"/>
                <a:cs typeface="+mn-lt"/>
              </a:rPr>
              <a:t>https://it.wikipedia.org/wiki/</a:t>
            </a:r>
            <a:r>
              <a:rPr lang="it-IT" dirty="0" err="1">
                <a:ea typeface="+mn-lt"/>
                <a:cs typeface="+mn-lt"/>
              </a:rPr>
              <a:t>Regressione_lineare</a:t>
            </a:r>
            <a:r>
              <a:rPr lang="it-IT" dirty="0">
                <a:ea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28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1374</TotalTime>
  <Words>167</Words>
  <Application>Microsoft Office PowerPoint</Application>
  <PresentationFormat>Presentazione su schermo (16:9)</PresentationFormat>
  <Paragraphs>39</Paragraphs>
  <Slides>5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 Math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francesco faillace</cp:lastModifiedBy>
  <cp:revision>416</cp:revision>
  <dcterms:created xsi:type="dcterms:W3CDTF">2026-03-12T12:19:20Z</dcterms:created>
  <dcterms:modified xsi:type="dcterms:W3CDTF">2026-03-16T14:52:43Z</dcterms:modified>
</cp:coreProperties>
</file>