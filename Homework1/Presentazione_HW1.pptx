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6D6C8-D6A1-76AA-D403-EA04E18982DB}" v="169" dt="2026-03-16T23:03:06.739"/>
    <p1510:client id="{56DD230F-2F15-9B0C-37B3-60181A14F0BF}" v="5" dt="2026-03-16T20:20:18.621"/>
    <p1510:client id="{D4FBFE79-F34D-5D26-24B0-6A50C7510943}" v="245" dt="2026-03-15T10:55:34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BAB0-515A-C560-AC7C-75B37A2C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CF899-314A-0742-8307-63390B56B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34FC9-1AC8-D62F-E5DA-0843C0D61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69B3C-ADA4-C46E-C325-3D827B593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3646-88D6-537C-A36D-DC0D7C4B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C287E-350B-8FF5-77D7-84CA4F98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928A3-B79B-0C88-0CAD-1F54E0EA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8426C-F6AC-4BBF-7B5A-969C5F9FD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-8620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369481"/>
            <a:ext cx="5738391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60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Homework 1:</a:t>
            </a:r>
            <a:endParaRPr lang="en-US" sz="3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della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Variabile</a:t>
            </a:r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Omessa</a:t>
            </a:r>
            <a:endParaRPr lang="en-US" sz="3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AUTORI: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Francesco Faillace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11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Pennelli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267519" y="155656"/>
            <a:ext cx="18656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Panoramica</a:t>
            </a:r>
            <a:endParaRPr lang="it-IT" sz="2800" dirty="0" err="1"/>
          </a:p>
        </p:txBody>
      </p:sp>
      <p:sp>
        <p:nvSpPr>
          <p:cNvPr id="6" name="Text 4"/>
          <p:cNvSpPr/>
          <p:nvPr/>
        </p:nvSpPr>
        <p:spPr>
          <a:xfrm>
            <a:off x="1574006" y="751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Obiettivo</a:t>
            </a:r>
            <a:r>
              <a:rPr lang="en-US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57200" y="1008935"/>
                <a:ext cx="3283552" cy="82296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algn="ctr">
                  <a:buSzPct val="100000"/>
                </a:pP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Osservare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l’influenza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di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una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covariata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importante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</m:t>
                        </m:r>
                        <m: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𝛽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it-IT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all’interno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di un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modello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statistico</a:t>
                </a:r>
                <a:endParaRPr lang="en-US" dirty="0">
                  <a:solidFill>
                    <a:srgbClr val="333333"/>
                  </a:solidFill>
                  <a:latin typeface="Calibri"/>
                  <a:ea typeface="Calibri"/>
                  <a:cs typeface="Calibri"/>
                </a:endParaRPr>
              </a:p>
              <a:p>
                <a:pPr>
                  <a:buSzPct val="100000"/>
                </a:pPr>
                <a:endParaRPr lang="en-US" sz="1100" dirty="0">
                  <a:solidFill>
                    <a:srgbClr val="333333"/>
                  </a:solidFill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08935"/>
                <a:ext cx="3283552" cy="822960"/>
              </a:xfrm>
              <a:prstGeom prst="rect">
                <a:avLst/>
              </a:prstGeom>
              <a:blipFill>
                <a:blip r:embed="rId3"/>
                <a:stretch>
                  <a:fillRect t="-4444" b="-56296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5939529" y="76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ea typeface="Calibri"/>
                <a:cs typeface="Calibri"/>
              </a:rPr>
              <a:t>Procedimento</a:t>
            </a:r>
            <a:r>
              <a:rPr lang="en-US" b="1" dirty="0">
                <a:solidFill>
                  <a:srgbClr val="1B3D7D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885DB-339C-919E-E359-E92F48F43056}"/>
              </a:ext>
            </a:extLst>
          </p:cNvPr>
          <p:cNvSpPr txBox="1"/>
          <p:nvPr/>
        </p:nvSpPr>
        <p:spPr>
          <a:xfrm>
            <a:off x="5631678" y="1077184"/>
            <a:ext cx="31436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ea typeface="Calibri"/>
                <a:cs typeface="Calibri"/>
              </a:rPr>
              <a:t>DGP</a:t>
            </a:r>
            <a:endParaRPr lang="it-IT" b="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Scenari e Monte Carlo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Convergenza e </a:t>
            </a:r>
            <a:r>
              <a:rPr lang="it-IT" dirty="0" err="1"/>
              <a:t>Bias</a:t>
            </a:r>
            <a:r>
              <a:rPr lang="it-IT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6946149-05AB-76FF-3F2B-B4F8C2F2BCE7}"/>
                  </a:ext>
                </a:extLst>
              </p:cNvPr>
              <p:cNvSpPr txBox="1"/>
              <p:nvPr/>
            </p:nvSpPr>
            <p:spPr>
              <a:xfrm>
                <a:off x="2634878" y="2964835"/>
                <a:ext cx="3373872" cy="388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𝛽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𝛽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1,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𝛽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2,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ε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6946149-05AB-76FF-3F2B-B4F8C2F2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878" y="2964835"/>
                <a:ext cx="3373872" cy="388889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1960039-73F9-3EB8-B2A9-92719AADB30E}"/>
                  </a:ext>
                </a:extLst>
              </p:cNvPr>
              <p:cNvSpPr txBox="1"/>
              <p:nvPr/>
            </p:nvSpPr>
            <p:spPr>
              <a:xfrm>
                <a:off x="3821196" y="3485869"/>
                <a:ext cx="10012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1960039-73F9-3EB8-B2A9-92719AADB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196" y="3485869"/>
                <a:ext cx="1001236" cy="276999"/>
              </a:xfrm>
              <a:prstGeom prst="rect">
                <a:avLst/>
              </a:prstGeom>
              <a:blipFill>
                <a:blip r:embed="rId6"/>
                <a:stretch>
                  <a:fillRect l="-3049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17C5DED-FBB2-A515-5FD9-A56E30EEE83B}"/>
                  </a:ext>
                </a:extLst>
              </p:cNvPr>
              <p:cNvSpPr txBox="1"/>
              <p:nvPr/>
            </p:nvSpPr>
            <p:spPr>
              <a:xfrm>
                <a:off x="3510438" y="3902546"/>
                <a:ext cx="1622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,</m:t>
                          </m:r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17C5DED-FBB2-A515-5FD9-A56E30EEE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38" y="3902546"/>
                <a:ext cx="1622752" cy="276999"/>
              </a:xfrm>
              <a:prstGeom prst="rect">
                <a:avLst/>
              </a:prstGeom>
              <a:blipFill>
                <a:blip r:embed="rId7"/>
                <a:stretch>
                  <a:fillRect l="-1504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8F8DFE5-37CA-2192-A683-008F8FE04613}"/>
                  </a:ext>
                </a:extLst>
              </p:cNvPr>
              <p:cNvSpPr txBox="1"/>
              <p:nvPr/>
            </p:nvSpPr>
            <p:spPr>
              <a:xfrm>
                <a:off x="4507334" y="3858871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u="sng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u="sng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8F8DFE5-37CA-2192-A683-008F8FE04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334" y="3858871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D8693F4-0D21-B18E-B71A-292BA1383E03}"/>
              </a:ext>
            </a:extLst>
          </p:cNvPr>
          <p:cNvSpPr txBox="1"/>
          <p:nvPr/>
        </p:nvSpPr>
        <p:spPr>
          <a:xfrm>
            <a:off x="4025900" y="2595503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DGP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475AA-0977-BF23-B388-1A52C0F4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9F09402-773D-5660-6BC5-BB20B4B6282B}"/>
              </a:ext>
            </a:extLst>
          </p:cNvPr>
          <p:cNvSpPr/>
          <p:nvPr/>
        </p:nvSpPr>
        <p:spPr>
          <a:xfrm>
            <a:off x="1191421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CAC635-A312-9C36-BBA1-B7A2258D6E65}"/>
              </a:ext>
            </a:extLst>
          </p:cNvPr>
          <p:cNvSpPr/>
          <p:nvPr/>
        </p:nvSpPr>
        <p:spPr>
          <a:xfrm>
            <a:off x="446284" y="251654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b="1" dirty="0">
              <a:solidFill>
                <a:srgbClr val="1B3D7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E9F1F7-DBE4-62F3-E64F-D29642CD5031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AB88C96F-80B0-372E-92C8-EAD68A6E6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9B11C01-73E1-7421-7FF0-24493C7E453F}"/>
              </a:ext>
            </a:extLst>
          </p:cNvPr>
          <p:cNvSpPr/>
          <p:nvPr/>
        </p:nvSpPr>
        <p:spPr>
          <a:xfrm>
            <a:off x="3271206" y="100177"/>
            <a:ext cx="2579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Risultati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Ottenuti</a:t>
            </a:r>
            <a:endParaRPr lang="it-IT" sz="28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61C3AB1-D86D-6743-0BDA-E9717783AE00}"/>
                  </a:ext>
                </a:extLst>
              </p:cNvPr>
              <p:cNvSpPr txBox="1"/>
              <p:nvPr/>
            </p:nvSpPr>
            <p:spPr>
              <a:xfrm>
                <a:off x="3007521" y="3634866"/>
                <a:ext cx="2648353" cy="582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61C3AB1-D86D-6743-0BDA-E9717783A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21" y="3634866"/>
                <a:ext cx="2648353" cy="582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7E6F6D8-F5F0-D9F5-B286-2855F4F5B73B}"/>
                  </a:ext>
                </a:extLst>
              </p:cNvPr>
              <p:cNvSpPr txBox="1"/>
              <p:nvPr/>
            </p:nvSpPr>
            <p:spPr>
              <a:xfrm>
                <a:off x="618019" y="671368"/>
                <a:ext cx="32800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Scenario 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m:rPr>
                          <m:sty m:val="p"/>
                        </m:rPr>
                        <a:rPr lang="it-IT" i="1">
                          <a:latin typeface="Cambria Math" panose="02040503050406030204" pitchFamily="18" charset="0"/>
                        </a:rPr>
                        <m:t>ono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i="1">
                          <a:latin typeface="Cambria Math" panose="02040503050406030204" pitchFamily="18" charset="0"/>
                        </a:rPr>
                        <m:t>correlate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it-IT" i="1"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7E6F6D8-F5F0-D9F5-B286-2855F4F5B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19" y="671368"/>
                <a:ext cx="3280000" cy="646331"/>
              </a:xfrm>
              <a:prstGeom prst="rect">
                <a:avLst/>
              </a:prstGeom>
              <a:blipFill>
                <a:blip r:embed="rId5"/>
                <a:stretch>
                  <a:fillRect l="-1487" t="-4717" b="-377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magine 10">
            <a:extLst>
              <a:ext uri="{FF2B5EF4-FFF2-40B4-BE49-F238E27FC236}">
                <a16:creationId xmlns:a16="http://schemas.microsoft.com/office/drawing/2014/main" id="{0DE774CF-6105-E363-5A69-27BF818E5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1" y="1326596"/>
            <a:ext cx="4503600" cy="189778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98ECFBA-3545-F6FE-9A43-27F085A94A70}"/>
                  </a:ext>
                </a:extLst>
              </p:cNvPr>
              <p:cNvSpPr txBox="1"/>
              <p:nvPr/>
            </p:nvSpPr>
            <p:spPr>
              <a:xfrm>
                <a:off x="5033648" y="671367"/>
                <a:ext cx="33681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Scenario 2: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ono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indipendenti</m:t>
                    </m:r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ρ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98ECFBA-3545-F6FE-9A43-27F085A9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648" y="671367"/>
                <a:ext cx="3368166" cy="646331"/>
              </a:xfrm>
              <a:prstGeom prst="rect">
                <a:avLst/>
              </a:prstGeom>
              <a:blipFill>
                <a:blip r:embed="rId7"/>
                <a:stretch>
                  <a:fillRect l="-1630" t="-4717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>
            <a:extLst>
              <a:ext uri="{FF2B5EF4-FFF2-40B4-BE49-F238E27FC236}">
                <a16:creationId xmlns:a16="http://schemas.microsoft.com/office/drawing/2014/main" id="{C11C00D2-CEC7-F241-B854-B77954A151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834" y="1278259"/>
            <a:ext cx="4503795" cy="19944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106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502E0-4F9F-9789-0B0F-2A3FFC4D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33DC9DD3-30A1-D0FA-976C-7C77A80052F3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68292EC-8EAA-E24F-EDD3-DDC5FC53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D762451F-9228-DC6B-4886-5D0B8BCC9B02}"/>
              </a:ext>
            </a:extLst>
          </p:cNvPr>
          <p:cNvSpPr/>
          <p:nvPr/>
        </p:nvSpPr>
        <p:spPr>
          <a:xfrm>
            <a:off x="1820794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Ulteriori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casi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studio</a:t>
            </a:r>
            <a:endParaRPr lang="it-IT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A29174C0-F434-9E67-AF61-D6442F666134}"/>
              </a:ext>
            </a:extLst>
          </p:cNvPr>
          <p:cNvCxnSpPr/>
          <p:nvPr/>
        </p:nvCxnSpPr>
        <p:spPr>
          <a:xfrm>
            <a:off x="4337740" y="820903"/>
            <a:ext cx="7227" cy="4119080"/>
          </a:xfrm>
          <a:prstGeom prst="straightConnector1">
            <a:avLst/>
          </a:prstGeom>
          <a:ln w="28575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7CCF26C0-AB7C-5941-8FE5-82401EB320EE}"/>
              </a:ext>
            </a:extLst>
          </p:cNvPr>
          <p:cNvSpPr/>
          <p:nvPr/>
        </p:nvSpPr>
        <p:spPr>
          <a:xfrm>
            <a:off x="183690" y="82215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Convergenza</a:t>
            </a:r>
            <a:r>
              <a:rPr lang="en-US" sz="2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con  Monte Carlo</a:t>
            </a:r>
            <a:endParaRPr lang="en-US" sz="2200" b="1">
              <a:solidFill>
                <a:srgbClr val="1B3D7D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C14D6D8-DB7A-69DE-E8F1-117327115C6B}"/>
              </a:ext>
            </a:extLst>
          </p:cNvPr>
          <p:cNvSpPr/>
          <p:nvPr/>
        </p:nvSpPr>
        <p:spPr>
          <a:xfrm>
            <a:off x="4654409" y="822149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200" b="1" dirty="0">
                <a:solidFill>
                  <a:srgbClr val="004180"/>
                </a:solidFill>
              </a:rPr>
              <a:t>Bias al </a:t>
            </a:r>
            <a:r>
              <a:rPr lang="en-US" sz="2200" b="1" dirty="0" err="1">
                <a:solidFill>
                  <a:srgbClr val="004180"/>
                </a:solidFill>
              </a:rPr>
              <a:t>variare</a:t>
            </a:r>
            <a:r>
              <a:rPr lang="en-US" sz="2200" b="1" dirty="0">
                <a:solidFill>
                  <a:srgbClr val="004180"/>
                </a:solidFill>
              </a:rPr>
              <a:t> di ρ e β₂</a:t>
            </a:r>
            <a:endParaRPr lang="it-IT" sz="2200" b="1">
              <a:solidFill>
                <a:srgbClr val="004180"/>
              </a:solidFill>
              <a:ea typeface="Calibri"/>
              <a:cs typeface="Calibri"/>
            </a:endParaRPr>
          </a:p>
          <a:p>
            <a:pPr algn="ctr"/>
            <a:endParaRPr lang="en-US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0D763DB7-FD53-9532-4031-008F0FE76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95" y="1208831"/>
            <a:ext cx="3878968" cy="2805413"/>
          </a:xfrm>
          <a:prstGeom prst="rect">
            <a:avLst/>
          </a:prstGeom>
          <a:ln>
            <a:noFill/>
          </a:ln>
        </p:spPr>
      </p:pic>
      <p:pic>
        <p:nvPicPr>
          <p:cNvPr id="15" name="Immagine 14" descr="Immagine che contiene testo, linea, diagramm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5B415F3D-6A1E-1BE2-5664-4F243EE4E2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63" t="2765" r="2927" b="2995"/>
          <a:stretch>
            <a:fillRect/>
          </a:stretch>
        </p:blipFill>
        <p:spPr>
          <a:xfrm>
            <a:off x="4339468" y="1207644"/>
            <a:ext cx="4748109" cy="30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1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16277178-7293-3369-D132-C1E9CCC46BC4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1350572" y="196133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459213" y="1830912"/>
            <a:ext cx="8546709" cy="73866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400" i="1">
                <a:ea typeface="Calibri"/>
                <a:cs typeface="Calibri"/>
              </a:rPr>
              <a:t>S</a:t>
            </a:r>
            <a:r>
              <a:rPr lang="it-IT" sz="2400" i="1">
                <a:solidFill>
                  <a:srgbClr val="000000"/>
                </a:solidFill>
                <a:ea typeface="Calibri"/>
                <a:cs typeface="Calibri"/>
              </a:rPr>
              <a:t>lide del corso</a:t>
            </a:r>
            <a:r>
              <a:rPr lang="it-IT" sz="2400" i="1">
                <a:ea typeface="Calibri"/>
                <a:cs typeface="Calibri"/>
              </a:rPr>
              <a:t> di Statistical Learning</a:t>
            </a:r>
            <a:endParaRPr lang="it-IT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5EFD92-4BC9-4AC6-90D8-DAD1D534CDDD}">
  <we:reference id="WA104380526" version="1.2.0.0" store="en-US" storeType="omex"/>
  <we:alternateReferences>
    <we:reference id="WA104380526" version="1.2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167</Words>
  <Application>Microsoft Office PowerPoint</Application>
  <PresentationFormat>Presentazione su schermo (16:9)</PresentationFormat>
  <Paragraphs>39</Paragraphs>
  <Slides>5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francesco faillace</cp:lastModifiedBy>
  <cp:revision>489</cp:revision>
  <dcterms:created xsi:type="dcterms:W3CDTF">2026-03-12T12:19:20Z</dcterms:created>
  <dcterms:modified xsi:type="dcterms:W3CDTF">2026-03-16T23:15:12Z</dcterms:modified>
</cp:coreProperties>
</file>